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4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8554"/>
    <a:srgbClr val="A73A95"/>
    <a:srgbClr val="084F69"/>
    <a:srgbClr val="7F7F7F"/>
    <a:srgbClr val="D0597E"/>
    <a:srgbClr val="DBA520"/>
    <a:srgbClr val="A20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3201"/>
    <p:restoredTop sz="94737"/>
  </p:normalViewPr>
  <p:slideViewPr>
    <p:cSldViewPr>
      <p:cViewPr varScale="1">
        <p:scale>
          <a:sx n="64" d="100"/>
          <a:sy n="64" d="100"/>
        </p:scale>
        <p:origin x="52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07CDF-2A12-C0DE-5559-0A58598B1ED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97B15BF-4E90-B06C-BC72-931327F4398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5D3875-692A-1DA9-74ED-D23119A11E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6FE76-A58C-60EC-CB8D-E68BFAC7BE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CCD25-EEC5-B104-197C-0C3CFD648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49398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6650C-321F-6C5B-A025-4E91B7019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F83E0-21BE-1FFF-99DA-F6BC2339D1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BD4B0-F923-EB82-C03B-FBDB5183D0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44AB2B-EC88-B3AB-E943-AA90E7FD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652E90-B442-A7F6-8F12-C9681CD345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03037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E6718C-641A-78DC-5B7D-9799BEB9E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3D16B-64BB-29C6-3D13-01C8C582A1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7DD1-CDD9-A11A-0FC3-6AF1F91598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56495E-3120-B8D2-7CC3-EEDA36701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804BCA-DCB6-523A-0FF8-BAEE200BD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942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F4D1D8-0D35-6988-EBFD-A283DA5BC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0387BA-72B9-8EE7-8E18-FD8544E6D9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81DFBCE-417C-6F26-06A3-A066B4F9CA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4B96B6-739E-8F65-30BE-4E1AFB858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C3532A-FD7A-3861-CD4B-6EE1D686A9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52AD7F-C94A-F97D-E9AB-F9EDFF95C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1495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CFEF4-F332-06CF-A52E-038AF938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FA9B5B-89FB-3C65-7CCA-4D33BD214B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AE3B10-F9C1-063F-DDBB-09C63EF9F4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9A67EDA-3226-3986-2ED3-587CC489F2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4806F3F-4EAE-D272-E1F1-E75325E4468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B33D98D-3CD3-97F3-2156-68E86D01F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4F932A5-125F-5615-62B6-1121855D1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AD797FA-5017-D1B3-7ADC-DC70C20A6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428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6C701-3406-4446-1A2C-A07D74F54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F8F99D-8ACE-0142-7C78-BF7EB4B38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81FFA-1078-3D6A-4DFE-DD77A2EDA6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0B8D62-FACB-C744-6CA5-A08730BCBE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183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94D028-E1F7-CE40-A126-FF616E98D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B6DE2F-BEA6-7B06-D2AC-66F981E4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9DFDC-41F0-6341-C9FD-408802297F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826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45A97-D636-8731-6AEC-E43C9786D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ACE5D6-3B09-5562-B69E-A7431C515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3C5783-4DCC-565B-FF61-FF63AAC7515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F5E567-90B7-271A-00D7-538CBAFA4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034CAA-4E07-DBDC-CD73-8475E9981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C02765B-C44E-CB50-11BF-77BAD21C29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786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D9D56C-B717-7E4C-6A6C-612D45900B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FDEAD1-A00C-39BB-B024-6952EFB3F5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3A8A2-DC63-F850-FCD4-3B22ED76F03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587003-B713-972E-6242-368D86AD8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FD1B75-CA33-A90E-CCD8-58AB67D074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295984-335D-E621-E253-D84B69193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6853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EFD10-D6CF-C0A8-DFB8-F9D6C71B8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B2D85-401C-0824-9C02-54AD4A03EBC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887DF-5F23-205D-5C6C-64759C23A1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5552FB-116E-F900-04BE-0A03A3C9A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A57A8F-20E7-BD0E-D6A9-5C2791AC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69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1A174BD-A361-9FD7-C289-2F41F49BB4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A100C0-79E0-ADAD-FF5A-0202A510C3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D02DCC-9366-B91E-0FE3-1A56EC696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9DF1E-7DCD-0670-A763-621CDDED05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582304-9F72-931A-8BB3-061B9B193C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80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6FB7758-BA49-EBC2-859D-AD85A4BE3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04D00D-B6A0-8C3A-2484-350331BB14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6310BB-84A8-0679-0D31-BFC2BA5560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7715AD-1FE4-C042-A179-F4928882802B}" type="datetimeFigureOut">
              <a:rPr lang="en-US" smtClean="0"/>
              <a:t>13-Oct-2025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AC37FE-01F9-A4CD-1EB5-86C8A07376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ED5E68-5E0F-2689-E5EB-FC918364B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ED8A138-07E3-AA46-AE6E-04C28CB725B9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A30688-1B5B-BC8C-BD68-C357BB04C25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37163" y="6642100"/>
            <a:ext cx="174625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Restricted Use - À usage restreint</a:t>
            </a:r>
          </a:p>
        </p:txBody>
      </p:sp>
    </p:spTree>
    <p:extLst>
      <p:ext uri="{BB962C8B-B14F-4D97-AF65-F5344CB8AC3E}">
        <p14:creationId xmlns:p14="http://schemas.microsoft.com/office/powerpoint/2010/main" val="121107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sv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sv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sv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Relationship Id="rId9" Type="http://schemas.openxmlformats.org/officeDocument/2006/relationships/image" Target="../media/image2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svg"/><Relationship Id="rId13" Type="http://schemas.openxmlformats.org/officeDocument/2006/relationships/image" Target="../media/image4.sv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12" Type="http://schemas.openxmlformats.org/officeDocument/2006/relationships/image" Target="../media/image3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11" Type="http://schemas.openxmlformats.org/officeDocument/2006/relationships/image" Target="../media/image2.svg"/><Relationship Id="rId5" Type="http://schemas.openxmlformats.org/officeDocument/2006/relationships/image" Target="../media/image21.png"/><Relationship Id="rId15" Type="http://schemas.openxmlformats.org/officeDocument/2006/relationships/image" Target="../media/image6.svg"/><Relationship Id="rId10" Type="http://schemas.openxmlformats.org/officeDocument/2006/relationships/image" Target="../media/image1.png"/><Relationship Id="rId4" Type="http://schemas.openxmlformats.org/officeDocument/2006/relationships/image" Target="../media/image20.svg"/><Relationship Id="rId9" Type="http://schemas.openxmlformats.org/officeDocument/2006/relationships/image" Target="../media/image25.png"/><Relationship Id="rId1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8.png"/><Relationship Id="rId3" Type="http://schemas.openxmlformats.org/officeDocument/2006/relationships/image" Target="../media/image38.png"/><Relationship Id="rId7" Type="http://schemas.openxmlformats.org/officeDocument/2006/relationships/image" Target="../media/image42.png"/><Relationship Id="rId12" Type="http://schemas.openxmlformats.org/officeDocument/2006/relationships/image" Target="../media/image47.png"/><Relationship Id="rId2" Type="http://schemas.openxmlformats.org/officeDocument/2006/relationships/image" Target="../media/image37.png"/><Relationship Id="rId16" Type="http://schemas.openxmlformats.org/officeDocument/2006/relationships/image" Target="../media/image5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11" Type="http://schemas.openxmlformats.org/officeDocument/2006/relationships/image" Target="../media/image46.png"/><Relationship Id="rId5" Type="http://schemas.openxmlformats.org/officeDocument/2006/relationships/image" Target="../media/image40.png"/><Relationship Id="rId15" Type="http://schemas.openxmlformats.org/officeDocument/2006/relationships/image" Target="../media/image50.png"/><Relationship Id="rId10" Type="http://schemas.openxmlformats.org/officeDocument/2006/relationships/image" Target="../media/image45.png"/><Relationship Id="rId4" Type="http://schemas.openxmlformats.org/officeDocument/2006/relationships/image" Target="../media/image39.png"/><Relationship Id="rId9" Type="http://schemas.openxmlformats.org/officeDocument/2006/relationships/image" Target="../media/image44.png"/><Relationship Id="rId14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1F24277C-A7F2-B816-765F-31A1E447F2AF}"/>
              </a:ext>
            </a:extLst>
          </p:cNvPr>
          <p:cNvGrpSpPr/>
          <p:nvPr/>
        </p:nvGrpSpPr>
        <p:grpSpPr>
          <a:xfrm>
            <a:off x="6786284" y="1567200"/>
            <a:ext cx="3328708" cy="3310141"/>
            <a:chOff x="6786284" y="1567200"/>
            <a:chExt cx="3328708" cy="3310141"/>
          </a:xfrm>
        </p:grpSpPr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4BF81BB3-C904-D411-BECC-599C90B972A2}"/>
                </a:ext>
              </a:extLst>
            </p:cNvPr>
            <p:cNvSpPr/>
            <p:nvPr/>
          </p:nvSpPr>
          <p:spPr>
            <a:xfrm>
              <a:off x="7002838" y="1752600"/>
              <a:ext cx="2895600" cy="28956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FDAF24FC-FFCC-AFFA-ED3C-8BD03F12B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b="18638"/>
            <a:stretch>
              <a:fillRect/>
            </a:stretch>
          </p:blipFill>
          <p:spPr>
            <a:xfrm>
              <a:off x="6786284" y="1567200"/>
              <a:ext cx="3328708" cy="3310141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6780C5F-9848-9A07-4102-38CFC6F0CA20}"/>
              </a:ext>
            </a:extLst>
          </p:cNvPr>
          <p:cNvGrpSpPr/>
          <p:nvPr/>
        </p:nvGrpSpPr>
        <p:grpSpPr>
          <a:xfrm>
            <a:off x="1610849" y="1567201"/>
            <a:ext cx="3293409" cy="3220216"/>
            <a:chOff x="1610849" y="1567201"/>
            <a:chExt cx="3293409" cy="3220216"/>
          </a:xfrm>
        </p:grpSpPr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002F0632-427E-F8FF-06C7-FE482C3390FF}"/>
                </a:ext>
              </a:extLst>
            </p:cNvPr>
            <p:cNvSpPr/>
            <p:nvPr/>
          </p:nvSpPr>
          <p:spPr>
            <a:xfrm>
              <a:off x="1828800" y="1752600"/>
              <a:ext cx="2895600" cy="28194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45F2FCCC-7FC6-3F9E-EF7E-FC63FB04B3BF}"/>
                </a:ext>
              </a:extLst>
            </p:cNvPr>
            <p:cNvGrpSpPr/>
            <p:nvPr/>
          </p:nvGrpSpPr>
          <p:grpSpPr>
            <a:xfrm>
              <a:off x="1610849" y="1567201"/>
              <a:ext cx="3293409" cy="3220216"/>
              <a:chOff x="7033932" y="1567200"/>
              <a:chExt cx="3293409" cy="3220216"/>
            </a:xfrm>
            <a:solidFill>
              <a:schemeClr val="tx1">
                <a:lumMod val="50000"/>
                <a:lumOff val="50000"/>
              </a:schemeClr>
            </a:solidFill>
          </p:grpSpPr>
          <p:grpSp>
            <p:nvGrpSpPr>
              <p:cNvPr id="12" name="Graphic 4">
                <a:extLst>
                  <a:ext uri="{FF2B5EF4-FFF2-40B4-BE49-F238E27FC236}">
                    <a16:creationId xmlns:a16="http://schemas.microsoft.com/office/drawing/2014/main" id="{DC7DB675-EC32-758A-A77A-5DA17B5A71EF}"/>
                  </a:ext>
                </a:extLst>
              </p:cNvPr>
              <p:cNvGrpSpPr/>
              <p:nvPr/>
            </p:nvGrpSpPr>
            <p:grpSpPr>
              <a:xfrm>
                <a:off x="7033932" y="1567200"/>
                <a:ext cx="3293409" cy="3220216"/>
                <a:chOff x="7033932" y="1567200"/>
                <a:chExt cx="3293409" cy="3220216"/>
              </a:xfrm>
              <a:grpFill/>
            </p:grpSpPr>
            <p:sp>
              <p:nvSpPr>
                <p:cNvPr id="14" name="Freeform 13">
                  <a:extLst>
                    <a:ext uri="{FF2B5EF4-FFF2-40B4-BE49-F238E27FC236}">
                      <a16:creationId xmlns:a16="http://schemas.microsoft.com/office/drawing/2014/main" id="{9CE9BD8D-7021-D401-D63B-4643049EC71B}"/>
                    </a:ext>
                  </a:extLst>
                </p:cNvPr>
                <p:cNvSpPr/>
                <p:nvPr/>
              </p:nvSpPr>
              <p:spPr>
                <a:xfrm>
                  <a:off x="7033932" y="1567200"/>
                  <a:ext cx="3293409" cy="3220216"/>
                </a:xfrm>
                <a:custGeom>
                  <a:avLst/>
                  <a:gdLst>
                    <a:gd name="connsiteX0" fmla="*/ 1646705 w 3293409"/>
                    <a:gd name="connsiteY0" fmla="*/ 0 h 3220216"/>
                    <a:gd name="connsiteX1" fmla="*/ 0 w 3293409"/>
                    <a:gd name="connsiteY1" fmla="*/ 1610108 h 3220216"/>
                    <a:gd name="connsiteX2" fmla="*/ 1646705 w 3293409"/>
                    <a:gd name="connsiteY2" fmla="*/ 3220217 h 3220216"/>
                    <a:gd name="connsiteX3" fmla="*/ 3293409 w 3293409"/>
                    <a:gd name="connsiteY3" fmla="*/ 1610108 h 3220216"/>
                    <a:gd name="connsiteX4" fmla="*/ 1646705 w 3293409"/>
                    <a:gd name="connsiteY4" fmla="*/ 0 h 3220216"/>
                    <a:gd name="connsiteX5" fmla="*/ 1646705 w 3293409"/>
                    <a:gd name="connsiteY5" fmla="*/ 2951865 h 3220216"/>
                    <a:gd name="connsiteX6" fmla="*/ 274451 w 3293409"/>
                    <a:gd name="connsiteY6" fmla="*/ 1610108 h 3220216"/>
                    <a:gd name="connsiteX7" fmla="*/ 1646705 w 3293409"/>
                    <a:gd name="connsiteY7" fmla="*/ 268351 h 3220216"/>
                    <a:gd name="connsiteX8" fmla="*/ 3018958 w 3293409"/>
                    <a:gd name="connsiteY8" fmla="*/ 1610108 h 3220216"/>
                    <a:gd name="connsiteX9" fmla="*/ 1646705 w 3293409"/>
                    <a:gd name="connsiteY9" fmla="*/ 2951865 h 322021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</a:cxnLst>
                  <a:rect l="l" t="t" r="r" b="b"/>
                  <a:pathLst>
                    <a:path w="3293409" h="3220216">
                      <a:moveTo>
                        <a:pt x="1646705" y="0"/>
                      </a:moveTo>
                      <a:cubicBezTo>
                        <a:pt x="737312" y="0"/>
                        <a:pt x="0" y="720926"/>
                        <a:pt x="0" y="1610108"/>
                      </a:cubicBezTo>
                      <a:cubicBezTo>
                        <a:pt x="0" y="2499291"/>
                        <a:pt x="737312" y="3220217"/>
                        <a:pt x="1646705" y="3220217"/>
                      </a:cubicBezTo>
                      <a:cubicBezTo>
                        <a:pt x="2556097" y="3220217"/>
                        <a:pt x="3293409" y="2499291"/>
                        <a:pt x="3293409" y="1610108"/>
                      </a:cubicBezTo>
                      <a:cubicBezTo>
                        <a:pt x="3293409" y="720926"/>
                        <a:pt x="2556097" y="0"/>
                        <a:pt x="1646705" y="0"/>
                      </a:cubicBezTo>
                      <a:close/>
                      <a:moveTo>
                        <a:pt x="1646705" y="2951865"/>
                      </a:moveTo>
                      <a:cubicBezTo>
                        <a:pt x="890044" y="2951865"/>
                        <a:pt x="274451" y="2349953"/>
                        <a:pt x="274451" y="1610108"/>
                      </a:cubicBezTo>
                      <a:cubicBezTo>
                        <a:pt x="274451" y="870264"/>
                        <a:pt x="890044" y="268351"/>
                        <a:pt x="1646705" y="268351"/>
                      </a:cubicBezTo>
                      <a:cubicBezTo>
                        <a:pt x="2403365" y="268351"/>
                        <a:pt x="3018958" y="870264"/>
                        <a:pt x="3018958" y="1610108"/>
                      </a:cubicBezTo>
                      <a:cubicBezTo>
                        <a:pt x="3018958" y="2349953"/>
                        <a:pt x="2403365" y="2951865"/>
                        <a:pt x="1646705" y="2951865"/>
                      </a:cubicBezTo>
                      <a:close/>
                    </a:path>
                  </a:pathLst>
                </a:custGeom>
                <a:solidFill>
                  <a:srgbClr val="DBA520"/>
                </a:solidFill>
                <a:ln w="13692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  <p:sp>
              <p:nvSpPr>
                <p:cNvPr id="15" name="Freeform 14">
                  <a:extLst>
                    <a:ext uri="{FF2B5EF4-FFF2-40B4-BE49-F238E27FC236}">
                      <a16:creationId xmlns:a16="http://schemas.microsoft.com/office/drawing/2014/main" id="{9BA9CBB0-105C-6581-86C4-A6AC5893C272}"/>
                    </a:ext>
                  </a:extLst>
                </p:cNvPr>
                <p:cNvSpPr/>
                <p:nvPr/>
              </p:nvSpPr>
              <p:spPr>
                <a:xfrm>
                  <a:off x="7994509" y="2774190"/>
                  <a:ext cx="1372253" cy="268351"/>
                </a:xfrm>
                <a:custGeom>
                  <a:avLst/>
                  <a:gdLst>
                    <a:gd name="connsiteX0" fmla="*/ 0 w 1372253"/>
                    <a:gd name="connsiteY0" fmla="*/ 0 h 268351"/>
                    <a:gd name="connsiteX1" fmla="*/ 1372254 w 1372253"/>
                    <a:gd name="connsiteY1" fmla="*/ 0 h 268351"/>
                    <a:gd name="connsiteX2" fmla="*/ 1372254 w 1372253"/>
                    <a:gd name="connsiteY2" fmla="*/ 268351 h 268351"/>
                    <a:gd name="connsiteX3" fmla="*/ 0 w 1372253"/>
                    <a:gd name="connsiteY3" fmla="*/ 268351 h 26835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1372253" h="268351">
                      <a:moveTo>
                        <a:pt x="0" y="0"/>
                      </a:moveTo>
                      <a:lnTo>
                        <a:pt x="1372254" y="0"/>
                      </a:lnTo>
                      <a:lnTo>
                        <a:pt x="1372254" y="268351"/>
                      </a:lnTo>
                      <a:lnTo>
                        <a:pt x="0" y="268351"/>
                      </a:lnTo>
                      <a:close/>
                    </a:path>
                  </a:pathLst>
                </a:custGeom>
                <a:solidFill>
                  <a:srgbClr val="DBA520"/>
                </a:solidFill>
                <a:ln w="136922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en-US" dirty="0"/>
                </a:p>
              </p:txBody>
            </p:sp>
          </p:grpSp>
          <p:sp>
            <p:nvSpPr>
              <p:cNvPr id="13" name="Freeform 12">
                <a:extLst>
                  <a:ext uri="{FF2B5EF4-FFF2-40B4-BE49-F238E27FC236}">
                    <a16:creationId xmlns:a16="http://schemas.microsoft.com/office/drawing/2014/main" id="{F2372D00-76E9-41A6-9549-315B11976A21}"/>
                  </a:ext>
                </a:extLst>
              </p:cNvPr>
              <p:cNvSpPr/>
              <p:nvPr/>
            </p:nvSpPr>
            <p:spPr>
              <a:xfrm>
                <a:off x="7994508" y="3361765"/>
                <a:ext cx="1372253" cy="268351"/>
              </a:xfrm>
              <a:custGeom>
                <a:avLst/>
                <a:gdLst>
                  <a:gd name="connsiteX0" fmla="*/ 0 w 1372253"/>
                  <a:gd name="connsiteY0" fmla="*/ 0 h 268351"/>
                  <a:gd name="connsiteX1" fmla="*/ 1372254 w 1372253"/>
                  <a:gd name="connsiteY1" fmla="*/ 0 h 268351"/>
                  <a:gd name="connsiteX2" fmla="*/ 1372254 w 1372253"/>
                  <a:gd name="connsiteY2" fmla="*/ 268351 h 268351"/>
                  <a:gd name="connsiteX3" fmla="*/ 0 w 1372253"/>
                  <a:gd name="connsiteY3" fmla="*/ 268351 h 268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372253" h="268351">
                    <a:moveTo>
                      <a:pt x="0" y="0"/>
                    </a:moveTo>
                    <a:lnTo>
                      <a:pt x="1372254" y="0"/>
                    </a:lnTo>
                    <a:lnTo>
                      <a:pt x="1372254" y="268351"/>
                    </a:lnTo>
                    <a:lnTo>
                      <a:pt x="0" y="268351"/>
                    </a:lnTo>
                    <a:close/>
                  </a:path>
                </a:pathLst>
              </a:custGeom>
              <a:solidFill>
                <a:srgbClr val="DBA520"/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52523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60AB3591-D60A-1C3B-80BC-06F2C3B7BFE2}"/>
              </a:ext>
            </a:extLst>
          </p:cNvPr>
          <p:cNvGrpSpPr/>
          <p:nvPr/>
        </p:nvGrpSpPr>
        <p:grpSpPr>
          <a:xfrm>
            <a:off x="1610849" y="1567201"/>
            <a:ext cx="3293409" cy="3220216"/>
            <a:chOff x="1610849" y="1567201"/>
            <a:chExt cx="3293409" cy="3220216"/>
          </a:xfrm>
        </p:grpSpPr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22CF287-7D6F-9822-CBA8-CD117546208B}"/>
                </a:ext>
              </a:extLst>
            </p:cNvPr>
            <p:cNvSpPr/>
            <p:nvPr/>
          </p:nvSpPr>
          <p:spPr>
            <a:xfrm>
              <a:off x="18288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0C8FF30D-FB36-3D46-41CA-2B2C72C89772}"/>
                </a:ext>
              </a:extLst>
            </p:cNvPr>
            <p:cNvGrpSpPr/>
            <p:nvPr/>
          </p:nvGrpSpPr>
          <p:grpSpPr>
            <a:xfrm>
              <a:off x="1610849" y="1567201"/>
              <a:ext cx="3293409" cy="3220216"/>
              <a:chOff x="1610849" y="1567201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17E09956-5107-AE0E-B129-C62BDAABB716}"/>
                  </a:ext>
                </a:extLst>
              </p:cNvPr>
              <p:cNvSpPr/>
              <p:nvPr/>
            </p:nvSpPr>
            <p:spPr>
              <a:xfrm>
                <a:off x="1610849" y="1567201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tx1">
                  <a:lumMod val="50000"/>
                  <a:lumOff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16" name="Multiply 15">
                <a:extLst>
                  <a:ext uri="{FF2B5EF4-FFF2-40B4-BE49-F238E27FC236}">
                    <a16:creationId xmlns:a16="http://schemas.microsoft.com/office/drawing/2014/main" id="{EF42033A-F436-6002-1817-2015C6FACFB1}"/>
                  </a:ext>
                </a:extLst>
              </p:cNvPr>
              <p:cNvSpPr/>
              <p:nvPr/>
            </p:nvSpPr>
            <p:spPr>
              <a:xfrm>
                <a:off x="2228853" y="2148609"/>
                <a:ext cx="2057400" cy="2057400"/>
              </a:xfrm>
              <a:prstGeom prst="mathMultiply">
                <a:avLst/>
              </a:prstGeom>
              <a:solidFill>
                <a:srgbClr val="7F7F7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D64EEF6D-0A24-30CC-6D9E-5E4C5011922D}"/>
              </a:ext>
            </a:extLst>
          </p:cNvPr>
          <p:cNvGrpSpPr/>
          <p:nvPr/>
        </p:nvGrpSpPr>
        <p:grpSpPr>
          <a:xfrm>
            <a:off x="7069791" y="1590292"/>
            <a:ext cx="3293409" cy="3220216"/>
            <a:chOff x="7069791" y="1590292"/>
            <a:chExt cx="3293409" cy="3220216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23BD5405-1284-71EE-0D51-0DD9EB9E9AAC}"/>
                </a:ext>
              </a:extLst>
            </p:cNvPr>
            <p:cNvGrpSpPr/>
            <p:nvPr/>
          </p:nvGrpSpPr>
          <p:grpSpPr>
            <a:xfrm>
              <a:off x="7069791" y="1590292"/>
              <a:ext cx="3293409" cy="3220216"/>
              <a:chOff x="1610849" y="1567201"/>
              <a:chExt cx="3293409" cy="3220216"/>
            </a:xfrm>
          </p:grpSpPr>
          <p:sp>
            <p:nvSpPr>
              <p:cNvPr id="28" name="Oval 27">
                <a:extLst>
                  <a:ext uri="{FF2B5EF4-FFF2-40B4-BE49-F238E27FC236}">
                    <a16:creationId xmlns:a16="http://schemas.microsoft.com/office/drawing/2014/main" id="{82467578-D629-FADC-948E-24BC5BC5D569}"/>
                  </a:ext>
                </a:extLst>
              </p:cNvPr>
              <p:cNvSpPr/>
              <p:nvPr/>
            </p:nvSpPr>
            <p:spPr>
              <a:xfrm>
                <a:off x="1828800" y="1752600"/>
                <a:ext cx="2895600" cy="2819400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2" name="Freeform 31">
                <a:extLst>
                  <a:ext uri="{FF2B5EF4-FFF2-40B4-BE49-F238E27FC236}">
                    <a16:creationId xmlns:a16="http://schemas.microsoft.com/office/drawing/2014/main" id="{0C0670E2-DF7D-871F-B5D8-B0BA48956A4F}"/>
                  </a:ext>
                </a:extLst>
              </p:cNvPr>
              <p:cNvSpPr/>
              <p:nvPr/>
            </p:nvSpPr>
            <p:spPr>
              <a:xfrm>
                <a:off x="1610849" y="1567201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rgbClr val="0D8554"/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</p:grpSp>
        <p:sp>
          <p:nvSpPr>
            <p:cNvPr id="34" name="Right Arrow 33">
              <a:extLst>
                <a:ext uri="{FF2B5EF4-FFF2-40B4-BE49-F238E27FC236}">
                  <a16:creationId xmlns:a16="http://schemas.microsoft.com/office/drawing/2014/main" id="{BF9690CC-E8F2-BD0F-DB9B-CC66A2288F13}"/>
                </a:ext>
              </a:extLst>
            </p:cNvPr>
            <p:cNvSpPr/>
            <p:nvPr/>
          </p:nvSpPr>
          <p:spPr>
            <a:xfrm>
              <a:off x="7747305" y="2583296"/>
              <a:ext cx="990600" cy="1234209"/>
            </a:xfrm>
            <a:prstGeom prst="rightArrow">
              <a:avLst/>
            </a:prstGeom>
            <a:solidFill>
              <a:srgbClr val="0D855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Right Arrow 34">
              <a:extLst>
                <a:ext uri="{FF2B5EF4-FFF2-40B4-BE49-F238E27FC236}">
                  <a16:creationId xmlns:a16="http://schemas.microsoft.com/office/drawing/2014/main" id="{BA7D0CDA-DA5E-5304-866A-36AA88C18ECF}"/>
                </a:ext>
              </a:extLst>
            </p:cNvPr>
            <p:cNvSpPr/>
            <p:nvPr/>
          </p:nvSpPr>
          <p:spPr>
            <a:xfrm rot="10800000">
              <a:off x="8735542" y="2583296"/>
              <a:ext cx="990600" cy="1234209"/>
            </a:xfrm>
            <a:prstGeom prst="rightArrow">
              <a:avLst/>
            </a:prstGeom>
            <a:solidFill>
              <a:srgbClr val="0D855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1259432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64E2D9-F5C5-7C0D-446A-C17E9980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49FE4D82-7820-7CA7-DBED-D9A25B569BEB}"/>
              </a:ext>
            </a:extLst>
          </p:cNvPr>
          <p:cNvGrpSpPr/>
          <p:nvPr/>
        </p:nvGrpSpPr>
        <p:grpSpPr>
          <a:xfrm>
            <a:off x="1143000" y="1447800"/>
            <a:ext cx="3886200" cy="3657600"/>
            <a:chOff x="1143000" y="1447800"/>
            <a:chExt cx="3886200" cy="36576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C5BC7E1-B39F-63A5-9A5E-1F7022F15B49}"/>
                </a:ext>
              </a:extLst>
            </p:cNvPr>
            <p:cNvSpPr/>
            <p:nvPr/>
          </p:nvSpPr>
          <p:spPr>
            <a:xfrm>
              <a:off x="1546739" y="1613614"/>
              <a:ext cx="3200400" cy="3200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3C760B9B-C487-C28C-D260-8524F7AE9F29}"/>
                </a:ext>
              </a:extLst>
            </p:cNvPr>
            <p:cNvSpPr/>
            <p:nvPr/>
          </p:nvSpPr>
          <p:spPr>
            <a:xfrm>
              <a:off x="2988423" y="2285651"/>
              <a:ext cx="317033" cy="317033"/>
            </a:xfrm>
            <a:custGeom>
              <a:avLst/>
              <a:gdLst>
                <a:gd name="connsiteX0" fmla="*/ 317033 w 317033"/>
                <a:gd name="connsiteY0" fmla="*/ 158517 h 317033"/>
                <a:gd name="connsiteX1" fmla="*/ 158517 w 317033"/>
                <a:gd name="connsiteY1" fmla="*/ 317033 h 317033"/>
                <a:gd name="connsiteX2" fmla="*/ 0 w 317033"/>
                <a:gd name="connsiteY2" fmla="*/ 158517 h 317033"/>
                <a:gd name="connsiteX3" fmla="*/ 158517 w 317033"/>
                <a:gd name="connsiteY3" fmla="*/ 0 h 317033"/>
                <a:gd name="connsiteX4" fmla="*/ 317033 w 317033"/>
                <a:gd name="connsiteY4" fmla="*/ 158517 h 3170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7033" h="317033">
                  <a:moveTo>
                    <a:pt x="317033" y="158517"/>
                  </a:moveTo>
                  <a:cubicBezTo>
                    <a:pt x="317033" y="246063"/>
                    <a:pt x="246063" y="317033"/>
                    <a:pt x="158517" y="317033"/>
                  </a:cubicBezTo>
                  <a:cubicBezTo>
                    <a:pt x="70970" y="317033"/>
                    <a:pt x="0" y="246063"/>
                    <a:pt x="0" y="158517"/>
                  </a:cubicBezTo>
                  <a:cubicBezTo>
                    <a:pt x="0" y="70970"/>
                    <a:pt x="70970" y="0"/>
                    <a:pt x="158517" y="0"/>
                  </a:cubicBezTo>
                  <a:cubicBezTo>
                    <a:pt x="246063" y="0"/>
                    <a:pt x="317033" y="70970"/>
                    <a:pt x="317033" y="158517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97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086F196C-03AF-C8FE-4603-499E68408448}"/>
                </a:ext>
              </a:extLst>
            </p:cNvPr>
            <p:cNvSpPr/>
            <p:nvPr/>
          </p:nvSpPr>
          <p:spPr>
            <a:xfrm>
              <a:off x="2711019" y="2642314"/>
              <a:ext cx="871841" cy="1426650"/>
            </a:xfrm>
            <a:custGeom>
              <a:avLst/>
              <a:gdLst>
                <a:gd name="connsiteX0" fmla="*/ 867879 w 871841"/>
                <a:gd name="connsiteY0" fmla="*/ 618215 h 1426650"/>
                <a:gd name="connsiteX1" fmla="*/ 756917 w 871841"/>
                <a:gd name="connsiteY1" fmla="*/ 146628 h 1426650"/>
                <a:gd name="connsiteX2" fmla="*/ 733140 w 871841"/>
                <a:gd name="connsiteY2" fmla="*/ 103036 h 1426650"/>
                <a:gd name="connsiteX3" fmla="*/ 566697 w 871841"/>
                <a:gd name="connsiteY3" fmla="*/ 15852 h 1426650"/>
                <a:gd name="connsiteX4" fmla="*/ 435921 w 871841"/>
                <a:gd name="connsiteY4" fmla="*/ 0 h 1426650"/>
                <a:gd name="connsiteX5" fmla="*/ 305145 w 871841"/>
                <a:gd name="connsiteY5" fmla="*/ 19815 h 1426650"/>
                <a:gd name="connsiteX6" fmla="*/ 138702 w 871841"/>
                <a:gd name="connsiteY6" fmla="*/ 106999 h 1426650"/>
                <a:gd name="connsiteX7" fmla="*/ 114925 w 871841"/>
                <a:gd name="connsiteY7" fmla="*/ 150591 h 1426650"/>
                <a:gd name="connsiteX8" fmla="*/ 3963 w 871841"/>
                <a:gd name="connsiteY8" fmla="*/ 622178 h 1426650"/>
                <a:gd name="connsiteX9" fmla="*/ 0 w 871841"/>
                <a:gd name="connsiteY9" fmla="*/ 641993 h 1426650"/>
                <a:gd name="connsiteX10" fmla="*/ 79258 w 871841"/>
                <a:gd name="connsiteY10" fmla="*/ 721251 h 1426650"/>
                <a:gd name="connsiteX11" fmla="*/ 154554 w 871841"/>
                <a:gd name="connsiteY11" fmla="*/ 661807 h 1426650"/>
                <a:gd name="connsiteX12" fmla="*/ 237775 w 871841"/>
                <a:gd name="connsiteY12" fmla="*/ 317033 h 1426650"/>
                <a:gd name="connsiteX13" fmla="*/ 237775 w 871841"/>
                <a:gd name="connsiteY13" fmla="*/ 1426650 h 1426650"/>
                <a:gd name="connsiteX14" fmla="*/ 396292 w 871841"/>
                <a:gd name="connsiteY14" fmla="*/ 1426650 h 1426650"/>
                <a:gd name="connsiteX15" fmla="*/ 396292 w 871841"/>
                <a:gd name="connsiteY15" fmla="*/ 713325 h 1426650"/>
                <a:gd name="connsiteX16" fmla="*/ 475550 w 871841"/>
                <a:gd name="connsiteY16" fmla="*/ 713325 h 1426650"/>
                <a:gd name="connsiteX17" fmla="*/ 475550 w 871841"/>
                <a:gd name="connsiteY17" fmla="*/ 1426650 h 1426650"/>
                <a:gd name="connsiteX18" fmla="*/ 634067 w 871841"/>
                <a:gd name="connsiteY18" fmla="*/ 1426650 h 1426650"/>
                <a:gd name="connsiteX19" fmla="*/ 634067 w 871841"/>
                <a:gd name="connsiteY19" fmla="*/ 313070 h 1426650"/>
                <a:gd name="connsiteX20" fmla="*/ 717288 w 871841"/>
                <a:gd name="connsiteY20" fmla="*/ 657844 h 1426650"/>
                <a:gd name="connsiteX21" fmla="*/ 792583 w 871841"/>
                <a:gd name="connsiteY21" fmla="*/ 717288 h 1426650"/>
                <a:gd name="connsiteX22" fmla="*/ 871842 w 871841"/>
                <a:gd name="connsiteY22" fmla="*/ 638030 h 1426650"/>
                <a:gd name="connsiteX23" fmla="*/ 867879 w 871841"/>
                <a:gd name="connsiteY23" fmla="*/ 618215 h 1426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871841" h="1426650">
                  <a:moveTo>
                    <a:pt x="867879" y="618215"/>
                  </a:moveTo>
                  <a:lnTo>
                    <a:pt x="756917" y="146628"/>
                  </a:lnTo>
                  <a:cubicBezTo>
                    <a:pt x="752954" y="130776"/>
                    <a:pt x="745028" y="114925"/>
                    <a:pt x="733140" y="103036"/>
                  </a:cubicBezTo>
                  <a:cubicBezTo>
                    <a:pt x="685585" y="63407"/>
                    <a:pt x="630104" y="35666"/>
                    <a:pt x="566697" y="15852"/>
                  </a:cubicBezTo>
                  <a:cubicBezTo>
                    <a:pt x="523105" y="7926"/>
                    <a:pt x="479513" y="0"/>
                    <a:pt x="435921" y="0"/>
                  </a:cubicBezTo>
                  <a:cubicBezTo>
                    <a:pt x="392329" y="0"/>
                    <a:pt x="348737" y="7926"/>
                    <a:pt x="305145" y="19815"/>
                  </a:cubicBezTo>
                  <a:cubicBezTo>
                    <a:pt x="241738" y="35666"/>
                    <a:pt x="186257" y="67370"/>
                    <a:pt x="138702" y="106999"/>
                  </a:cubicBezTo>
                  <a:cubicBezTo>
                    <a:pt x="126813" y="118888"/>
                    <a:pt x="118888" y="134739"/>
                    <a:pt x="114925" y="150591"/>
                  </a:cubicBezTo>
                  <a:lnTo>
                    <a:pt x="3963" y="622178"/>
                  </a:lnTo>
                  <a:cubicBezTo>
                    <a:pt x="3963" y="626141"/>
                    <a:pt x="0" y="634067"/>
                    <a:pt x="0" y="641993"/>
                  </a:cubicBezTo>
                  <a:cubicBezTo>
                    <a:pt x="0" y="685585"/>
                    <a:pt x="35666" y="721251"/>
                    <a:pt x="79258" y="721251"/>
                  </a:cubicBezTo>
                  <a:cubicBezTo>
                    <a:pt x="114925" y="721251"/>
                    <a:pt x="146628" y="693510"/>
                    <a:pt x="154554" y="661807"/>
                  </a:cubicBezTo>
                  <a:lnTo>
                    <a:pt x="237775" y="317033"/>
                  </a:lnTo>
                  <a:lnTo>
                    <a:pt x="237775" y="1426650"/>
                  </a:lnTo>
                  <a:lnTo>
                    <a:pt x="396292" y="1426650"/>
                  </a:lnTo>
                  <a:lnTo>
                    <a:pt x="396292" y="713325"/>
                  </a:lnTo>
                  <a:lnTo>
                    <a:pt x="475550" y="713325"/>
                  </a:lnTo>
                  <a:lnTo>
                    <a:pt x="475550" y="1426650"/>
                  </a:lnTo>
                  <a:lnTo>
                    <a:pt x="634067" y="1426650"/>
                  </a:lnTo>
                  <a:lnTo>
                    <a:pt x="634067" y="313070"/>
                  </a:lnTo>
                  <a:lnTo>
                    <a:pt x="717288" y="657844"/>
                  </a:lnTo>
                  <a:cubicBezTo>
                    <a:pt x="725214" y="689548"/>
                    <a:pt x="756917" y="717288"/>
                    <a:pt x="792583" y="717288"/>
                  </a:cubicBezTo>
                  <a:cubicBezTo>
                    <a:pt x="836175" y="717288"/>
                    <a:pt x="871842" y="681622"/>
                    <a:pt x="871842" y="638030"/>
                  </a:cubicBezTo>
                  <a:cubicBezTo>
                    <a:pt x="871842" y="630104"/>
                    <a:pt x="867879" y="622178"/>
                    <a:pt x="867879" y="618215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97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30" name="Graphic 29" descr="Arrow circle with solid fill">
              <a:extLst>
                <a:ext uri="{FF2B5EF4-FFF2-40B4-BE49-F238E27FC236}">
                  <a16:creationId xmlns:a16="http://schemas.microsoft.com/office/drawing/2014/main" id="{8BC0C7E9-09BA-20C6-E994-0EBF0EF1368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13043" t="14925" r="13043" b="13432"/>
            <a:stretch>
              <a:fillRect/>
            </a:stretch>
          </p:blipFill>
          <p:spPr>
            <a:xfrm>
              <a:off x="1143000" y="1447800"/>
              <a:ext cx="3886200" cy="3657600"/>
            </a:xfrm>
            <a:prstGeom prst="rect">
              <a:avLst/>
            </a:prstGeom>
          </p:spPr>
        </p:pic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4E8EEAFF-D5CF-2155-4C6E-84B60E2EB764}"/>
              </a:ext>
            </a:extLst>
          </p:cNvPr>
          <p:cNvGrpSpPr/>
          <p:nvPr/>
        </p:nvGrpSpPr>
        <p:grpSpPr>
          <a:xfrm>
            <a:off x="6934200" y="1447800"/>
            <a:ext cx="3886200" cy="3657600"/>
            <a:chOff x="6934200" y="1447800"/>
            <a:chExt cx="3886200" cy="3657600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EB49E12-68F4-76A5-5F31-21BB8822928F}"/>
                </a:ext>
              </a:extLst>
            </p:cNvPr>
            <p:cNvSpPr/>
            <p:nvPr/>
          </p:nvSpPr>
          <p:spPr>
            <a:xfrm>
              <a:off x="7086600" y="1600200"/>
              <a:ext cx="3200400" cy="3200400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Graphic 2" descr="Group of men with solid fill">
              <a:extLst>
                <a:ext uri="{FF2B5EF4-FFF2-40B4-BE49-F238E27FC236}">
                  <a16:creationId xmlns:a16="http://schemas.microsoft.com/office/drawing/2014/main" id="{D7139795-A95A-BB52-F876-AB733411D7F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7729536" y="2226208"/>
              <a:ext cx="1902200" cy="1902200"/>
            </a:xfrm>
            <a:prstGeom prst="rect">
              <a:avLst/>
            </a:prstGeom>
          </p:spPr>
        </p:pic>
        <p:pic>
          <p:nvPicPr>
            <p:cNvPr id="32" name="Graphic 31" descr="Arrow circle with solid fill">
              <a:extLst>
                <a:ext uri="{FF2B5EF4-FFF2-40B4-BE49-F238E27FC236}">
                  <a16:creationId xmlns:a16="http://schemas.microsoft.com/office/drawing/2014/main" id="{0396C5E1-1C48-4BF2-58D5-A03D4B37DC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 l="11594" t="14925" r="14493" b="13433"/>
            <a:stretch>
              <a:fillRect/>
            </a:stretch>
          </p:blipFill>
          <p:spPr>
            <a:xfrm flipH="1">
              <a:off x="6934200" y="1447800"/>
              <a:ext cx="3886200" cy="36576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30292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F54A9-8928-2D25-2A8A-62BCEEE2A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1D6B076-7CC8-037B-8B9D-806C18F32771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D17C764-F21D-F4C1-401F-9A01C637B901}"/>
                </a:ext>
              </a:extLst>
            </p:cNvPr>
            <p:cNvSpPr/>
            <p:nvPr/>
          </p:nvSpPr>
          <p:spPr>
            <a:xfrm>
              <a:off x="7232836" y="1796143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7507E895-B80C-08BF-7F32-6D23CB51426A}"/>
                </a:ext>
              </a:extLst>
            </p:cNvPr>
            <p:cNvGrpSpPr/>
            <p:nvPr/>
          </p:nvGrpSpPr>
          <p:grpSpPr>
            <a:xfrm>
              <a:off x="7033932" y="1567200"/>
              <a:ext cx="3293409" cy="3220216"/>
              <a:chOff x="7033932" y="1567200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CEFAE6C8-5F93-12F8-637B-A3507F304CF4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3" name="Graphic 2" descr="Baby with solid fill">
                <a:extLst>
                  <a:ext uri="{FF2B5EF4-FFF2-40B4-BE49-F238E27FC236}">
                    <a16:creationId xmlns:a16="http://schemas.microsoft.com/office/drawing/2014/main" id="{D2AFABB9-77BB-8C27-A643-4A6B9A15F6E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A7A57A7-CFD4-002A-50F7-8B84C0A0F857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4CD386C-3CDA-44FF-E0A2-DC97BC2BCB41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3CDA082B-22A0-DBEE-D3CF-DCB05C0E3D2C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2A513D27-CA97-EAB8-117A-9356357E588B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1" name="Graphic 10" descr="Man with cane with solid fill">
                <a:extLst>
                  <a:ext uri="{FF2B5EF4-FFF2-40B4-BE49-F238E27FC236}">
                    <a16:creationId xmlns:a16="http://schemas.microsoft.com/office/drawing/2014/main" id="{6D7899B3-3277-2B17-6C08-1F9560D7A3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45207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1BEBB-C332-C94F-50EB-91F77F57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2F5B1A2-273E-AEE4-C205-8BAF3D9A1A2A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960F455F-A445-D1FB-9E3F-83F7EBBEF32A}"/>
                </a:ext>
              </a:extLst>
            </p:cNvPr>
            <p:cNvSpPr/>
            <p:nvPr/>
          </p:nvSpPr>
          <p:spPr>
            <a:xfrm>
              <a:off x="7232836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7F1824A-7638-259A-A193-28BC2E59B586}"/>
                </a:ext>
              </a:extLst>
            </p:cNvPr>
            <p:cNvGrpSpPr/>
            <p:nvPr/>
          </p:nvGrpSpPr>
          <p:grpSpPr>
            <a:xfrm>
              <a:off x="7033932" y="1567200"/>
              <a:ext cx="3293409" cy="3220216"/>
              <a:chOff x="7033932" y="1567200"/>
              <a:chExt cx="3293409" cy="3220216"/>
            </a:xfrm>
          </p:grpSpPr>
          <p:sp>
            <p:nvSpPr>
              <p:cNvPr id="9" name="Freeform 8">
                <a:extLst>
                  <a:ext uri="{FF2B5EF4-FFF2-40B4-BE49-F238E27FC236}">
                    <a16:creationId xmlns:a16="http://schemas.microsoft.com/office/drawing/2014/main" id="{DB4714A1-D249-FE4B-399E-9B9936E1954F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3" name="Graphic 2" descr="Schoolhouse with solid fill">
                <a:extLst>
                  <a:ext uri="{FF2B5EF4-FFF2-40B4-BE49-F238E27FC236}">
                    <a16:creationId xmlns:a16="http://schemas.microsoft.com/office/drawing/2014/main" id="{16B6044A-31B5-04A2-EE37-1552C2D3CD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rcRect/>
              <a:stretch/>
            </p:blipFill>
            <p:spPr>
              <a:xfrm>
                <a:off x="7663349" y="2051794"/>
                <a:ext cx="2034574" cy="2034574"/>
              </a:xfrm>
              <a:prstGeom prst="rect">
                <a:avLst/>
              </a:prstGeom>
            </p:spPr>
          </p:pic>
        </p:grp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425AFCA8-99BF-3C7D-CC52-4296326046FC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CCB5E3F-6B5F-822E-291D-45CBC5715921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F93C38A9-2BC8-5F8D-1F1B-25735366E0D5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7C36E686-C3F9-C083-0BB4-E506291E3E08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1" name="Graphic 10" descr="Office worker male with solid fill">
                <a:extLst>
                  <a:ext uri="{FF2B5EF4-FFF2-40B4-BE49-F238E27FC236}">
                    <a16:creationId xmlns:a16="http://schemas.microsoft.com/office/drawing/2014/main" id="{46D5CED5-8507-61FF-5E93-D974C1FA5E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8680106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2E7C2-EB8F-20BB-BF1B-EC402DC66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4EAB709D-496E-1227-5271-34F0C3812063}"/>
              </a:ext>
            </a:extLst>
          </p:cNvPr>
          <p:cNvGrpSpPr/>
          <p:nvPr/>
        </p:nvGrpSpPr>
        <p:grpSpPr>
          <a:xfrm>
            <a:off x="7033932" y="1567200"/>
            <a:ext cx="3293409" cy="3220216"/>
            <a:chOff x="7033932" y="1567200"/>
            <a:chExt cx="3293409" cy="3220216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EE4531E-1C90-E579-74A3-89F08CDC9687}"/>
                </a:ext>
              </a:extLst>
            </p:cNvPr>
            <p:cNvSpPr/>
            <p:nvPr/>
          </p:nvSpPr>
          <p:spPr>
            <a:xfrm>
              <a:off x="7232836" y="1805708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3BE0316F-07D9-6D66-092E-65CF4F0752E6}"/>
                </a:ext>
              </a:extLst>
            </p:cNvPr>
            <p:cNvSpPr/>
            <p:nvPr/>
          </p:nvSpPr>
          <p:spPr>
            <a:xfrm>
              <a:off x="7033932" y="1567200"/>
              <a:ext cx="3293409" cy="3220216"/>
            </a:xfrm>
            <a:custGeom>
              <a:avLst/>
              <a:gdLst>
                <a:gd name="connsiteX0" fmla="*/ 1646705 w 3293409"/>
                <a:gd name="connsiteY0" fmla="*/ 0 h 3220216"/>
                <a:gd name="connsiteX1" fmla="*/ 0 w 3293409"/>
                <a:gd name="connsiteY1" fmla="*/ 1610108 h 3220216"/>
                <a:gd name="connsiteX2" fmla="*/ 1646705 w 3293409"/>
                <a:gd name="connsiteY2" fmla="*/ 3220217 h 3220216"/>
                <a:gd name="connsiteX3" fmla="*/ 3293409 w 3293409"/>
                <a:gd name="connsiteY3" fmla="*/ 1610108 h 3220216"/>
                <a:gd name="connsiteX4" fmla="*/ 1646705 w 3293409"/>
                <a:gd name="connsiteY4" fmla="*/ 0 h 3220216"/>
                <a:gd name="connsiteX5" fmla="*/ 1646705 w 3293409"/>
                <a:gd name="connsiteY5" fmla="*/ 2951865 h 3220216"/>
                <a:gd name="connsiteX6" fmla="*/ 274451 w 3293409"/>
                <a:gd name="connsiteY6" fmla="*/ 1610108 h 3220216"/>
                <a:gd name="connsiteX7" fmla="*/ 1646705 w 3293409"/>
                <a:gd name="connsiteY7" fmla="*/ 268351 h 3220216"/>
                <a:gd name="connsiteX8" fmla="*/ 3018958 w 3293409"/>
                <a:gd name="connsiteY8" fmla="*/ 1610108 h 3220216"/>
                <a:gd name="connsiteX9" fmla="*/ 1646705 w 3293409"/>
                <a:gd name="connsiteY9" fmla="*/ 2951865 h 3220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293409" h="3220216">
                  <a:moveTo>
                    <a:pt x="1646705" y="0"/>
                  </a:moveTo>
                  <a:cubicBezTo>
                    <a:pt x="737312" y="0"/>
                    <a:pt x="0" y="720926"/>
                    <a:pt x="0" y="1610108"/>
                  </a:cubicBezTo>
                  <a:cubicBezTo>
                    <a:pt x="0" y="2499291"/>
                    <a:pt x="737312" y="3220217"/>
                    <a:pt x="1646705" y="3220217"/>
                  </a:cubicBezTo>
                  <a:cubicBezTo>
                    <a:pt x="2556097" y="3220217"/>
                    <a:pt x="3293409" y="2499291"/>
                    <a:pt x="3293409" y="1610108"/>
                  </a:cubicBezTo>
                  <a:cubicBezTo>
                    <a:pt x="3293409" y="720926"/>
                    <a:pt x="2556097" y="0"/>
                    <a:pt x="1646705" y="0"/>
                  </a:cubicBezTo>
                  <a:close/>
                  <a:moveTo>
                    <a:pt x="1646705" y="2951865"/>
                  </a:moveTo>
                  <a:cubicBezTo>
                    <a:pt x="890044" y="2951865"/>
                    <a:pt x="274451" y="2349953"/>
                    <a:pt x="274451" y="1610108"/>
                  </a:cubicBezTo>
                  <a:cubicBezTo>
                    <a:pt x="274451" y="870264"/>
                    <a:pt x="890044" y="268351"/>
                    <a:pt x="1646705" y="268351"/>
                  </a:cubicBezTo>
                  <a:cubicBezTo>
                    <a:pt x="2403365" y="268351"/>
                    <a:pt x="3018958" y="870264"/>
                    <a:pt x="3018958" y="1610108"/>
                  </a:cubicBezTo>
                  <a:cubicBezTo>
                    <a:pt x="3018958" y="2349953"/>
                    <a:pt x="2403365" y="2951865"/>
                    <a:pt x="1646705" y="2951865"/>
                  </a:cubicBezTo>
                  <a:close/>
                </a:path>
              </a:pathLst>
            </a:custGeom>
            <a:solidFill>
              <a:schemeClr val="accent4">
                <a:lumMod val="50000"/>
              </a:schemeClr>
            </a:solidFill>
            <a:ln w="13692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" name="Graphic 2" descr="Universal access with solid fill">
              <a:extLst>
                <a:ext uri="{FF2B5EF4-FFF2-40B4-BE49-F238E27FC236}">
                  <a16:creationId xmlns:a16="http://schemas.microsoft.com/office/drawing/2014/main" id="{6FF05881-1AC1-F2A2-9AA4-D9F77C3E60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7729536" y="2226208"/>
              <a:ext cx="1902200" cy="1902200"/>
            </a:xfrm>
            <a:prstGeom prst="rect">
              <a:avLst/>
            </a:prstGeom>
          </p:spPr>
        </p:pic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5FC389FA-60CA-DBB6-9151-0D98E12C8A8E}"/>
              </a:ext>
            </a:extLst>
          </p:cNvPr>
          <p:cNvGrpSpPr/>
          <p:nvPr/>
        </p:nvGrpSpPr>
        <p:grpSpPr>
          <a:xfrm>
            <a:off x="1500236" y="1567200"/>
            <a:ext cx="3293409" cy="3220216"/>
            <a:chOff x="1500236" y="1567200"/>
            <a:chExt cx="3293409" cy="322021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8242063A-FC63-7DF8-D8FD-8C6C7163788A}"/>
                </a:ext>
              </a:extLst>
            </p:cNvPr>
            <p:cNvSpPr/>
            <p:nvPr/>
          </p:nvSpPr>
          <p:spPr>
            <a:xfrm>
              <a:off x="1752600" y="1828800"/>
              <a:ext cx="2895600" cy="2743200"/>
            </a:xfrm>
            <a:prstGeom prst="ellips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2F8C8C02-38EB-629B-8BA5-54A0524C3DC5}"/>
                </a:ext>
              </a:extLst>
            </p:cNvPr>
            <p:cNvGrpSpPr/>
            <p:nvPr/>
          </p:nvGrpSpPr>
          <p:grpSpPr>
            <a:xfrm>
              <a:off x="1500236" y="1567200"/>
              <a:ext cx="3293409" cy="3220216"/>
              <a:chOff x="7033932" y="1567200"/>
              <a:chExt cx="3293409" cy="3220216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770E5EAC-DC3B-262D-300E-15BF6D40451C}"/>
                  </a:ext>
                </a:extLst>
              </p:cNvPr>
              <p:cNvSpPr/>
              <p:nvPr/>
            </p:nvSpPr>
            <p:spPr>
              <a:xfrm>
                <a:off x="7033932" y="1567200"/>
                <a:ext cx="3293409" cy="3220216"/>
              </a:xfrm>
              <a:custGeom>
                <a:avLst/>
                <a:gdLst>
                  <a:gd name="connsiteX0" fmla="*/ 1646705 w 3293409"/>
                  <a:gd name="connsiteY0" fmla="*/ 0 h 3220216"/>
                  <a:gd name="connsiteX1" fmla="*/ 0 w 3293409"/>
                  <a:gd name="connsiteY1" fmla="*/ 1610108 h 3220216"/>
                  <a:gd name="connsiteX2" fmla="*/ 1646705 w 3293409"/>
                  <a:gd name="connsiteY2" fmla="*/ 3220217 h 3220216"/>
                  <a:gd name="connsiteX3" fmla="*/ 3293409 w 3293409"/>
                  <a:gd name="connsiteY3" fmla="*/ 1610108 h 3220216"/>
                  <a:gd name="connsiteX4" fmla="*/ 1646705 w 3293409"/>
                  <a:gd name="connsiteY4" fmla="*/ 0 h 3220216"/>
                  <a:gd name="connsiteX5" fmla="*/ 1646705 w 3293409"/>
                  <a:gd name="connsiteY5" fmla="*/ 2951865 h 3220216"/>
                  <a:gd name="connsiteX6" fmla="*/ 274451 w 3293409"/>
                  <a:gd name="connsiteY6" fmla="*/ 1610108 h 3220216"/>
                  <a:gd name="connsiteX7" fmla="*/ 1646705 w 3293409"/>
                  <a:gd name="connsiteY7" fmla="*/ 268351 h 3220216"/>
                  <a:gd name="connsiteX8" fmla="*/ 3018958 w 3293409"/>
                  <a:gd name="connsiteY8" fmla="*/ 1610108 h 3220216"/>
                  <a:gd name="connsiteX9" fmla="*/ 1646705 w 3293409"/>
                  <a:gd name="connsiteY9" fmla="*/ 2951865 h 3220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293409" h="3220216">
                    <a:moveTo>
                      <a:pt x="1646705" y="0"/>
                    </a:moveTo>
                    <a:cubicBezTo>
                      <a:pt x="737312" y="0"/>
                      <a:pt x="0" y="720926"/>
                      <a:pt x="0" y="1610108"/>
                    </a:cubicBezTo>
                    <a:cubicBezTo>
                      <a:pt x="0" y="2499291"/>
                      <a:pt x="737312" y="3220217"/>
                      <a:pt x="1646705" y="3220217"/>
                    </a:cubicBezTo>
                    <a:cubicBezTo>
                      <a:pt x="2556097" y="3220217"/>
                      <a:pt x="3293409" y="2499291"/>
                      <a:pt x="3293409" y="1610108"/>
                    </a:cubicBezTo>
                    <a:cubicBezTo>
                      <a:pt x="3293409" y="720926"/>
                      <a:pt x="2556097" y="0"/>
                      <a:pt x="1646705" y="0"/>
                    </a:cubicBezTo>
                    <a:close/>
                    <a:moveTo>
                      <a:pt x="1646705" y="2951865"/>
                    </a:moveTo>
                    <a:cubicBezTo>
                      <a:pt x="890044" y="2951865"/>
                      <a:pt x="274451" y="2349953"/>
                      <a:pt x="274451" y="1610108"/>
                    </a:cubicBezTo>
                    <a:cubicBezTo>
                      <a:pt x="274451" y="870264"/>
                      <a:pt x="890044" y="268351"/>
                      <a:pt x="1646705" y="268351"/>
                    </a:cubicBezTo>
                    <a:cubicBezTo>
                      <a:pt x="2403365" y="268351"/>
                      <a:pt x="3018958" y="870264"/>
                      <a:pt x="3018958" y="1610108"/>
                    </a:cubicBezTo>
                    <a:cubicBezTo>
                      <a:pt x="3018958" y="2349953"/>
                      <a:pt x="2403365" y="2951865"/>
                      <a:pt x="1646705" y="295186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36922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pic>
            <p:nvPicPr>
              <p:cNvPr id="11" name="Graphic 10" descr="Graduation cap with solid fill">
                <a:extLst>
                  <a:ext uri="{FF2B5EF4-FFF2-40B4-BE49-F238E27FC236}">
                    <a16:creationId xmlns:a16="http://schemas.microsoft.com/office/drawing/2014/main" id="{03F72A7B-D1AC-C711-595D-E8E0058E74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>
              <a:xfrm>
                <a:off x="7729536" y="2226208"/>
                <a:ext cx="1902200" cy="19022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3198736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A612B-B7D1-FA8B-7DA2-7114EECFC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 descr="Badge 1 with solid fill">
            <a:extLst>
              <a:ext uri="{FF2B5EF4-FFF2-40B4-BE49-F238E27FC236}">
                <a16:creationId xmlns:a16="http://schemas.microsoft.com/office/drawing/2014/main" id="{938B00A5-70D6-232E-D6D9-C1FDD2A87C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3030" y="1318099"/>
            <a:ext cx="3621932" cy="3621932"/>
          </a:xfrm>
          <a:prstGeom prst="rect">
            <a:avLst/>
          </a:prstGeom>
        </p:spPr>
      </p:pic>
      <p:pic>
        <p:nvPicPr>
          <p:cNvPr id="13" name="Graphic 12" descr="Badge with solid fill">
            <a:extLst>
              <a:ext uri="{FF2B5EF4-FFF2-40B4-BE49-F238E27FC236}">
                <a16:creationId xmlns:a16="http://schemas.microsoft.com/office/drawing/2014/main" id="{C193F618-5574-0384-2B2B-ADAF4271A6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08841" y="1318099"/>
            <a:ext cx="3621933" cy="36219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0138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8282A4-B7E4-CB70-3A90-2F5CCE11B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 descr="Badge 3 with solid fill">
            <a:extLst>
              <a:ext uri="{FF2B5EF4-FFF2-40B4-BE49-F238E27FC236}">
                <a16:creationId xmlns:a16="http://schemas.microsoft.com/office/drawing/2014/main" id="{A4AA6F73-75C3-E493-1073-5D56B5E26E2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273030" y="1318099"/>
            <a:ext cx="3621932" cy="36219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5462AF34-59A9-7976-B62F-0F821CF15CF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4821" t="20547" r="15620" b="14438"/>
          <a:stretch>
            <a:fillRect/>
          </a:stretch>
        </p:blipFill>
        <p:spPr>
          <a:xfrm>
            <a:off x="6867728" y="1472121"/>
            <a:ext cx="3621932" cy="34679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41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A3178D13-C39B-EA2F-B47B-BC8394539DF5}"/>
              </a:ext>
            </a:extLst>
          </p:cNvPr>
          <p:cNvGrpSpPr/>
          <p:nvPr/>
        </p:nvGrpSpPr>
        <p:grpSpPr>
          <a:xfrm>
            <a:off x="457200" y="69985"/>
            <a:ext cx="12115800" cy="6029914"/>
            <a:chOff x="0" y="66086"/>
            <a:chExt cx="12115800" cy="602991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C0A41D-7FAB-61ED-37FF-6F34BFD501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968750" y="2057400"/>
              <a:ext cx="5016500" cy="3274128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E5440E7-35AB-EEF2-FAD5-725EDA1FF4AB}"/>
                </a:ext>
              </a:extLst>
            </p:cNvPr>
            <p:cNvCxnSpPr>
              <a:cxnSpLocks/>
            </p:cNvCxnSpPr>
            <p:nvPr/>
          </p:nvCxnSpPr>
          <p:spPr>
            <a:xfrm>
              <a:off x="5114465" y="1381714"/>
              <a:ext cx="0" cy="878160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11EE2251-C1E8-F56F-E084-620559E9BC42}"/>
                </a:ext>
              </a:extLst>
            </p:cNvPr>
            <p:cNvSpPr/>
            <p:nvPr/>
          </p:nvSpPr>
          <p:spPr>
            <a:xfrm>
              <a:off x="1524000" y="66086"/>
              <a:ext cx="8305800" cy="138171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4C356FAF-AA2D-855A-B585-C11FAFCF4885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11" y="4512130"/>
              <a:ext cx="1821089" cy="14287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C3979CF-974B-06EE-33EB-8B038651090B}"/>
                </a:ext>
              </a:extLst>
            </p:cNvPr>
            <p:cNvSpPr/>
            <p:nvPr/>
          </p:nvSpPr>
          <p:spPr>
            <a:xfrm>
              <a:off x="42640" y="3300787"/>
              <a:ext cx="3887433" cy="2795213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03CF5F92-7B48-0DAC-F0BD-9FA20E48B9B2}"/>
                </a:ext>
              </a:extLst>
            </p:cNvPr>
            <p:cNvCxnSpPr>
              <a:cxnSpLocks/>
            </p:cNvCxnSpPr>
            <p:nvPr/>
          </p:nvCxnSpPr>
          <p:spPr>
            <a:xfrm>
              <a:off x="2483898" y="2236280"/>
              <a:ext cx="1711643" cy="333753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1505F86E-9C40-9C5C-567C-E89E2E071DD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72400" y="2570033"/>
              <a:ext cx="1708727" cy="858967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51931DC-7009-D67D-667C-1371AA39CFBE}"/>
                </a:ext>
              </a:extLst>
            </p:cNvPr>
            <p:cNvSpPr txBox="1"/>
            <p:nvPr/>
          </p:nvSpPr>
          <p:spPr>
            <a:xfrm>
              <a:off x="9133685" y="1626636"/>
              <a:ext cx="2211609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Latest value </a:t>
              </a:r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Latest value after 2010</a:t>
              </a: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53536534-535A-2719-377A-A2CCAD8A766B}"/>
                </a:ext>
              </a:extLst>
            </p:cNvPr>
            <p:cNvSpPr txBox="1"/>
            <p:nvPr/>
          </p:nvSpPr>
          <p:spPr>
            <a:xfrm>
              <a:off x="9124094" y="3514174"/>
              <a:ext cx="2991706" cy="138499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Latest year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Year of latest value (most frequent year for the OECD average)</a:t>
              </a:r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65AE7C8D-2AEB-181B-F01A-E61E4C2B198D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36229" y="3900886"/>
              <a:ext cx="2287865" cy="290114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49AA1F6-CE3D-28BF-A4BD-7B44B65AD77D}"/>
                </a:ext>
              </a:extLst>
            </p:cNvPr>
            <p:cNvSpPr txBox="1"/>
            <p:nvPr/>
          </p:nvSpPr>
          <p:spPr>
            <a:xfrm>
              <a:off x="0" y="3365444"/>
              <a:ext cx="3899328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Time series sparkline </a:t>
              </a:r>
              <a:r>
                <a:rPr lang="en-US" sz="20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Coloured</a:t>
              </a:r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 according to performance relative to 2010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5A8AB47-7C74-3CC2-0717-BA5496D947BC}"/>
                </a:ext>
              </a:extLst>
            </p:cNvPr>
            <p:cNvSpPr txBox="1"/>
            <p:nvPr/>
          </p:nvSpPr>
          <p:spPr>
            <a:xfrm>
              <a:off x="1524000" y="171546"/>
              <a:ext cx="830580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Ranking relative to other OECD countries 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Not displayed when a non-OECD country or average is selected</a:t>
              </a:r>
            </a:p>
          </p:txBody>
        </p:sp>
        <p:pic>
          <p:nvPicPr>
            <p:cNvPr id="29" name="Graphic 28" descr="Badge 1 with solid fill">
              <a:extLst>
                <a:ext uri="{FF2B5EF4-FFF2-40B4-BE49-F238E27FC236}">
                  <a16:creationId xmlns:a16="http://schemas.microsoft.com/office/drawing/2014/main" id="{D3942C45-9EB2-AAF1-FE16-3683FAC44E3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872673" y="905608"/>
              <a:ext cx="457200" cy="457200"/>
            </a:xfrm>
            <a:prstGeom prst="rect">
              <a:avLst/>
            </a:prstGeom>
          </p:spPr>
        </p:pic>
        <p:pic>
          <p:nvPicPr>
            <p:cNvPr id="30" name="Graphic 29" descr="Badge with solid fill">
              <a:extLst>
                <a:ext uri="{FF2B5EF4-FFF2-40B4-BE49-F238E27FC236}">
                  <a16:creationId xmlns:a16="http://schemas.microsoft.com/office/drawing/2014/main" id="{709408C5-60E9-3D33-4ED0-694136C8411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3472873" y="924514"/>
              <a:ext cx="457200" cy="457200"/>
            </a:xfrm>
            <a:prstGeom prst="rect">
              <a:avLst/>
            </a:prstGeom>
          </p:spPr>
        </p:pic>
        <p:pic>
          <p:nvPicPr>
            <p:cNvPr id="32" name="Graphic 31" descr="Badge 3 with solid fill">
              <a:extLst>
                <a:ext uri="{FF2B5EF4-FFF2-40B4-BE49-F238E27FC236}">
                  <a16:creationId xmlns:a16="http://schemas.microsoft.com/office/drawing/2014/main" id="{E43C0D0A-E315-B527-3E58-97BE40755A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5377873" y="892585"/>
              <a:ext cx="457200" cy="4572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523FE802-E113-3C6C-3791-80C2113DA90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rcRect l="14821" t="20547" r="15620" b="14438"/>
            <a:stretch>
              <a:fillRect/>
            </a:stretch>
          </p:blipFill>
          <p:spPr>
            <a:xfrm>
              <a:off x="7359073" y="912134"/>
              <a:ext cx="457200" cy="437758"/>
            </a:xfrm>
            <a:prstGeom prst="rect">
              <a:avLst/>
            </a:prstGeom>
          </p:spPr>
        </p:pic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148D31A1-628D-27D3-D98F-907751CB707C}"/>
                </a:ext>
              </a:extLst>
            </p:cNvPr>
            <p:cNvSpPr txBox="1"/>
            <p:nvPr/>
          </p:nvSpPr>
          <p:spPr>
            <a:xfrm>
              <a:off x="2329873" y="960326"/>
              <a:ext cx="117311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Top third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B821C54-1F47-91AF-6327-D5F558A51448}"/>
                </a:ext>
              </a:extLst>
            </p:cNvPr>
            <p:cNvSpPr txBox="1"/>
            <p:nvPr/>
          </p:nvSpPr>
          <p:spPr>
            <a:xfrm>
              <a:off x="3930073" y="967341"/>
              <a:ext cx="1535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Middle third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E25CD7A-8031-7F31-5CD2-447D8C3D128C}"/>
                </a:ext>
              </a:extLst>
            </p:cNvPr>
            <p:cNvSpPr txBox="1"/>
            <p:nvPr/>
          </p:nvSpPr>
          <p:spPr>
            <a:xfrm>
              <a:off x="5835073" y="953536"/>
              <a:ext cx="153541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Bottom third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47357363-DCE9-ADAF-7F70-360603F8D308}"/>
                </a:ext>
              </a:extLst>
            </p:cNvPr>
            <p:cNvSpPr txBox="1"/>
            <p:nvPr/>
          </p:nvSpPr>
          <p:spPr>
            <a:xfrm>
              <a:off x="7816273" y="957781"/>
              <a:ext cx="2013527" cy="3788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i="1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Not enough data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26DB6922-A1B6-D390-B4DA-7C8822386BFB}"/>
                </a:ext>
              </a:extLst>
            </p:cNvPr>
            <p:cNvSpPr txBox="1"/>
            <p:nvPr/>
          </p:nvSpPr>
          <p:spPr>
            <a:xfrm>
              <a:off x="97966" y="1596559"/>
              <a:ext cx="2396884" cy="107721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Dimension icon </a:t>
              </a:r>
            </a:p>
            <a:p>
              <a:pPr algn="ctr"/>
              <a:r>
                <a: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As seen in the well-being framework</a:t>
              </a:r>
            </a:p>
          </p:txBody>
        </p: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5C2216AE-B109-A863-CEC0-BDFDCD06A502}"/>
                </a:ext>
              </a:extLst>
            </p:cNvPr>
            <p:cNvGrpSpPr/>
            <p:nvPr/>
          </p:nvGrpSpPr>
          <p:grpSpPr>
            <a:xfrm>
              <a:off x="269085" y="4527480"/>
              <a:ext cx="3630243" cy="1384235"/>
              <a:chOff x="381000" y="4838911"/>
              <a:chExt cx="3899756" cy="1506695"/>
            </a:xfrm>
          </p:grpSpPr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15EE1333-AA58-A1F7-9F29-5CE9A9EDBB93}"/>
                  </a:ext>
                </a:extLst>
              </p:cNvPr>
              <p:cNvSpPr/>
              <p:nvPr/>
            </p:nvSpPr>
            <p:spPr>
              <a:xfrm>
                <a:off x="381000" y="4884890"/>
                <a:ext cx="228600" cy="226128"/>
              </a:xfrm>
              <a:prstGeom prst="ellipse">
                <a:avLst/>
              </a:prstGeom>
              <a:solidFill>
                <a:srgbClr val="0D855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8739798-E640-5664-BCA7-6B267C66F8A5}"/>
                  </a:ext>
                </a:extLst>
              </p:cNvPr>
              <p:cNvSpPr/>
              <p:nvPr/>
            </p:nvSpPr>
            <p:spPr>
              <a:xfrm>
                <a:off x="381000" y="5287240"/>
                <a:ext cx="228600" cy="226128"/>
              </a:xfrm>
              <a:prstGeom prst="ellipse">
                <a:avLst/>
              </a:prstGeom>
              <a:solidFill>
                <a:srgbClr val="DBA52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98987D49-D729-6BA2-90DE-24F0DF7767BD}"/>
                  </a:ext>
                </a:extLst>
              </p:cNvPr>
              <p:cNvSpPr/>
              <p:nvPr/>
            </p:nvSpPr>
            <p:spPr>
              <a:xfrm>
                <a:off x="381000" y="5645870"/>
                <a:ext cx="228600" cy="226128"/>
              </a:xfrm>
              <a:prstGeom prst="ellipse">
                <a:avLst/>
              </a:prstGeom>
              <a:solidFill>
                <a:srgbClr val="D0597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3CC3ED0C-2447-B51A-4948-B2AB2A1085DD}"/>
                  </a:ext>
                </a:extLst>
              </p:cNvPr>
              <p:cNvSpPr/>
              <p:nvPr/>
            </p:nvSpPr>
            <p:spPr>
              <a:xfrm>
                <a:off x="381000" y="6022272"/>
                <a:ext cx="228600" cy="226128"/>
              </a:xfrm>
              <a:prstGeom prst="ellipse">
                <a:avLst/>
              </a:prstGeom>
              <a:solidFill>
                <a:srgbClr val="7F7F7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D141C5A-7615-8790-5507-5382C8BDCC81}"/>
                  </a:ext>
                </a:extLst>
              </p:cNvPr>
              <p:cNvSpPr txBox="1"/>
              <p:nvPr/>
            </p:nvSpPr>
            <p:spPr>
              <a:xfrm>
                <a:off x="624088" y="4838911"/>
                <a:ext cx="2754539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Significant improvement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889D7E-6AF3-C7B8-4CC0-3EE894AE3682}"/>
                  </a:ext>
                </a:extLst>
              </p:cNvPr>
              <p:cNvSpPr txBox="1"/>
              <p:nvPr/>
            </p:nvSpPr>
            <p:spPr>
              <a:xfrm>
                <a:off x="624088" y="5193268"/>
                <a:ext cx="2647010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significant change</a:t>
                </a: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9B200EA7-1D08-68D9-6E31-46DF3F3E537C}"/>
                  </a:ext>
                </a:extLst>
              </p:cNvPr>
              <p:cNvSpPr txBox="1"/>
              <p:nvPr/>
            </p:nvSpPr>
            <p:spPr>
              <a:xfrm>
                <a:off x="624088" y="5574268"/>
                <a:ext cx="2724429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Significant deterioration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EC6561F-6BE6-1313-07BD-87EC0E348668}"/>
                  </a:ext>
                </a:extLst>
              </p:cNvPr>
              <p:cNvSpPr txBox="1"/>
              <p:nvPr/>
            </p:nvSpPr>
            <p:spPr>
              <a:xfrm>
                <a:off x="609600" y="5943600"/>
                <a:ext cx="3671156" cy="4020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enough data / No threshold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7229605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E53AB-9084-0EDC-3E81-9D6A251275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4" name="Group 93">
            <a:extLst>
              <a:ext uri="{FF2B5EF4-FFF2-40B4-BE49-F238E27FC236}">
                <a16:creationId xmlns:a16="http://schemas.microsoft.com/office/drawing/2014/main" id="{15E0603D-CDC2-18D2-8196-745B5C1C4721}"/>
              </a:ext>
            </a:extLst>
          </p:cNvPr>
          <p:cNvGrpSpPr/>
          <p:nvPr/>
        </p:nvGrpSpPr>
        <p:grpSpPr>
          <a:xfrm>
            <a:off x="-457200" y="228600"/>
            <a:ext cx="13260522" cy="7092815"/>
            <a:chOff x="-457200" y="228600"/>
            <a:chExt cx="13260522" cy="7092815"/>
          </a:xfrm>
        </p:grpSpPr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96673321-167E-DAF1-F356-81F87C3DFE08}"/>
                </a:ext>
              </a:extLst>
            </p:cNvPr>
            <p:cNvGrpSpPr/>
            <p:nvPr/>
          </p:nvGrpSpPr>
          <p:grpSpPr>
            <a:xfrm>
              <a:off x="-457200" y="228600"/>
              <a:ext cx="13260522" cy="7092815"/>
              <a:chOff x="-687522" y="69985"/>
              <a:chExt cx="13260522" cy="7092815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31CFA7A-D29C-2EE1-547E-5AFD37D96D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4318673" y="2202332"/>
                <a:ext cx="4463180" cy="2870910"/>
              </a:xfrm>
              <a:prstGeom prst="rect">
                <a:avLst/>
              </a:prstGeom>
            </p:spPr>
          </p:pic>
          <p:cxnSp>
            <p:nvCxnSpPr>
              <p:cNvPr id="9" name="Straight Arrow Connector 8">
                <a:extLst>
                  <a:ext uri="{FF2B5EF4-FFF2-40B4-BE49-F238E27FC236}">
                    <a16:creationId xmlns:a16="http://schemas.microsoft.com/office/drawing/2014/main" id="{91EB7167-E605-E657-FB1A-BA5FD5B01C8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49501" y="1385613"/>
                <a:ext cx="122164" cy="1021442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6BAF01B0-FFFB-DEE9-E2BB-E8C48B5D8CF9}"/>
                  </a:ext>
                </a:extLst>
              </p:cNvPr>
              <p:cNvSpPr/>
              <p:nvPr/>
            </p:nvSpPr>
            <p:spPr>
              <a:xfrm>
                <a:off x="1981200" y="69985"/>
                <a:ext cx="8305800" cy="1381714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1AE67D86-8FD3-F821-7BA6-E980FDD2400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75658" y="4415399"/>
                <a:ext cx="1673843" cy="747050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6EE3A58-88EA-10B8-CF4C-96792BAF15FF}"/>
                  </a:ext>
                </a:extLst>
              </p:cNvPr>
              <p:cNvSpPr/>
              <p:nvPr/>
            </p:nvSpPr>
            <p:spPr>
              <a:xfrm>
                <a:off x="347440" y="4367587"/>
                <a:ext cx="3887433" cy="2795213"/>
              </a:xfrm>
              <a:prstGeom prst="rect">
                <a:avLst/>
              </a:prstGeom>
              <a:solidFill>
                <a:schemeClr val="bg1"/>
              </a:solidFill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CADE8A02-FC19-07E1-951C-E817FD1D809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2757" y="2240179"/>
                <a:ext cx="1711643" cy="333753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392C4DA3-BB8B-8BF2-6735-F4835BA6A0B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804729" y="2573932"/>
                <a:ext cx="2133598" cy="62268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953C7D5A-0D9C-D121-FBAC-24DA3B5A86A5}"/>
                  </a:ext>
                </a:extLst>
              </p:cNvPr>
              <p:cNvSpPr txBox="1"/>
              <p:nvPr/>
            </p:nvSpPr>
            <p:spPr>
              <a:xfrm>
                <a:off x="9029080" y="1676572"/>
                <a:ext cx="3152034" cy="169277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Inequality group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Name of the group whose data is displayed, </a:t>
                </a:r>
                <a:r>
                  <a:rPr lang="en-US" sz="2000" b="1" dirty="0" err="1">
                    <a:solidFill>
                      <a:srgbClr val="A73A95"/>
                    </a:solidFill>
                  </a:rPr>
                  <a:t>colour</a:t>
                </a:r>
                <a:r>
                  <a:rPr lang="en-US" sz="2000" b="1" dirty="0">
                    <a:solidFill>
                      <a:srgbClr val="A73A95"/>
                    </a:solidFill>
                  </a:rPr>
                  <a:t>-coded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to match lollipop below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7F2471B-FC88-0B69-A967-2BA7C7D97B36}"/>
                  </a:ext>
                </a:extLst>
              </p:cNvPr>
              <p:cNvSpPr txBox="1"/>
              <p:nvPr/>
            </p:nvSpPr>
            <p:spPr>
              <a:xfrm>
                <a:off x="9581294" y="3518073"/>
                <a:ext cx="2991706" cy="13849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Latest year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Year of latest value (most frequent year for the OECD average)</a:t>
                </a:r>
              </a:p>
            </p:txBody>
          </p: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DEB68370-19EE-4A40-CC89-D9F3291B259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162800" y="3661385"/>
                <a:ext cx="2418494" cy="533514"/>
              </a:xfrm>
              <a:prstGeom prst="straightConnector1">
                <a:avLst/>
              </a:prstGeom>
              <a:ln w="3810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948116D-4189-0E6D-201E-A1C0DC6243D6}"/>
                  </a:ext>
                </a:extLst>
              </p:cNvPr>
              <p:cNvSpPr txBox="1"/>
              <p:nvPr/>
            </p:nvSpPr>
            <p:spPr>
              <a:xfrm>
                <a:off x="304800" y="4432244"/>
                <a:ext cx="3899328" cy="10772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Time series sparkline </a:t>
                </a:r>
                <a:r>
                  <a:rPr lang="en-US" sz="2000" dirty="0" err="1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Coloured</a:t>
                </a:r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 according to performance relative to 2010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720D32A8-BC51-710C-DE3E-717F5809999D}"/>
                  </a:ext>
                </a:extLst>
              </p:cNvPr>
              <p:cNvSpPr txBox="1"/>
              <p:nvPr/>
            </p:nvSpPr>
            <p:spPr>
              <a:xfrm>
                <a:off x="1981200" y="175445"/>
                <a:ext cx="8305800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Ranking relative to other OECD countries 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displayed when a non-OECD country or average is selected</a:t>
                </a:r>
              </a:p>
            </p:txBody>
          </p:sp>
          <p:pic>
            <p:nvPicPr>
              <p:cNvPr id="29" name="Graphic 28" descr="Badge 1 with solid fill">
                <a:extLst>
                  <a:ext uri="{FF2B5EF4-FFF2-40B4-BE49-F238E27FC236}">
                    <a16:creationId xmlns:a16="http://schemas.microsoft.com/office/drawing/2014/main" id="{FB9E464F-4849-6964-6767-795D6C1D24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329873" y="909507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0" name="Graphic 29" descr="Badge with solid fill">
                <a:extLst>
                  <a:ext uri="{FF2B5EF4-FFF2-40B4-BE49-F238E27FC236}">
                    <a16:creationId xmlns:a16="http://schemas.microsoft.com/office/drawing/2014/main" id="{FE3E995C-FD1D-62EF-A5BD-956F9A3F12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930073" y="928413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2" name="Graphic 31" descr="Badge 3 with solid fill">
                <a:extLst>
                  <a:ext uri="{FF2B5EF4-FFF2-40B4-BE49-F238E27FC236}">
                    <a16:creationId xmlns:a16="http://schemas.microsoft.com/office/drawing/2014/main" id="{97E3B7F9-67BF-12E4-B665-2162D8F4AD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5835073" y="896484"/>
                <a:ext cx="457200" cy="457200"/>
              </a:xfrm>
              <a:prstGeom prst="rect">
                <a:avLst/>
              </a:prstGeom>
            </p:spPr>
          </p:pic>
          <p:pic>
            <p:nvPicPr>
              <p:cNvPr id="33" name="Picture 32">
                <a:extLst>
                  <a:ext uri="{FF2B5EF4-FFF2-40B4-BE49-F238E27FC236}">
                    <a16:creationId xmlns:a16="http://schemas.microsoft.com/office/drawing/2014/main" id="{3CB84575-198C-0C23-E99C-53F9A5C064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/>
              <a:srcRect l="14821" t="20547" r="15620" b="14438"/>
              <a:stretch>
                <a:fillRect/>
              </a:stretch>
            </p:blipFill>
            <p:spPr>
              <a:xfrm>
                <a:off x="7816273" y="916033"/>
                <a:ext cx="457200" cy="437758"/>
              </a:xfrm>
              <a:prstGeom prst="rect">
                <a:avLst/>
              </a:prstGeom>
            </p:spPr>
          </p:pic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418DA6D-0715-39D7-D617-14DF0164CBB4}"/>
                  </a:ext>
                </a:extLst>
              </p:cNvPr>
              <p:cNvSpPr txBox="1"/>
              <p:nvPr/>
            </p:nvSpPr>
            <p:spPr>
              <a:xfrm>
                <a:off x="2787073" y="964225"/>
                <a:ext cx="117311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Top third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B6531D4-E700-FF1D-EF67-719BE8CFCEF4}"/>
                  </a:ext>
                </a:extLst>
              </p:cNvPr>
              <p:cNvSpPr txBox="1"/>
              <p:nvPr/>
            </p:nvSpPr>
            <p:spPr>
              <a:xfrm>
                <a:off x="4387273" y="971240"/>
                <a:ext cx="15354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Middle third</a:t>
                </a:r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D5194E70-F6AD-1406-0CC8-8A3186E39EC0}"/>
                  </a:ext>
                </a:extLst>
              </p:cNvPr>
              <p:cNvSpPr txBox="1"/>
              <p:nvPr/>
            </p:nvSpPr>
            <p:spPr>
              <a:xfrm>
                <a:off x="6292273" y="957435"/>
                <a:ext cx="1535411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Bottom third</a:t>
                </a: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DCD6145A-B579-BA96-BB3D-737118DCEF8A}"/>
                  </a:ext>
                </a:extLst>
              </p:cNvPr>
              <p:cNvSpPr txBox="1"/>
              <p:nvPr/>
            </p:nvSpPr>
            <p:spPr>
              <a:xfrm>
                <a:off x="8273473" y="961680"/>
                <a:ext cx="2013527" cy="3788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Not enough data</a:t>
                </a:r>
              </a:p>
            </p:txBody>
          </p:sp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8E2C7371-610D-C10A-950E-E9C1A3BA1138}"/>
                  </a:ext>
                </a:extLst>
              </p:cNvPr>
              <p:cNvSpPr txBox="1"/>
              <p:nvPr/>
            </p:nvSpPr>
            <p:spPr>
              <a:xfrm>
                <a:off x="-687522" y="1600458"/>
                <a:ext cx="4758968" cy="2616101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Gap with population</a:t>
                </a:r>
              </a:p>
              <a:p>
                <a:pPr algn="ctr"/>
                <a:r>
                  <a:rPr lang="en-US" sz="2000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Icon indicating whether the group is moving toward or away from the population average value.</a:t>
                </a: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  <a:p>
                <a:pPr algn="ctr"/>
                <a:endParaRPr lang="en-US" sz="2000" dirty="0">
                  <a:solidFill>
                    <a:schemeClr val="tx1">
                      <a:lumMod val="75000"/>
                      <a:lumOff val="25000"/>
                    </a:schemeClr>
                  </a:solidFill>
                </a:endParaRPr>
              </a:p>
            </p:txBody>
          </p: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DFA7F007-5B8B-36A0-8F9F-1CB95ED8977F}"/>
                  </a:ext>
                </a:extLst>
              </p:cNvPr>
              <p:cNvGrpSpPr/>
              <p:nvPr/>
            </p:nvGrpSpPr>
            <p:grpSpPr>
              <a:xfrm>
                <a:off x="573885" y="5594280"/>
                <a:ext cx="3630243" cy="1384235"/>
                <a:chOff x="381000" y="4838911"/>
                <a:chExt cx="3899756" cy="1506695"/>
              </a:xfrm>
            </p:grpSpPr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ECB705B9-5F5B-3AAD-730C-1905C21A6506}"/>
                    </a:ext>
                  </a:extLst>
                </p:cNvPr>
                <p:cNvSpPr/>
                <p:nvPr/>
              </p:nvSpPr>
              <p:spPr>
                <a:xfrm>
                  <a:off x="381000" y="4884890"/>
                  <a:ext cx="228600" cy="226128"/>
                </a:xfrm>
                <a:prstGeom prst="ellipse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61203EF-D1CB-7A01-8156-AA0634E65C93}"/>
                    </a:ext>
                  </a:extLst>
                </p:cNvPr>
                <p:cNvSpPr/>
                <p:nvPr/>
              </p:nvSpPr>
              <p:spPr>
                <a:xfrm>
                  <a:off x="381000" y="5287240"/>
                  <a:ext cx="228600" cy="226128"/>
                </a:xfrm>
                <a:prstGeom prst="ellipse">
                  <a:avLst/>
                </a:prstGeom>
                <a:solidFill>
                  <a:srgbClr val="DBA52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F9D6C9C5-AE88-2C20-DB6F-F826BCDD0B09}"/>
                    </a:ext>
                  </a:extLst>
                </p:cNvPr>
                <p:cNvSpPr/>
                <p:nvPr/>
              </p:nvSpPr>
              <p:spPr>
                <a:xfrm>
                  <a:off x="381000" y="5645870"/>
                  <a:ext cx="228600" cy="226128"/>
                </a:xfrm>
                <a:prstGeom prst="ellipse">
                  <a:avLst/>
                </a:prstGeom>
                <a:solidFill>
                  <a:srgbClr val="D0597E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21D3CDC3-BF99-3A4A-A728-8FA2C21E2316}"/>
                    </a:ext>
                  </a:extLst>
                </p:cNvPr>
                <p:cNvSpPr/>
                <p:nvPr/>
              </p:nvSpPr>
              <p:spPr>
                <a:xfrm>
                  <a:off x="381000" y="6022272"/>
                  <a:ext cx="228600" cy="226128"/>
                </a:xfrm>
                <a:prstGeom prst="ellipse">
                  <a:avLst/>
                </a:prstGeom>
                <a:solidFill>
                  <a:srgbClr val="7F7F7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en-US"/>
                </a:p>
              </p:txBody>
            </p:sp>
            <p:sp>
              <p:nvSpPr>
                <p:cNvPr id="54" name="TextBox 53">
                  <a:extLst>
                    <a:ext uri="{FF2B5EF4-FFF2-40B4-BE49-F238E27FC236}">
                      <a16:creationId xmlns:a16="http://schemas.microsoft.com/office/drawing/2014/main" id="{8DF67832-CC31-3A5D-9E38-EA199BEA50D3}"/>
                    </a:ext>
                  </a:extLst>
                </p:cNvPr>
                <p:cNvSpPr txBox="1"/>
                <p:nvPr/>
              </p:nvSpPr>
              <p:spPr>
                <a:xfrm>
                  <a:off x="624088" y="4838911"/>
                  <a:ext cx="2754539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Significant improvement</a:t>
                  </a:r>
                </a:p>
              </p:txBody>
            </p:sp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3BA76236-CCF2-2AC0-DD28-5B40B47D3C2E}"/>
                    </a:ext>
                  </a:extLst>
                </p:cNvPr>
                <p:cNvSpPr txBox="1"/>
                <p:nvPr/>
              </p:nvSpPr>
              <p:spPr>
                <a:xfrm>
                  <a:off x="624088" y="5193268"/>
                  <a:ext cx="2647010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No significant change</a:t>
                  </a:r>
                </a:p>
              </p:txBody>
            </p:sp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A7DD0266-C24D-E7DC-454C-D0AA8E90F3EE}"/>
                    </a:ext>
                  </a:extLst>
                </p:cNvPr>
                <p:cNvSpPr txBox="1"/>
                <p:nvPr/>
              </p:nvSpPr>
              <p:spPr>
                <a:xfrm>
                  <a:off x="624088" y="5574268"/>
                  <a:ext cx="2724429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Significant deterioration</a:t>
                  </a:r>
                </a:p>
              </p:txBody>
            </p:sp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0EC2192-49E3-9F9D-BCB9-E35B0DDB2653}"/>
                    </a:ext>
                  </a:extLst>
                </p:cNvPr>
                <p:cNvSpPr txBox="1"/>
                <p:nvPr/>
              </p:nvSpPr>
              <p:spPr>
                <a:xfrm>
                  <a:off x="609600" y="5943600"/>
                  <a:ext cx="3671156" cy="40200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i="1" dirty="0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</a:rPr>
                    <a:t>Not enough data / No threshold</a:t>
                  </a:r>
                </a:p>
              </p:txBody>
            </p:sp>
          </p:grpSp>
          <p:grpSp>
            <p:nvGrpSpPr>
              <p:cNvPr id="12" name="Group 11">
                <a:extLst>
                  <a:ext uri="{FF2B5EF4-FFF2-40B4-BE49-F238E27FC236}">
                    <a16:creationId xmlns:a16="http://schemas.microsoft.com/office/drawing/2014/main" id="{656EA75E-EA3A-E3B4-519C-AFEC324E7809}"/>
                  </a:ext>
                </a:extLst>
              </p:cNvPr>
              <p:cNvGrpSpPr/>
              <p:nvPr/>
            </p:nvGrpSpPr>
            <p:grpSpPr>
              <a:xfrm>
                <a:off x="928945" y="3075486"/>
                <a:ext cx="365760" cy="365760"/>
                <a:chOff x="6786284" y="1567200"/>
                <a:chExt cx="3328708" cy="3310141"/>
              </a:xfrm>
            </p:grpSpPr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AAC0DD6D-4CC8-F4E8-963E-A88A29647C56}"/>
                    </a:ext>
                  </a:extLst>
                </p:cNvPr>
                <p:cNvSpPr/>
                <p:nvPr/>
              </p:nvSpPr>
              <p:spPr>
                <a:xfrm>
                  <a:off x="7002838" y="1752600"/>
                  <a:ext cx="2895600" cy="28956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pic>
              <p:nvPicPr>
                <p:cNvPr id="14" name="Graphic 13">
                  <a:extLst>
                    <a:ext uri="{FF2B5EF4-FFF2-40B4-BE49-F238E27FC236}">
                      <a16:creationId xmlns:a16="http://schemas.microsoft.com/office/drawing/2014/main" id="{8DB9CA21-0587-1A6B-F564-9F85975324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10">
                  <a:extLst>
                    <a:ext uri="{96DAC541-7B7A-43D3-8B79-37D633B846F1}">
                      <asvg:svgBlip xmlns:asvg="http://schemas.microsoft.com/office/drawing/2016/SVG/main" r:embed="rId11"/>
                    </a:ext>
                  </a:extLst>
                </a:blip>
                <a:srcRect b="18638"/>
                <a:stretch>
                  <a:fillRect/>
                </a:stretch>
              </p:blipFill>
              <p:spPr>
                <a:xfrm>
                  <a:off x="6786284" y="1567200"/>
                  <a:ext cx="3328708" cy="3310141"/>
                </a:xfrm>
                <a:prstGeom prst="rect">
                  <a:avLst/>
                </a:prstGeom>
              </p:spPr>
            </p:pic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94C1EAAE-E3F4-3133-DDA3-DBDD390558EF}"/>
                  </a:ext>
                </a:extLst>
              </p:cNvPr>
              <p:cNvGrpSpPr/>
              <p:nvPr/>
            </p:nvGrpSpPr>
            <p:grpSpPr>
              <a:xfrm>
                <a:off x="-563186" y="3671108"/>
                <a:ext cx="365760" cy="365760"/>
                <a:chOff x="1610849" y="1567201"/>
                <a:chExt cx="3293409" cy="3220216"/>
              </a:xfrm>
            </p:grpSpPr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48A3F5B-CACA-E3A9-046D-50B6BDCB950C}"/>
                    </a:ext>
                  </a:extLst>
                </p:cNvPr>
                <p:cNvSpPr/>
                <p:nvPr/>
              </p:nvSpPr>
              <p:spPr>
                <a:xfrm>
                  <a:off x="1828800" y="1752600"/>
                  <a:ext cx="2895600" cy="2819400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AEF99780-C47A-6379-34E2-99E4B87DCB2A}"/>
                    </a:ext>
                  </a:extLst>
                </p:cNvPr>
                <p:cNvGrpSpPr/>
                <p:nvPr/>
              </p:nvGrpSpPr>
              <p:grpSpPr>
                <a:xfrm>
                  <a:off x="1610849" y="1567201"/>
                  <a:ext cx="3293409" cy="3220216"/>
                  <a:chOff x="7033932" y="1567200"/>
                  <a:chExt cx="3293409" cy="3220216"/>
                </a:xfrm>
                <a:solidFill>
                  <a:schemeClr val="tx1">
                    <a:lumMod val="50000"/>
                    <a:lumOff val="50000"/>
                  </a:schemeClr>
                </a:solidFill>
              </p:grpSpPr>
              <p:grpSp>
                <p:nvGrpSpPr>
                  <p:cNvPr id="19" name="Graphic 4">
                    <a:extLst>
                      <a:ext uri="{FF2B5EF4-FFF2-40B4-BE49-F238E27FC236}">
                        <a16:creationId xmlns:a16="http://schemas.microsoft.com/office/drawing/2014/main" id="{8C1EED68-EBFD-267F-A7F7-3992F3ACB7F6}"/>
                      </a:ext>
                    </a:extLst>
                  </p:cNvPr>
                  <p:cNvGrpSpPr/>
                  <p:nvPr/>
                </p:nvGrpSpPr>
                <p:grpSpPr>
                  <a:xfrm>
                    <a:off x="7033932" y="1567200"/>
                    <a:ext cx="3293409" cy="3220216"/>
                    <a:chOff x="7033932" y="1567200"/>
                    <a:chExt cx="3293409" cy="3220216"/>
                  </a:xfrm>
                  <a:grpFill/>
                </p:grpSpPr>
                <p:sp>
                  <p:nvSpPr>
                    <p:cNvPr id="21" name="Freeform 20">
                      <a:extLst>
                        <a:ext uri="{FF2B5EF4-FFF2-40B4-BE49-F238E27FC236}">
                          <a16:creationId xmlns:a16="http://schemas.microsoft.com/office/drawing/2014/main" id="{97A0AAAC-EF40-85AB-B171-810B29494A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33932" y="1567200"/>
                      <a:ext cx="3293409" cy="3220216"/>
                    </a:xfrm>
                    <a:custGeom>
                      <a:avLst/>
                      <a:gdLst>
                        <a:gd name="connsiteX0" fmla="*/ 1646705 w 3293409"/>
                        <a:gd name="connsiteY0" fmla="*/ 0 h 3220216"/>
                        <a:gd name="connsiteX1" fmla="*/ 0 w 3293409"/>
                        <a:gd name="connsiteY1" fmla="*/ 1610108 h 3220216"/>
                        <a:gd name="connsiteX2" fmla="*/ 1646705 w 3293409"/>
                        <a:gd name="connsiteY2" fmla="*/ 3220217 h 3220216"/>
                        <a:gd name="connsiteX3" fmla="*/ 3293409 w 3293409"/>
                        <a:gd name="connsiteY3" fmla="*/ 1610108 h 3220216"/>
                        <a:gd name="connsiteX4" fmla="*/ 1646705 w 3293409"/>
                        <a:gd name="connsiteY4" fmla="*/ 0 h 3220216"/>
                        <a:gd name="connsiteX5" fmla="*/ 1646705 w 3293409"/>
                        <a:gd name="connsiteY5" fmla="*/ 2951865 h 3220216"/>
                        <a:gd name="connsiteX6" fmla="*/ 274451 w 3293409"/>
                        <a:gd name="connsiteY6" fmla="*/ 1610108 h 3220216"/>
                        <a:gd name="connsiteX7" fmla="*/ 1646705 w 3293409"/>
                        <a:gd name="connsiteY7" fmla="*/ 268351 h 3220216"/>
                        <a:gd name="connsiteX8" fmla="*/ 3018958 w 3293409"/>
                        <a:gd name="connsiteY8" fmla="*/ 1610108 h 3220216"/>
                        <a:gd name="connsiteX9" fmla="*/ 1646705 w 3293409"/>
                        <a:gd name="connsiteY9" fmla="*/ 2951865 h 322021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</a:cxnLst>
                      <a:rect l="l" t="t" r="r" b="b"/>
                      <a:pathLst>
                        <a:path w="3293409" h="3220216">
                          <a:moveTo>
                            <a:pt x="1646705" y="0"/>
                          </a:moveTo>
                          <a:cubicBezTo>
                            <a:pt x="737312" y="0"/>
                            <a:pt x="0" y="720926"/>
                            <a:pt x="0" y="1610108"/>
                          </a:cubicBezTo>
                          <a:cubicBezTo>
                            <a:pt x="0" y="2499291"/>
                            <a:pt x="737312" y="3220217"/>
                            <a:pt x="1646705" y="3220217"/>
                          </a:cubicBezTo>
                          <a:cubicBezTo>
                            <a:pt x="2556097" y="3220217"/>
                            <a:pt x="3293409" y="2499291"/>
                            <a:pt x="3293409" y="1610108"/>
                          </a:cubicBezTo>
                          <a:cubicBezTo>
                            <a:pt x="3293409" y="720926"/>
                            <a:pt x="2556097" y="0"/>
                            <a:pt x="1646705" y="0"/>
                          </a:cubicBezTo>
                          <a:close/>
                          <a:moveTo>
                            <a:pt x="1646705" y="2951865"/>
                          </a:moveTo>
                          <a:cubicBezTo>
                            <a:pt x="890044" y="2951865"/>
                            <a:pt x="274451" y="2349953"/>
                            <a:pt x="274451" y="1610108"/>
                          </a:cubicBezTo>
                          <a:cubicBezTo>
                            <a:pt x="274451" y="870264"/>
                            <a:pt x="890044" y="268351"/>
                            <a:pt x="1646705" y="268351"/>
                          </a:cubicBezTo>
                          <a:cubicBezTo>
                            <a:pt x="2403365" y="268351"/>
                            <a:pt x="3018958" y="870264"/>
                            <a:pt x="3018958" y="1610108"/>
                          </a:cubicBezTo>
                          <a:cubicBezTo>
                            <a:pt x="3018958" y="2349953"/>
                            <a:pt x="2403365" y="2951865"/>
                            <a:pt x="1646705" y="2951865"/>
                          </a:cubicBezTo>
                          <a:close/>
                        </a:path>
                      </a:pathLst>
                    </a:custGeom>
                    <a:solidFill>
                      <a:srgbClr val="DBA520"/>
                    </a:solidFill>
                    <a:ln w="136922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US" dirty="0"/>
                    </a:p>
                  </p:txBody>
                </p:sp>
                <p:sp>
                  <p:nvSpPr>
                    <p:cNvPr id="22" name="Freeform 21">
                      <a:extLst>
                        <a:ext uri="{FF2B5EF4-FFF2-40B4-BE49-F238E27FC236}">
                          <a16:creationId xmlns:a16="http://schemas.microsoft.com/office/drawing/2014/main" id="{F522A618-0CA2-14F5-542A-2655FEC0CA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994509" y="2774190"/>
                      <a:ext cx="1372253" cy="268351"/>
                    </a:xfrm>
                    <a:custGeom>
                      <a:avLst/>
                      <a:gdLst>
                        <a:gd name="connsiteX0" fmla="*/ 0 w 1372253"/>
                        <a:gd name="connsiteY0" fmla="*/ 0 h 268351"/>
                        <a:gd name="connsiteX1" fmla="*/ 1372254 w 1372253"/>
                        <a:gd name="connsiteY1" fmla="*/ 0 h 268351"/>
                        <a:gd name="connsiteX2" fmla="*/ 1372254 w 1372253"/>
                        <a:gd name="connsiteY2" fmla="*/ 268351 h 268351"/>
                        <a:gd name="connsiteX3" fmla="*/ 0 w 1372253"/>
                        <a:gd name="connsiteY3" fmla="*/ 268351 h 268351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</a:cxnLst>
                      <a:rect l="l" t="t" r="r" b="b"/>
                      <a:pathLst>
                        <a:path w="1372253" h="268351">
                          <a:moveTo>
                            <a:pt x="0" y="0"/>
                          </a:moveTo>
                          <a:lnTo>
                            <a:pt x="1372254" y="0"/>
                          </a:lnTo>
                          <a:lnTo>
                            <a:pt x="1372254" y="268351"/>
                          </a:lnTo>
                          <a:lnTo>
                            <a:pt x="0" y="268351"/>
                          </a:lnTo>
                          <a:close/>
                        </a:path>
                      </a:pathLst>
                    </a:custGeom>
                    <a:solidFill>
                      <a:srgbClr val="DBA520"/>
                    </a:solidFill>
                    <a:ln w="136922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en-US" dirty="0"/>
                    </a:p>
                  </p:txBody>
                </p:sp>
              </p:grpSp>
              <p:sp>
                <p:nvSpPr>
                  <p:cNvPr id="20" name="Freeform 19">
                    <a:extLst>
                      <a:ext uri="{FF2B5EF4-FFF2-40B4-BE49-F238E27FC236}">
                        <a16:creationId xmlns:a16="http://schemas.microsoft.com/office/drawing/2014/main" id="{DED971C6-96EE-C19F-6BD1-D3B88B76FDD4}"/>
                      </a:ext>
                    </a:extLst>
                  </p:cNvPr>
                  <p:cNvSpPr/>
                  <p:nvPr/>
                </p:nvSpPr>
                <p:spPr>
                  <a:xfrm>
                    <a:off x="7994508" y="3361765"/>
                    <a:ext cx="1372253" cy="268351"/>
                  </a:xfrm>
                  <a:custGeom>
                    <a:avLst/>
                    <a:gdLst>
                      <a:gd name="connsiteX0" fmla="*/ 0 w 1372253"/>
                      <a:gd name="connsiteY0" fmla="*/ 0 h 268351"/>
                      <a:gd name="connsiteX1" fmla="*/ 1372254 w 1372253"/>
                      <a:gd name="connsiteY1" fmla="*/ 0 h 268351"/>
                      <a:gd name="connsiteX2" fmla="*/ 1372254 w 1372253"/>
                      <a:gd name="connsiteY2" fmla="*/ 268351 h 268351"/>
                      <a:gd name="connsiteX3" fmla="*/ 0 w 1372253"/>
                      <a:gd name="connsiteY3" fmla="*/ 268351 h 268351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372253" h="268351">
                        <a:moveTo>
                          <a:pt x="0" y="0"/>
                        </a:moveTo>
                        <a:lnTo>
                          <a:pt x="1372254" y="0"/>
                        </a:lnTo>
                        <a:lnTo>
                          <a:pt x="1372254" y="268351"/>
                        </a:lnTo>
                        <a:lnTo>
                          <a:pt x="0" y="268351"/>
                        </a:lnTo>
                        <a:close/>
                      </a:path>
                    </a:pathLst>
                  </a:custGeom>
                  <a:solidFill>
                    <a:srgbClr val="DBA520"/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 dirty="0"/>
                  </a:p>
                </p:txBody>
              </p:sp>
            </p:grpSp>
          </p:grpSp>
          <p:grpSp>
            <p:nvGrpSpPr>
              <p:cNvPr id="44" name="Group 43">
                <a:extLst>
                  <a:ext uri="{FF2B5EF4-FFF2-40B4-BE49-F238E27FC236}">
                    <a16:creationId xmlns:a16="http://schemas.microsoft.com/office/drawing/2014/main" id="{67C8CF4F-F86B-B996-3A29-D94C8E714161}"/>
                  </a:ext>
                </a:extLst>
              </p:cNvPr>
              <p:cNvGrpSpPr/>
              <p:nvPr/>
            </p:nvGrpSpPr>
            <p:grpSpPr>
              <a:xfrm>
                <a:off x="-561226" y="3062907"/>
                <a:ext cx="365760" cy="365760"/>
                <a:chOff x="7069791" y="1590292"/>
                <a:chExt cx="3293409" cy="3220216"/>
              </a:xfrm>
            </p:grpSpPr>
            <p:grpSp>
              <p:nvGrpSpPr>
                <p:cNvPr id="45" name="Group 44">
                  <a:extLst>
                    <a:ext uri="{FF2B5EF4-FFF2-40B4-BE49-F238E27FC236}">
                      <a16:creationId xmlns:a16="http://schemas.microsoft.com/office/drawing/2014/main" id="{15BD62C1-EA27-CFD3-1F60-CBECBE6A550F}"/>
                    </a:ext>
                  </a:extLst>
                </p:cNvPr>
                <p:cNvGrpSpPr/>
                <p:nvPr/>
              </p:nvGrpSpPr>
              <p:grpSpPr>
                <a:xfrm>
                  <a:off x="7069791" y="1590292"/>
                  <a:ext cx="3293409" cy="3220216"/>
                  <a:chOff x="1610849" y="1567201"/>
                  <a:chExt cx="3293409" cy="3220216"/>
                </a:xfrm>
              </p:grpSpPr>
              <p:sp>
                <p:nvSpPr>
                  <p:cNvPr id="48" name="Oval 47">
                    <a:extLst>
                      <a:ext uri="{FF2B5EF4-FFF2-40B4-BE49-F238E27FC236}">
                        <a16:creationId xmlns:a16="http://schemas.microsoft.com/office/drawing/2014/main" id="{1EC50898-8CB2-FC86-5C4E-4E1FFC6B5A57}"/>
                      </a:ext>
                    </a:extLst>
                  </p:cNvPr>
                  <p:cNvSpPr/>
                  <p:nvPr/>
                </p:nvSpPr>
                <p:spPr>
                  <a:xfrm>
                    <a:off x="1828800" y="1752600"/>
                    <a:ext cx="2895600" cy="2819400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sp>
                <p:nvSpPr>
                  <p:cNvPr id="49" name="Freeform 48">
                    <a:extLst>
                      <a:ext uri="{FF2B5EF4-FFF2-40B4-BE49-F238E27FC236}">
                        <a16:creationId xmlns:a16="http://schemas.microsoft.com/office/drawing/2014/main" id="{FE99E9F7-DFCA-9A43-4B5C-A3783D5E6DE5}"/>
                      </a:ext>
                    </a:extLst>
                  </p:cNvPr>
                  <p:cNvSpPr/>
                  <p:nvPr/>
                </p:nvSpPr>
                <p:spPr>
                  <a:xfrm>
                    <a:off x="1610849" y="1567201"/>
                    <a:ext cx="3293409" cy="3220216"/>
                  </a:xfrm>
                  <a:custGeom>
                    <a:avLst/>
                    <a:gdLst>
                      <a:gd name="connsiteX0" fmla="*/ 1646705 w 3293409"/>
                      <a:gd name="connsiteY0" fmla="*/ 0 h 3220216"/>
                      <a:gd name="connsiteX1" fmla="*/ 0 w 3293409"/>
                      <a:gd name="connsiteY1" fmla="*/ 1610108 h 3220216"/>
                      <a:gd name="connsiteX2" fmla="*/ 1646705 w 3293409"/>
                      <a:gd name="connsiteY2" fmla="*/ 3220217 h 3220216"/>
                      <a:gd name="connsiteX3" fmla="*/ 3293409 w 3293409"/>
                      <a:gd name="connsiteY3" fmla="*/ 1610108 h 3220216"/>
                      <a:gd name="connsiteX4" fmla="*/ 1646705 w 3293409"/>
                      <a:gd name="connsiteY4" fmla="*/ 0 h 3220216"/>
                      <a:gd name="connsiteX5" fmla="*/ 1646705 w 3293409"/>
                      <a:gd name="connsiteY5" fmla="*/ 2951865 h 3220216"/>
                      <a:gd name="connsiteX6" fmla="*/ 274451 w 3293409"/>
                      <a:gd name="connsiteY6" fmla="*/ 1610108 h 3220216"/>
                      <a:gd name="connsiteX7" fmla="*/ 1646705 w 3293409"/>
                      <a:gd name="connsiteY7" fmla="*/ 268351 h 3220216"/>
                      <a:gd name="connsiteX8" fmla="*/ 3018958 w 3293409"/>
                      <a:gd name="connsiteY8" fmla="*/ 1610108 h 3220216"/>
                      <a:gd name="connsiteX9" fmla="*/ 1646705 w 3293409"/>
                      <a:gd name="connsiteY9" fmla="*/ 2951865 h 32202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293409" h="3220216">
                        <a:moveTo>
                          <a:pt x="1646705" y="0"/>
                        </a:moveTo>
                        <a:cubicBezTo>
                          <a:pt x="737312" y="0"/>
                          <a:pt x="0" y="720926"/>
                          <a:pt x="0" y="1610108"/>
                        </a:cubicBezTo>
                        <a:cubicBezTo>
                          <a:pt x="0" y="2499291"/>
                          <a:pt x="737312" y="3220217"/>
                          <a:pt x="1646705" y="3220217"/>
                        </a:cubicBezTo>
                        <a:cubicBezTo>
                          <a:pt x="2556097" y="3220217"/>
                          <a:pt x="3293409" y="2499291"/>
                          <a:pt x="3293409" y="1610108"/>
                        </a:cubicBezTo>
                        <a:cubicBezTo>
                          <a:pt x="3293409" y="720926"/>
                          <a:pt x="2556097" y="0"/>
                          <a:pt x="1646705" y="0"/>
                        </a:cubicBezTo>
                        <a:close/>
                        <a:moveTo>
                          <a:pt x="1646705" y="2951865"/>
                        </a:moveTo>
                        <a:cubicBezTo>
                          <a:pt x="890044" y="2951865"/>
                          <a:pt x="274451" y="2349953"/>
                          <a:pt x="274451" y="1610108"/>
                        </a:cubicBezTo>
                        <a:cubicBezTo>
                          <a:pt x="274451" y="870264"/>
                          <a:pt x="890044" y="268351"/>
                          <a:pt x="1646705" y="268351"/>
                        </a:cubicBezTo>
                        <a:cubicBezTo>
                          <a:pt x="2403365" y="268351"/>
                          <a:pt x="3018958" y="870264"/>
                          <a:pt x="3018958" y="1610108"/>
                        </a:cubicBezTo>
                        <a:cubicBezTo>
                          <a:pt x="3018958" y="2349953"/>
                          <a:pt x="2403365" y="2951865"/>
                          <a:pt x="1646705" y="2951865"/>
                        </a:cubicBezTo>
                        <a:close/>
                      </a:path>
                    </a:pathLst>
                  </a:custGeom>
                  <a:solidFill>
                    <a:srgbClr val="0D8554"/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 dirty="0"/>
                  </a:p>
                </p:txBody>
              </p:sp>
            </p:grpSp>
            <p:sp>
              <p:nvSpPr>
                <p:cNvPr id="46" name="Right Arrow 45">
                  <a:extLst>
                    <a:ext uri="{FF2B5EF4-FFF2-40B4-BE49-F238E27FC236}">
                      <a16:creationId xmlns:a16="http://schemas.microsoft.com/office/drawing/2014/main" id="{9B0B5885-47D9-8369-5878-F84F46400C2C}"/>
                    </a:ext>
                  </a:extLst>
                </p:cNvPr>
                <p:cNvSpPr/>
                <p:nvPr/>
              </p:nvSpPr>
              <p:spPr>
                <a:xfrm>
                  <a:off x="7747305" y="2583296"/>
                  <a:ext cx="990600" cy="1234209"/>
                </a:xfrm>
                <a:prstGeom prst="rightArrow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7" name="Right Arrow 46">
                  <a:extLst>
                    <a:ext uri="{FF2B5EF4-FFF2-40B4-BE49-F238E27FC236}">
                      <a16:creationId xmlns:a16="http://schemas.microsoft.com/office/drawing/2014/main" id="{E2267914-77EA-8088-4EDD-03B3336A02C9}"/>
                    </a:ext>
                  </a:extLst>
                </p:cNvPr>
                <p:cNvSpPr/>
                <p:nvPr/>
              </p:nvSpPr>
              <p:spPr>
                <a:xfrm rot="10800000">
                  <a:off x="8735542" y="2583296"/>
                  <a:ext cx="990600" cy="1234209"/>
                </a:xfrm>
                <a:prstGeom prst="rightArrow">
                  <a:avLst/>
                </a:prstGeom>
                <a:solidFill>
                  <a:srgbClr val="0D8554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F3F21884-C739-78A8-99E8-6E32D26AFC4D}"/>
                  </a:ext>
                </a:extLst>
              </p:cNvPr>
              <p:cNvGrpSpPr/>
              <p:nvPr/>
            </p:nvGrpSpPr>
            <p:grpSpPr>
              <a:xfrm>
                <a:off x="828500" y="3676192"/>
                <a:ext cx="786995" cy="365760"/>
                <a:chOff x="-2361919" y="1567201"/>
                <a:chExt cx="7086316" cy="3220216"/>
              </a:xfrm>
            </p:grpSpPr>
            <p:sp>
              <p:nvSpPr>
                <p:cNvPr id="52" name="Oval 51">
                  <a:extLst>
                    <a:ext uri="{FF2B5EF4-FFF2-40B4-BE49-F238E27FC236}">
                      <a16:creationId xmlns:a16="http://schemas.microsoft.com/office/drawing/2014/main" id="{4E7F724B-44E3-EA43-D9CD-CB125264245E}"/>
                    </a:ext>
                  </a:extLst>
                </p:cNvPr>
                <p:cNvSpPr/>
                <p:nvPr/>
              </p:nvSpPr>
              <p:spPr>
                <a:xfrm>
                  <a:off x="1828798" y="1828800"/>
                  <a:ext cx="2895599" cy="2743197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E82FF66-68B5-B588-C370-FAA9E158070F}"/>
                    </a:ext>
                  </a:extLst>
                </p:cNvPr>
                <p:cNvGrpSpPr/>
                <p:nvPr/>
              </p:nvGrpSpPr>
              <p:grpSpPr>
                <a:xfrm>
                  <a:off x="-2361919" y="1567201"/>
                  <a:ext cx="3293409" cy="3220216"/>
                  <a:chOff x="-2361919" y="1567201"/>
                  <a:chExt cx="3293409" cy="3220216"/>
                </a:xfrm>
              </p:grpSpPr>
              <p:sp>
                <p:nvSpPr>
                  <p:cNvPr id="59" name="Freeform 58">
                    <a:extLst>
                      <a:ext uri="{FF2B5EF4-FFF2-40B4-BE49-F238E27FC236}">
                        <a16:creationId xmlns:a16="http://schemas.microsoft.com/office/drawing/2014/main" id="{BCB8E4A2-FBBF-1BD6-5515-A87382CD0E96}"/>
                      </a:ext>
                    </a:extLst>
                  </p:cNvPr>
                  <p:cNvSpPr/>
                  <p:nvPr/>
                </p:nvSpPr>
                <p:spPr>
                  <a:xfrm>
                    <a:off x="-2361919" y="1567201"/>
                    <a:ext cx="3293409" cy="3220216"/>
                  </a:xfrm>
                  <a:custGeom>
                    <a:avLst/>
                    <a:gdLst>
                      <a:gd name="connsiteX0" fmla="*/ 1646705 w 3293409"/>
                      <a:gd name="connsiteY0" fmla="*/ 0 h 3220216"/>
                      <a:gd name="connsiteX1" fmla="*/ 0 w 3293409"/>
                      <a:gd name="connsiteY1" fmla="*/ 1610108 h 3220216"/>
                      <a:gd name="connsiteX2" fmla="*/ 1646705 w 3293409"/>
                      <a:gd name="connsiteY2" fmla="*/ 3220217 h 3220216"/>
                      <a:gd name="connsiteX3" fmla="*/ 3293409 w 3293409"/>
                      <a:gd name="connsiteY3" fmla="*/ 1610108 h 3220216"/>
                      <a:gd name="connsiteX4" fmla="*/ 1646705 w 3293409"/>
                      <a:gd name="connsiteY4" fmla="*/ 0 h 3220216"/>
                      <a:gd name="connsiteX5" fmla="*/ 1646705 w 3293409"/>
                      <a:gd name="connsiteY5" fmla="*/ 2951865 h 3220216"/>
                      <a:gd name="connsiteX6" fmla="*/ 274451 w 3293409"/>
                      <a:gd name="connsiteY6" fmla="*/ 1610108 h 3220216"/>
                      <a:gd name="connsiteX7" fmla="*/ 1646705 w 3293409"/>
                      <a:gd name="connsiteY7" fmla="*/ 268351 h 3220216"/>
                      <a:gd name="connsiteX8" fmla="*/ 3018958 w 3293409"/>
                      <a:gd name="connsiteY8" fmla="*/ 1610108 h 3220216"/>
                      <a:gd name="connsiteX9" fmla="*/ 1646705 w 3293409"/>
                      <a:gd name="connsiteY9" fmla="*/ 2951865 h 322021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</a:cxnLst>
                    <a:rect l="l" t="t" r="r" b="b"/>
                    <a:pathLst>
                      <a:path w="3293409" h="3220216">
                        <a:moveTo>
                          <a:pt x="1646705" y="0"/>
                        </a:moveTo>
                        <a:cubicBezTo>
                          <a:pt x="737312" y="0"/>
                          <a:pt x="0" y="720926"/>
                          <a:pt x="0" y="1610108"/>
                        </a:cubicBezTo>
                        <a:cubicBezTo>
                          <a:pt x="0" y="2499291"/>
                          <a:pt x="737312" y="3220217"/>
                          <a:pt x="1646705" y="3220217"/>
                        </a:cubicBezTo>
                        <a:cubicBezTo>
                          <a:pt x="2556097" y="3220217"/>
                          <a:pt x="3293409" y="2499291"/>
                          <a:pt x="3293409" y="1610108"/>
                        </a:cubicBezTo>
                        <a:cubicBezTo>
                          <a:pt x="3293409" y="720926"/>
                          <a:pt x="2556097" y="0"/>
                          <a:pt x="1646705" y="0"/>
                        </a:cubicBezTo>
                        <a:close/>
                        <a:moveTo>
                          <a:pt x="1646705" y="2951865"/>
                        </a:moveTo>
                        <a:cubicBezTo>
                          <a:pt x="890044" y="2951865"/>
                          <a:pt x="274451" y="2349953"/>
                          <a:pt x="274451" y="1610108"/>
                        </a:cubicBezTo>
                        <a:cubicBezTo>
                          <a:pt x="274451" y="870264"/>
                          <a:pt x="890044" y="268351"/>
                          <a:pt x="1646705" y="268351"/>
                        </a:cubicBezTo>
                        <a:cubicBezTo>
                          <a:pt x="2403365" y="268351"/>
                          <a:pt x="3018958" y="870264"/>
                          <a:pt x="3018958" y="1610108"/>
                        </a:cubicBezTo>
                        <a:cubicBezTo>
                          <a:pt x="3018958" y="2349953"/>
                          <a:pt x="2403365" y="2951865"/>
                          <a:pt x="1646705" y="2951865"/>
                        </a:cubicBezTo>
                        <a:close/>
                      </a:path>
                    </a:pathLst>
                  </a:custGeom>
                  <a:solidFill>
                    <a:schemeClr val="tx1">
                      <a:lumMod val="50000"/>
                      <a:lumOff val="50000"/>
                    </a:schemeClr>
                  </a:solidFill>
                  <a:ln w="136922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en-US"/>
                  </a:p>
                </p:txBody>
              </p:sp>
              <p:sp>
                <p:nvSpPr>
                  <p:cNvPr id="60" name="Multiply 59">
                    <a:extLst>
                      <a:ext uri="{FF2B5EF4-FFF2-40B4-BE49-F238E27FC236}">
                        <a16:creationId xmlns:a16="http://schemas.microsoft.com/office/drawing/2014/main" id="{BAE00B5C-31F5-C312-9635-CFA888CE3421}"/>
                      </a:ext>
                    </a:extLst>
                  </p:cNvPr>
                  <p:cNvSpPr/>
                  <p:nvPr/>
                </p:nvSpPr>
                <p:spPr>
                  <a:xfrm>
                    <a:off x="-1743920" y="2148611"/>
                    <a:ext cx="2057403" cy="2057404"/>
                  </a:xfrm>
                  <a:prstGeom prst="mathMultiply">
                    <a:avLst/>
                  </a:prstGeom>
                  <a:solidFill>
                    <a:srgbClr val="7F7F7F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</p:grpSp>
          </p:grp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76E7DD02-3811-9A90-63D5-D5DCFDE590F5}"/>
                  </a:ext>
                </a:extLst>
              </p:cNvPr>
              <p:cNvSpPr txBox="1"/>
              <p:nvPr/>
            </p:nvSpPr>
            <p:spPr>
              <a:xfrm>
                <a:off x="-212771" y="3092847"/>
                <a:ext cx="11397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Narrowing</a:t>
                </a:r>
              </a:p>
            </p:txBody>
          </p:sp>
          <p:sp>
            <p:nvSpPr>
              <p:cNvPr id="77" name="TextBox 76">
                <a:extLst>
                  <a:ext uri="{FF2B5EF4-FFF2-40B4-BE49-F238E27FC236}">
                    <a16:creationId xmlns:a16="http://schemas.microsoft.com/office/drawing/2014/main" id="{C412C7CE-6D35-5FDA-2641-854473E9B7CD}"/>
                  </a:ext>
                </a:extLst>
              </p:cNvPr>
              <p:cNvSpPr txBox="1"/>
              <p:nvPr/>
            </p:nvSpPr>
            <p:spPr>
              <a:xfrm>
                <a:off x="-187383" y="3575185"/>
                <a:ext cx="1234071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sig. change</a:t>
                </a:r>
              </a:p>
            </p:txBody>
          </p:sp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B25412CA-FDCD-3D37-D1A3-F8D99AC25785}"/>
                  </a:ext>
                </a:extLst>
              </p:cNvPr>
              <p:cNvSpPr txBox="1"/>
              <p:nvPr/>
            </p:nvSpPr>
            <p:spPr>
              <a:xfrm>
                <a:off x="1160017" y="3694082"/>
                <a:ext cx="895661" cy="3427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No data</a:t>
                </a:r>
              </a:p>
            </p:txBody>
          </p:sp>
          <p:sp>
            <p:nvSpPr>
              <p:cNvPr id="79" name="TextBox 78">
                <a:extLst>
                  <a:ext uri="{FF2B5EF4-FFF2-40B4-BE49-F238E27FC236}">
                    <a16:creationId xmlns:a16="http://schemas.microsoft.com/office/drawing/2014/main" id="{6F2607C1-48E0-2F8D-A20E-38EBF00DA0D2}"/>
                  </a:ext>
                </a:extLst>
              </p:cNvPr>
              <p:cNvSpPr txBox="1"/>
              <p:nvPr/>
            </p:nvSpPr>
            <p:spPr>
              <a:xfrm>
                <a:off x="1293678" y="3091952"/>
                <a:ext cx="121253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Widening</a:t>
                </a:r>
              </a:p>
            </p:txBody>
          </p: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9DAD8E65-2685-D4D3-E858-228391705A89}"/>
                  </a:ext>
                </a:extLst>
              </p:cNvPr>
              <p:cNvSpPr txBox="1"/>
              <p:nvPr/>
            </p:nvSpPr>
            <p:spPr>
              <a:xfrm>
                <a:off x="2818909" y="2990410"/>
                <a:ext cx="1309833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Flip to better than pop.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A546ECC-215D-CBC6-00A3-04ACD25A8078}"/>
                  </a:ext>
                </a:extLst>
              </p:cNvPr>
              <p:cNvSpPr txBox="1"/>
              <p:nvPr/>
            </p:nvSpPr>
            <p:spPr>
              <a:xfrm>
                <a:off x="2540022" y="3594221"/>
                <a:ext cx="149836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i="1" dirty="0">
                    <a:solidFill>
                      <a:schemeClr val="tx1">
                        <a:lumMod val="75000"/>
                        <a:lumOff val="25000"/>
                      </a:schemeClr>
                    </a:solidFill>
                  </a:rPr>
                  <a:t>Flip to worse than pop.</a:t>
                </a: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77FEA275-F017-71C3-1A73-AF0F64DB07B0}"/>
                </a:ext>
              </a:extLst>
            </p:cNvPr>
            <p:cNvGrpSpPr/>
            <p:nvPr/>
          </p:nvGrpSpPr>
          <p:grpSpPr>
            <a:xfrm>
              <a:off x="2634486" y="3221522"/>
              <a:ext cx="422236" cy="402366"/>
              <a:chOff x="1143000" y="1447800"/>
              <a:chExt cx="3886200" cy="3657600"/>
            </a:xfrm>
          </p:grpSpPr>
          <p:sp>
            <p:nvSpPr>
              <p:cNvPr id="84" name="Oval 83">
                <a:extLst>
                  <a:ext uri="{FF2B5EF4-FFF2-40B4-BE49-F238E27FC236}">
                    <a16:creationId xmlns:a16="http://schemas.microsoft.com/office/drawing/2014/main" id="{88A661D7-0F9E-84EA-5251-060722B5DB43}"/>
                  </a:ext>
                </a:extLst>
              </p:cNvPr>
              <p:cNvSpPr/>
              <p:nvPr/>
            </p:nvSpPr>
            <p:spPr>
              <a:xfrm>
                <a:off x="1546739" y="1613614"/>
                <a:ext cx="3200400" cy="3200400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B5391BBA-3DAF-2AA5-D50E-EA62CEA9BF90}"/>
                  </a:ext>
                </a:extLst>
              </p:cNvPr>
              <p:cNvSpPr/>
              <p:nvPr/>
            </p:nvSpPr>
            <p:spPr>
              <a:xfrm>
                <a:off x="2988423" y="2285651"/>
                <a:ext cx="317033" cy="317033"/>
              </a:xfrm>
              <a:custGeom>
                <a:avLst/>
                <a:gdLst>
                  <a:gd name="connsiteX0" fmla="*/ 317033 w 317033"/>
                  <a:gd name="connsiteY0" fmla="*/ 158517 h 317033"/>
                  <a:gd name="connsiteX1" fmla="*/ 158517 w 317033"/>
                  <a:gd name="connsiteY1" fmla="*/ 317033 h 317033"/>
                  <a:gd name="connsiteX2" fmla="*/ 0 w 317033"/>
                  <a:gd name="connsiteY2" fmla="*/ 158517 h 317033"/>
                  <a:gd name="connsiteX3" fmla="*/ 158517 w 317033"/>
                  <a:gd name="connsiteY3" fmla="*/ 0 h 317033"/>
                  <a:gd name="connsiteX4" fmla="*/ 317033 w 317033"/>
                  <a:gd name="connsiteY4" fmla="*/ 158517 h 3170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17033" h="317033">
                    <a:moveTo>
                      <a:pt x="317033" y="158517"/>
                    </a:moveTo>
                    <a:cubicBezTo>
                      <a:pt x="317033" y="246063"/>
                      <a:pt x="246063" y="317033"/>
                      <a:pt x="158517" y="317033"/>
                    </a:cubicBezTo>
                    <a:cubicBezTo>
                      <a:pt x="70970" y="317033"/>
                      <a:pt x="0" y="246063"/>
                      <a:pt x="0" y="158517"/>
                    </a:cubicBezTo>
                    <a:cubicBezTo>
                      <a:pt x="0" y="70970"/>
                      <a:pt x="70970" y="0"/>
                      <a:pt x="158517" y="0"/>
                    </a:cubicBezTo>
                    <a:cubicBezTo>
                      <a:pt x="246063" y="0"/>
                      <a:pt x="317033" y="70970"/>
                      <a:pt x="317033" y="158517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97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 dirty="0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80EAB91D-5B2F-FDD7-4F89-D5EEBE061CB1}"/>
                  </a:ext>
                </a:extLst>
              </p:cNvPr>
              <p:cNvSpPr/>
              <p:nvPr/>
            </p:nvSpPr>
            <p:spPr>
              <a:xfrm>
                <a:off x="2711021" y="2642316"/>
                <a:ext cx="871838" cy="1426651"/>
              </a:xfrm>
              <a:custGeom>
                <a:avLst/>
                <a:gdLst>
                  <a:gd name="connsiteX0" fmla="*/ 867879 w 871841"/>
                  <a:gd name="connsiteY0" fmla="*/ 618215 h 1426650"/>
                  <a:gd name="connsiteX1" fmla="*/ 756917 w 871841"/>
                  <a:gd name="connsiteY1" fmla="*/ 146628 h 1426650"/>
                  <a:gd name="connsiteX2" fmla="*/ 733140 w 871841"/>
                  <a:gd name="connsiteY2" fmla="*/ 103036 h 1426650"/>
                  <a:gd name="connsiteX3" fmla="*/ 566697 w 871841"/>
                  <a:gd name="connsiteY3" fmla="*/ 15852 h 1426650"/>
                  <a:gd name="connsiteX4" fmla="*/ 435921 w 871841"/>
                  <a:gd name="connsiteY4" fmla="*/ 0 h 1426650"/>
                  <a:gd name="connsiteX5" fmla="*/ 305145 w 871841"/>
                  <a:gd name="connsiteY5" fmla="*/ 19815 h 1426650"/>
                  <a:gd name="connsiteX6" fmla="*/ 138702 w 871841"/>
                  <a:gd name="connsiteY6" fmla="*/ 106999 h 1426650"/>
                  <a:gd name="connsiteX7" fmla="*/ 114925 w 871841"/>
                  <a:gd name="connsiteY7" fmla="*/ 150591 h 1426650"/>
                  <a:gd name="connsiteX8" fmla="*/ 3963 w 871841"/>
                  <a:gd name="connsiteY8" fmla="*/ 622178 h 1426650"/>
                  <a:gd name="connsiteX9" fmla="*/ 0 w 871841"/>
                  <a:gd name="connsiteY9" fmla="*/ 641993 h 1426650"/>
                  <a:gd name="connsiteX10" fmla="*/ 79258 w 871841"/>
                  <a:gd name="connsiteY10" fmla="*/ 721251 h 1426650"/>
                  <a:gd name="connsiteX11" fmla="*/ 154554 w 871841"/>
                  <a:gd name="connsiteY11" fmla="*/ 661807 h 1426650"/>
                  <a:gd name="connsiteX12" fmla="*/ 237775 w 871841"/>
                  <a:gd name="connsiteY12" fmla="*/ 317033 h 1426650"/>
                  <a:gd name="connsiteX13" fmla="*/ 237775 w 871841"/>
                  <a:gd name="connsiteY13" fmla="*/ 1426650 h 1426650"/>
                  <a:gd name="connsiteX14" fmla="*/ 396292 w 871841"/>
                  <a:gd name="connsiteY14" fmla="*/ 1426650 h 1426650"/>
                  <a:gd name="connsiteX15" fmla="*/ 396292 w 871841"/>
                  <a:gd name="connsiteY15" fmla="*/ 713325 h 1426650"/>
                  <a:gd name="connsiteX16" fmla="*/ 475550 w 871841"/>
                  <a:gd name="connsiteY16" fmla="*/ 713325 h 1426650"/>
                  <a:gd name="connsiteX17" fmla="*/ 475550 w 871841"/>
                  <a:gd name="connsiteY17" fmla="*/ 1426650 h 1426650"/>
                  <a:gd name="connsiteX18" fmla="*/ 634067 w 871841"/>
                  <a:gd name="connsiteY18" fmla="*/ 1426650 h 1426650"/>
                  <a:gd name="connsiteX19" fmla="*/ 634067 w 871841"/>
                  <a:gd name="connsiteY19" fmla="*/ 313070 h 1426650"/>
                  <a:gd name="connsiteX20" fmla="*/ 717288 w 871841"/>
                  <a:gd name="connsiteY20" fmla="*/ 657844 h 1426650"/>
                  <a:gd name="connsiteX21" fmla="*/ 792583 w 871841"/>
                  <a:gd name="connsiteY21" fmla="*/ 717288 h 1426650"/>
                  <a:gd name="connsiteX22" fmla="*/ 871842 w 871841"/>
                  <a:gd name="connsiteY22" fmla="*/ 638030 h 1426650"/>
                  <a:gd name="connsiteX23" fmla="*/ 867879 w 871841"/>
                  <a:gd name="connsiteY23" fmla="*/ 618215 h 142665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871841" h="1426650">
                    <a:moveTo>
                      <a:pt x="867879" y="618215"/>
                    </a:moveTo>
                    <a:lnTo>
                      <a:pt x="756917" y="146628"/>
                    </a:lnTo>
                    <a:cubicBezTo>
                      <a:pt x="752954" y="130776"/>
                      <a:pt x="745028" y="114925"/>
                      <a:pt x="733140" y="103036"/>
                    </a:cubicBezTo>
                    <a:cubicBezTo>
                      <a:pt x="685585" y="63407"/>
                      <a:pt x="630104" y="35666"/>
                      <a:pt x="566697" y="15852"/>
                    </a:cubicBezTo>
                    <a:cubicBezTo>
                      <a:pt x="523105" y="7926"/>
                      <a:pt x="479513" y="0"/>
                      <a:pt x="435921" y="0"/>
                    </a:cubicBezTo>
                    <a:cubicBezTo>
                      <a:pt x="392329" y="0"/>
                      <a:pt x="348737" y="7926"/>
                      <a:pt x="305145" y="19815"/>
                    </a:cubicBezTo>
                    <a:cubicBezTo>
                      <a:pt x="241738" y="35666"/>
                      <a:pt x="186257" y="67370"/>
                      <a:pt x="138702" y="106999"/>
                    </a:cubicBezTo>
                    <a:cubicBezTo>
                      <a:pt x="126813" y="118888"/>
                      <a:pt x="118888" y="134739"/>
                      <a:pt x="114925" y="150591"/>
                    </a:cubicBezTo>
                    <a:lnTo>
                      <a:pt x="3963" y="622178"/>
                    </a:lnTo>
                    <a:cubicBezTo>
                      <a:pt x="3963" y="626141"/>
                      <a:pt x="0" y="634067"/>
                      <a:pt x="0" y="641993"/>
                    </a:cubicBezTo>
                    <a:cubicBezTo>
                      <a:pt x="0" y="685585"/>
                      <a:pt x="35666" y="721251"/>
                      <a:pt x="79258" y="721251"/>
                    </a:cubicBezTo>
                    <a:cubicBezTo>
                      <a:pt x="114925" y="721251"/>
                      <a:pt x="146628" y="693510"/>
                      <a:pt x="154554" y="661807"/>
                    </a:cubicBezTo>
                    <a:lnTo>
                      <a:pt x="237775" y="317033"/>
                    </a:lnTo>
                    <a:lnTo>
                      <a:pt x="237775" y="1426650"/>
                    </a:lnTo>
                    <a:lnTo>
                      <a:pt x="396292" y="1426650"/>
                    </a:lnTo>
                    <a:lnTo>
                      <a:pt x="396292" y="713325"/>
                    </a:lnTo>
                    <a:lnTo>
                      <a:pt x="475550" y="713325"/>
                    </a:lnTo>
                    <a:lnTo>
                      <a:pt x="475550" y="1426650"/>
                    </a:lnTo>
                    <a:lnTo>
                      <a:pt x="634067" y="1426650"/>
                    </a:lnTo>
                    <a:lnTo>
                      <a:pt x="634067" y="313070"/>
                    </a:lnTo>
                    <a:lnTo>
                      <a:pt x="717288" y="657844"/>
                    </a:lnTo>
                    <a:cubicBezTo>
                      <a:pt x="725214" y="689548"/>
                      <a:pt x="756917" y="717288"/>
                      <a:pt x="792583" y="717288"/>
                    </a:cubicBezTo>
                    <a:cubicBezTo>
                      <a:pt x="836175" y="717288"/>
                      <a:pt x="871842" y="681622"/>
                      <a:pt x="871842" y="638030"/>
                    </a:cubicBezTo>
                    <a:cubicBezTo>
                      <a:pt x="871842" y="630104"/>
                      <a:pt x="867879" y="622178"/>
                      <a:pt x="867879" y="618215"/>
                    </a:cubicBezTo>
                    <a:close/>
                  </a:path>
                </a:pathLst>
              </a:custGeom>
              <a:solidFill>
                <a:schemeClr val="accent4">
                  <a:lumMod val="50000"/>
                </a:schemeClr>
              </a:solidFill>
              <a:ln w="197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87" name="Graphic 86" descr="Arrow circle with solid fill">
                <a:extLst>
                  <a:ext uri="{FF2B5EF4-FFF2-40B4-BE49-F238E27FC236}">
                    <a16:creationId xmlns:a16="http://schemas.microsoft.com/office/drawing/2014/main" id="{6EA68926-5C68-3E0C-6BEB-A8551D7CCE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l="13043" t="14925" r="13043" b="13432"/>
              <a:stretch>
                <a:fillRect/>
              </a:stretch>
            </p:blipFill>
            <p:spPr>
              <a:xfrm>
                <a:off x="1143000" y="1447800"/>
                <a:ext cx="3886200" cy="3657600"/>
              </a:xfrm>
              <a:prstGeom prst="rect">
                <a:avLst/>
              </a:prstGeom>
            </p:spPr>
          </p:pic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40352689-2B47-318B-8C3B-7A4560378C75}"/>
                </a:ext>
              </a:extLst>
            </p:cNvPr>
            <p:cNvGrpSpPr/>
            <p:nvPr/>
          </p:nvGrpSpPr>
          <p:grpSpPr>
            <a:xfrm>
              <a:off x="2362200" y="3810000"/>
              <a:ext cx="422236" cy="409945"/>
              <a:chOff x="4128864" y="1447800"/>
              <a:chExt cx="3886198" cy="3657600"/>
            </a:xfrm>
          </p:grpSpPr>
          <p:sp>
            <p:nvSpPr>
              <p:cNvPr id="91" name="Oval 90">
                <a:extLst>
                  <a:ext uri="{FF2B5EF4-FFF2-40B4-BE49-F238E27FC236}">
                    <a16:creationId xmlns:a16="http://schemas.microsoft.com/office/drawing/2014/main" id="{6EA65C89-761D-DC9C-5F47-4BD951AC52AC}"/>
                  </a:ext>
                </a:extLst>
              </p:cNvPr>
              <p:cNvSpPr/>
              <p:nvPr/>
            </p:nvSpPr>
            <p:spPr>
              <a:xfrm>
                <a:off x="4281261" y="1600200"/>
                <a:ext cx="3200401" cy="3200401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92" name="Graphic 91" descr="Group of men with solid fill">
                <a:extLst>
                  <a:ext uri="{FF2B5EF4-FFF2-40B4-BE49-F238E27FC236}">
                    <a16:creationId xmlns:a16="http://schemas.microsoft.com/office/drawing/2014/main" id="{BE97FD7B-4CB5-77F3-01AE-BB005786A57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4924197" y="2226206"/>
                <a:ext cx="1902197" cy="1902198"/>
              </a:xfrm>
              <a:prstGeom prst="rect">
                <a:avLst/>
              </a:prstGeom>
            </p:spPr>
          </p:pic>
          <p:pic>
            <p:nvPicPr>
              <p:cNvPr id="93" name="Graphic 92" descr="Arrow circle with solid fill">
                <a:extLst>
                  <a:ext uri="{FF2B5EF4-FFF2-40B4-BE49-F238E27FC236}">
                    <a16:creationId xmlns:a16="http://schemas.microsoft.com/office/drawing/2014/main" id="{216C96CA-71D0-FDE4-6565-CF164E0C33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 l="11594" t="14925" r="14493" b="13433"/>
              <a:stretch>
                <a:fillRect/>
              </a:stretch>
            </p:blipFill>
            <p:spPr>
              <a:xfrm flipH="1">
                <a:off x="4128864" y="1447800"/>
                <a:ext cx="3886198" cy="36576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14742584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C4C271-BFFC-C305-53C0-B2C3C9698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46D3A22-F3FF-BC84-9967-4AB8995F6D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9380" y="917532"/>
            <a:ext cx="2743200" cy="159706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55F9FA-528B-25A6-9D62-8DF1C64A92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508" y="961225"/>
            <a:ext cx="2843791" cy="156504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6D15EEC-7A64-082C-E8FA-18431C95EE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7748" y="4726948"/>
            <a:ext cx="2826559" cy="158287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15605CC-690F-99E5-F4AB-4D8B7EE25C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9060" y="945211"/>
            <a:ext cx="2870919" cy="159706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DE8C41C-A255-391D-A2A9-8CCED084F82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7653" y="2893972"/>
            <a:ext cx="2743200" cy="155695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00C20E6-3E48-7548-B824-0A0DF40E4A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400" y="4786183"/>
            <a:ext cx="2743200" cy="1519881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A1BDEB9-69AB-0654-24CC-D91A720BC33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17692" y="4767648"/>
            <a:ext cx="2743200" cy="155695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104924D-E2FC-CDDE-82D7-D746BB778EB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47748" y="2893972"/>
            <a:ext cx="2743200" cy="154305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DBEFABC6-8D2F-A81D-1BE7-A424B06F307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741250" y="2893972"/>
            <a:ext cx="2743200" cy="157827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2F1847C6-8D06-0120-5E24-84125F73100F}"/>
              </a:ext>
            </a:extLst>
          </p:cNvPr>
          <p:cNvSpPr txBox="1"/>
          <p:nvPr/>
        </p:nvSpPr>
        <p:spPr>
          <a:xfrm>
            <a:off x="2098692" y="685800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Safeguard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6AB3B6E-8672-30A1-8B69-235EBE58EA1F}"/>
              </a:ext>
            </a:extLst>
          </p:cNvPr>
          <p:cNvSpPr txBox="1"/>
          <p:nvPr/>
        </p:nvSpPr>
        <p:spPr>
          <a:xfrm>
            <a:off x="8028748" y="667435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Strengthen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550D7C-2ED4-A8BE-2DD6-D02F6C4AF162}"/>
              </a:ext>
            </a:extLst>
          </p:cNvPr>
          <p:cNvSpPr txBox="1"/>
          <p:nvPr/>
        </p:nvSpPr>
        <p:spPr>
          <a:xfrm>
            <a:off x="-20782" y="1505132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Improving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1D7CE1-7BAE-0064-95EA-B2971DA1A4F2}"/>
              </a:ext>
            </a:extLst>
          </p:cNvPr>
          <p:cNvSpPr txBox="1"/>
          <p:nvPr/>
        </p:nvSpPr>
        <p:spPr>
          <a:xfrm>
            <a:off x="103020" y="3407194"/>
            <a:ext cx="167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Stagnating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6D5789F-3174-8B46-4FE7-31EEE9C9CD10}"/>
              </a:ext>
            </a:extLst>
          </p:cNvPr>
          <p:cNvSpPr txBox="1"/>
          <p:nvPr/>
        </p:nvSpPr>
        <p:spPr>
          <a:xfrm>
            <a:off x="131638" y="5273279"/>
            <a:ext cx="1676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Worsening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352CC4-75C5-E6EA-BB83-F47E7143FD07}"/>
              </a:ext>
            </a:extLst>
          </p:cNvPr>
          <p:cNvSpPr txBox="1"/>
          <p:nvPr/>
        </p:nvSpPr>
        <p:spPr>
          <a:xfrm>
            <a:off x="2009879" y="448911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Revitalize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EE365E-5BE6-711C-AA2B-FB5BDA4E95A6}"/>
              </a:ext>
            </a:extLst>
          </p:cNvPr>
          <p:cNvSpPr txBox="1"/>
          <p:nvPr/>
        </p:nvSpPr>
        <p:spPr>
          <a:xfrm>
            <a:off x="5105400" y="448911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Counteract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394F144-30A9-41F0-5D74-BCE774352B1F}"/>
              </a:ext>
            </a:extLst>
          </p:cNvPr>
          <p:cNvSpPr txBox="1"/>
          <p:nvPr/>
        </p:nvSpPr>
        <p:spPr>
          <a:xfrm>
            <a:off x="8089347" y="4489538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Intervene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80BA6A3-6FC0-C109-D664-6324E96C94D1}"/>
              </a:ext>
            </a:extLst>
          </p:cNvPr>
          <p:cNvSpPr txBox="1"/>
          <p:nvPr/>
        </p:nvSpPr>
        <p:spPr>
          <a:xfrm>
            <a:off x="2009879" y="215402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1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B39EA1-88E8-1AC5-7F3D-D15529E61463}"/>
              </a:ext>
            </a:extLst>
          </p:cNvPr>
          <p:cNvSpPr txBox="1"/>
          <p:nvPr/>
        </p:nvSpPr>
        <p:spPr>
          <a:xfrm>
            <a:off x="5058653" y="196655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6056E4-03BC-65A1-DBB1-3954D56837AD}"/>
              </a:ext>
            </a:extLst>
          </p:cNvPr>
          <p:cNvSpPr txBox="1"/>
          <p:nvPr/>
        </p:nvSpPr>
        <p:spPr>
          <a:xfrm>
            <a:off x="7963919" y="193254"/>
            <a:ext cx="1981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Tier 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F36331D-AFA0-DDA6-304C-DE0E5729239A}"/>
              </a:ext>
            </a:extLst>
          </p:cNvPr>
          <p:cNvSpPr txBox="1"/>
          <p:nvPr/>
        </p:nvSpPr>
        <p:spPr>
          <a:xfrm>
            <a:off x="5003006" y="68670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Sustain progress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30AA5AD-5686-A229-50D4-05BA39A3684C}"/>
              </a:ext>
            </a:extLst>
          </p:cNvPr>
          <p:cNvSpPr txBox="1"/>
          <p:nvPr/>
        </p:nvSpPr>
        <p:spPr>
          <a:xfrm>
            <a:off x="2015322" y="261564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Stabilize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45F647-989C-B52F-147A-1F0B7EDE16AA}"/>
              </a:ext>
            </a:extLst>
          </p:cNvPr>
          <p:cNvSpPr txBox="1"/>
          <p:nvPr/>
        </p:nvSpPr>
        <p:spPr>
          <a:xfrm>
            <a:off x="5003006" y="2615649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Reignite growth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1022E96-2628-9CB5-03FC-2674D11DB5B0}"/>
              </a:ext>
            </a:extLst>
          </p:cNvPr>
          <p:cNvSpPr txBox="1"/>
          <p:nvPr/>
        </p:nvSpPr>
        <p:spPr>
          <a:xfrm>
            <a:off x="8067576" y="2590601"/>
            <a:ext cx="1981200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500" i="1" dirty="0"/>
              <a:t>Watch closely</a:t>
            </a:r>
          </a:p>
        </p:txBody>
      </p:sp>
    </p:spTree>
    <p:extLst>
      <p:ext uri="{BB962C8B-B14F-4D97-AF65-F5344CB8AC3E}">
        <p14:creationId xmlns:p14="http://schemas.microsoft.com/office/powerpoint/2010/main" val="3722863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97EE7-0677-42AC-F113-BDD84ACF8D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E5F26C-8FAD-0FC8-E693-1C1A9B96E7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066800"/>
            <a:ext cx="1295400" cy="12954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0949F7B-35F2-75CC-B2FD-6292C0C897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8993" y="1339264"/>
            <a:ext cx="1257300" cy="12954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86BC2F2-8641-6BE7-B199-9B3A8ABD89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2086" y="1611728"/>
            <a:ext cx="1282700" cy="12954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7DD6E3F-5BEA-985B-3E74-05D4EB04FE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0579" y="1884192"/>
            <a:ext cx="1295400" cy="12954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2F7CD0F-85DE-7A5A-11CF-4B049A1191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61772" y="2156656"/>
            <a:ext cx="1295400" cy="1295400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6B51BD3-489B-9CAD-CFA2-C362AA686F5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02965" y="2429120"/>
            <a:ext cx="1282700" cy="1295400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D110E620-52AE-64E6-A018-269473376CC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31458" y="2701584"/>
            <a:ext cx="1295400" cy="1295400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63652594-D49D-F175-EAB0-E7BA9064DA2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72651" y="2974048"/>
            <a:ext cx="1282700" cy="129540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CB3F5B08-C755-C490-5CC3-D3F1FD8C4A7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01144" y="3246512"/>
            <a:ext cx="1295400" cy="1295400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2BAE320D-DA64-59C5-B9B1-93370AD07E8B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42337" y="3518976"/>
            <a:ext cx="1308100" cy="1295400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4F942964-4BC2-2D18-D30F-A39A3116DFB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96230" y="3791440"/>
            <a:ext cx="1295400" cy="1295400"/>
          </a:xfrm>
          <a:prstGeom prst="rect">
            <a:avLst/>
          </a:prstGeom>
        </p:spPr>
      </p:pic>
      <p:pic>
        <p:nvPicPr>
          <p:cNvPr id="49" name="Picture 48">
            <a:extLst>
              <a:ext uri="{FF2B5EF4-FFF2-40B4-BE49-F238E27FC236}">
                <a16:creationId xmlns:a16="http://schemas.microsoft.com/office/drawing/2014/main" id="{54F6106E-3F6B-98C7-1F50-0617A3DA83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37423" y="4063904"/>
            <a:ext cx="1270000" cy="1295400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AFF9175F-CF64-65C3-EB9C-A723B90544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53216" y="4336368"/>
            <a:ext cx="1295400" cy="1295400"/>
          </a:xfrm>
          <a:prstGeom prst="rect">
            <a:avLst/>
          </a:prstGeom>
        </p:spPr>
      </p:pic>
      <p:pic>
        <p:nvPicPr>
          <p:cNvPr id="53" name="Picture 52">
            <a:extLst>
              <a:ext uri="{FF2B5EF4-FFF2-40B4-BE49-F238E27FC236}">
                <a16:creationId xmlns:a16="http://schemas.microsoft.com/office/drawing/2014/main" id="{156A5759-B40D-7EEF-79BF-9DA02496883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094409" y="4608832"/>
            <a:ext cx="1308100" cy="1295400"/>
          </a:xfrm>
          <a:prstGeom prst="rect">
            <a:avLst/>
          </a:prstGeom>
        </p:spPr>
      </p:pic>
      <p:pic>
        <p:nvPicPr>
          <p:cNvPr id="55" name="Picture 54">
            <a:extLst>
              <a:ext uri="{FF2B5EF4-FFF2-40B4-BE49-F238E27FC236}">
                <a16:creationId xmlns:a16="http://schemas.microsoft.com/office/drawing/2014/main" id="{8DC6A5E4-5C97-ADDD-726E-55B92BAB7AA3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8300" y="4881300"/>
            <a:ext cx="1295400" cy="129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456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94040</TotalTime>
  <Words>216</Words>
  <Application>Microsoft Office PowerPoint</Application>
  <PresentationFormat>Widescreen</PresentationFormat>
  <Paragraphs>56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CHALMERS Kate, DEV/SC</dc:creator>
  <cp:lastModifiedBy>CHALMERS Kate, WISE/WDP</cp:lastModifiedBy>
  <cp:revision>25</cp:revision>
  <dcterms:created xsi:type="dcterms:W3CDTF">2025-08-05T11:00:42Z</dcterms:created>
  <dcterms:modified xsi:type="dcterms:W3CDTF">2025-10-14T10:19:04Z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0e5510b0-e729-4ef0-a3dd-4ba0dfe56c99_Enabled">
    <vt:lpwstr>true</vt:lpwstr>
  </property>
  <property fmtid="{D5CDD505-2E9C-101B-9397-08002B2CF9AE}" pid="3" name="MSIP_Label_0e5510b0-e729-4ef0-a3dd-4ba0dfe56c99_SetDate">
    <vt:lpwstr>2025-10-13T09:09:07Z</vt:lpwstr>
  </property>
  <property fmtid="{D5CDD505-2E9C-101B-9397-08002B2CF9AE}" pid="4" name="MSIP_Label_0e5510b0-e729-4ef0-a3dd-4ba0dfe56c99_Method">
    <vt:lpwstr>Standard</vt:lpwstr>
  </property>
  <property fmtid="{D5CDD505-2E9C-101B-9397-08002B2CF9AE}" pid="5" name="MSIP_Label_0e5510b0-e729-4ef0-a3dd-4ba0dfe56c99_Name">
    <vt:lpwstr>Restricted Use</vt:lpwstr>
  </property>
  <property fmtid="{D5CDD505-2E9C-101B-9397-08002B2CF9AE}" pid="6" name="MSIP_Label_0e5510b0-e729-4ef0-a3dd-4ba0dfe56c99_SiteId">
    <vt:lpwstr>ac41c7d4-1f61-460d-b0f4-fc925a2b471c</vt:lpwstr>
  </property>
  <property fmtid="{D5CDD505-2E9C-101B-9397-08002B2CF9AE}" pid="7" name="MSIP_Label_0e5510b0-e729-4ef0-a3dd-4ba0dfe56c99_ActionId">
    <vt:lpwstr>bfac8fca-fe05-4c6f-bfb5-79322e63619f</vt:lpwstr>
  </property>
  <property fmtid="{D5CDD505-2E9C-101B-9397-08002B2CF9AE}" pid="8" name="MSIP_Label_0e5510b0-e729-4ef0-a3dd-4ba0dfe56c99_ContentBits">
    <vt:lpwstr>2</vt:lpwstr>
  </property>
  <property fmtid="{D5CDD505-2E9C-101B-9397-08002B2CF9AE}" pid="9" name="MSIP_Label_0e5510b0-e729-4ef0-a3dd-4ba0dfe56c99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Restricted Use - À usage restreint</vt:lpwstr>
  </property>
</Properties>
</file>