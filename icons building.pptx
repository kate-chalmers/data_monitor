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73" r:id="rId11"/>
    <p:sldId id="268" r:id="rId12"/>
    <p:sldId id="274" r:id="rId13"/>
    <p:sldId id="267" r:id="rId14"/>
    <p:sldId id="275" r:id="rId15"/>
    <p:sldId id="269" r:id="rId16"/>
    <p:sldId id="276" r:id="rId17"/>
    <p:sldId id="264" r:id="rId18"/>
    <p:sldId id="266" r:id="rId19"/>
    <p:sldId id="270" r:id="rId20"/>
    <p:sldId id="277" r:id="rId21"/>
    <p:sldId id="271" r:id="rId22"/>
    <p:sldId id="278" r:id="rId23"/>
    <p:sldId id="272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D40"/>
    <a:srgbClr val="000000"/>
    <a:srgbClr val="A73A95"/>
    <a:srgbClr val="0D8554"/>
    <a:srgbClr val="084F69"/>
    <a:srgbClr val="7F7F7F"/>
    <a:srgbClr val="D0597E"/>
    <a:srgbClr val="DBA520"/>
    <a:srgbClr val="A20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4737"/>
  </p:normalViewPr>
  <p:slideViewPr>
    <p:cSldViewPr>
      <p:cViewPr varScale="1">
        <p:scale>
          <a:sx n="70" d="100"/>
          <a:sy n="70" d="100"/>
        </p:scale>
        <p:origin x="2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07CDF-2A12-C0DE-5559-0A58598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B15BF-4E90-B06C-BC72-931327F43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D3875-692A-1DA9-74ED-D23119A11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15AD-1FE4-C042-A179-F4928882802B}" type="datetimeFigureOut">
              <a:rPr lang="en-US" smtClean="0"/>
              <a:t>18-Nov-2025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6FE76-A58C-60EC-CB8D-E68BFAC7B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CCD25-EEC5-B104-197C-0C3CFD648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A138-07E3-AA46-AE6E-04C28CB72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39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6650C-321F-6C5B-A025-4E91B7019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F83E0-21BE-1FFF-99DA-F6BC2339D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BD4B0-F923-EB82-C03B-FBDB5183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15AD-1FE4-C042-A179-F4928882802B}" type="datetimeFigureOut">
              <a:rPr lang="en-US" smtClean="0"/>
              <a:t>18-Nov-2025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4AB2B-EC88-B3AB-E943-AA90E7FD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52E90-B442-A7F6-8F12-C9681CD34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A138-07E3-AA46-AE6E-04C28CB72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0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6718C-641A-78DC-5B7D-9799BEB9E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3D16B-64BB-29C6-3D13-01C8C582A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C7DD1-CDD9-A11A-0FC3-6AF1F9159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15AD-1FE4-C042-A179-F4928882802B}" type="datetimeFigureOut">
              <a:rPr lang="en-US" smtClean="0"/>
              <a:t>18-Nov-2025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6495E-3120-B8D2-7CC3-EEDA36701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04BCA-DCB6-523A-0FF8-BAEE200BD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A138-07E3-AA46-AE6E-04C28CB72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42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4D1D8-0D35-6988-EBFD-A283DA5B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387BA-72B9-8EE7-8E18-FD8544E6D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DFBCE-417C-6F26-06A3-A066B4F9C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B96B6-739E-8F65-30BE-4E1AFB858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15AD-1FE4-C042-A179-F4928882802B}" type="datetimeFigureOut">
              <a:rPr lang="en-US" smtClean="0"/>
              <a:t>18-Nov-2025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3532A-FD7A-3861-CD4B-6EE1D6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2AD7F-C94A-F97D-E9AB-F9EDFF95C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A138-07E3-AA46-AE6E-04C28CB72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4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CFEF4-F332-06CF-A52E-038AF938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A9B5B-89FB-3C65-7CCA-4D33BD214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E3B10-F9C1-063F-DDBB-09C63EF9F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A67EDA-3226-3986-2ED3-587CC489F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806F3F-4EAE-D272-E1F1-E75325E44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33D98D-3CD3-97F3-2156-68E86D01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15AD-1FE4-C042-A179-F4928882802B}" type="datetimeFigureOut">
              <a:rPr lang="en-US" smtClean="0"/>
              <a:t>18-Nov-2025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F932A5-125F-5615-62B6-1121855D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D797FA-5017-D1B3-7ADC-DC70C20A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A138-07E3-AA46-AE6E-04C28CB72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28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6C701-3406-4446-1A2C-A07D74F5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8F99D-8ACE-0142-7C78-BF7EB4B38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15AD-1FE4-C042-A179-F4928882802B}" type="datetimeFigureOut">
              <a:rPr lang="en-US" smtClean="0"/>
              <a:t>18-Nov-2025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81FFA-1078-3D6A-4DFE-DD77A2EDA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0B8D62-FACB-C744-6CA5-A08730BCB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A138-07E3-AA46-AE6E-04C28CB72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83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94D028-E1F7-CE40-A126-FF616E98D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15AD-1FE4-C042-A179-F4928882802B}" type="datetimeFigureOut">
              <a:rPr lang="en-US" smtClean="0"/>
              <a:t>18-Nov-2025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B6DE2F-BEA6-7B06-D2AC-66F981E41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9DFDC-41F0-6341-C9FD-408802297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A138-07E3-AA46-AE6E-04C28CB72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2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5A97-D636-8731-6AEC-E43C9786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CE5D6-3B09-5562-B69E-A7431C515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C5783-4DCC-565B-FF61-FF63AAC75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5E567-90B7-271A-00D7-538CBAFA4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15AD-1FE4-C042-A179-F4928882802B}" type="datetimeFigureOut">
              <a:rPr lang="en-US" smtClean="0"/>
              <a:t>18-Nov-2025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34CAA-4E07-DBDC-CD73-8475E998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2765B-C44E-CB50-11BF-77BAD21C2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A138-07E3-AA46-AE6E-04C28CB72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86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9D56C-B717-7E4C-6A6C-612D4590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FDEAD1-A00C-39BB-B024-6952EFB3F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3A8A2-DC63-F850-FCD4-3B22ED76F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87003-B713-972E-6242-368D86AD8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15AD-1FE4-C042-A179-F4928882802B}" type="datetimeFigureOut">
              <a:rPr lang="en-US" smtClean="0"/>
              <a:t>18-Nov-2025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D1B75-CA33-A90E-CCD8-58AB67D07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95984-335D-E621-E253-D84B6919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A138-07E3-AA46-AE6E-04C28CB72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53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FD10-D6CF-C0A8-DFB8-F9D6C71B8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B2D85-401C-0824-9C02-54AD4A03E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887DF-5F23-205D-5C6C-64759C23A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15AD-1FE4-C042-A179-F4928882802B}" type="datetimeFigureOut">
              <a:rPr lang="en-US" smtClean="0"/>
              <a:t>18-Nov-2025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552FB-116E-F900-04BE-0A03A3C9A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57A8F-20E7-BD0E-D6A9-5C2791AC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A138-07E3-AA46-AE6E-04C28CB72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71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A174BD-A361-9FD7-C289-2F41F49BB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100C0-79E0-ADAD-FF5A-0202A510C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02DCC-9366-B91E-0FE3-1A56EC69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15AD-1FE4-C042-A179-F4928882802B}" type="datetimeFigureOut">
              <a:rPr lang="en-US" smtClean="0"/>
              <a:t>18-Nov-2025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9DF1E-7DCD-0670-A763-621CDDED0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82304-9F72-931A-8BB3-061B9B19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A138-07E3-AA46-AE6E-04C28CB72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0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FB7758-BA49-EBC2-859D-AD85A4BE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4D00D-B6A0-8C3A-2484-350331BB1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310BB-84A8-0679-0D31-BFC2BA556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715AD-1FE4-C042-A179-F4928882802B}" type="datetimeFigureOut">
              <a:rPr lang="en-US" smtClean="0"/>
              <a:t>18-Nov-2025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C37FE-01F9-A4CD-1EB5-86C8A0737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D5E68-5E0F-2689-E5EB-FC918364B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D8A138-07E3-AA46-AE6E-04C28CB72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7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30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29.png"/><Relationship Id="rId5" Type="http://schemas.openxmlformats.org/officeDocument/2006/relationships/image" Target="../media/image3.png"/><Relationship Id="rId15" Type="http://schemas.openxmlformats.org/officeDocument/2006/relationships/image" Target="../media/image25.png"/><Relationship Id="rId10" Type="http://schemas.openxmlformats.org/officeDocument/2006/relationships/image" Target="../media/image28.svg"/><Relationship Id="rId4" Type="http://schemas.openxmlformats.org/officeDocument/2006/relationships/image" Target="../media/image2.svg"/><Relationship Id="rId9" Type="http://schemas.openxmlformats.org/officeDocument/2006/relationships/image" Target="../media/image27.png"/><Relationship Id="rId14" Type="http://schemas.openxmlformats.org/officeDocument/2006/relationships/image" Target="../media/image3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30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29.png"/><Relationship Id="rId5" Type="http://schemas.openxmlformats.org/officeDocument/2006/relationships/image" Target="../media/image3.png"/><Relationship Id="rId15" Type="http://schemas.openxmlformats.org/officeDocument/2006/relationships/image" Target="../media/image25.png"/><Relationship Id="rId10" Type="http://schemas.openxmlformats.org/officeDocument/2006/relationships/image" Target="../media/image28.svg"/><Relationship Id="rId4" Type="http://schemas.openxmlformats.org/officeDocument/2006/relationships/image" Target="../media/image2.svg"/><Relationship Id="rId9" Type="http://schemas.openxmlformats.org/officeDocument/2006/relationships/image" Target="../media/image27.png"/><Relationship Id="rId14" Type="http://schemas.openxmlformats.org/officeDocument/2006/relationships/image" Target="../media/image3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53.png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F24277C-A7F2-B816-765F-31A1E447F2AF}"/>
              </a:ext>
            </a:extLst>
          </p:cNvPr>
          <p:cNvGrpSpPr/>
          <p:nvPr/>
        </p:nvGrpSpPr>
        <p:grpSpPr>
          <a:xfrm>
            <a:off x="6786284" y="1567200"/>
            <a:ext cx="3328708" cy="3310141"/>
            <a:chOff x="6786284" y="1567200"/>
            <a:chExt cx="3328708" cy="3310141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1BB3-C904-D411-BECC-599C90B972A2}"/>
                </a:ext>
              </a:extLst>
            </p:cNvPr>
            <p:cNvSpPr/>
            <p:nvPr/>
          </p:nvSpPr>
          <p:spPr>
            <a:xfrm>
              <a:off x="7002838" y="1752600"/>
              <a:ext cx="2895600" cy="2895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DAF24FC-FFCC-AFFA-ED3C-8BD03F12B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18638"/>
            <a:stretch>
              <a:fillRect/>
            </a:stretch>
          </p:blipFill>
          <p:spPr>
            <a:xfrm>
              <a:off x="6786284" y="1567200"/>
              <a:ext cx="3328708" cy="3310141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6780C5F-9848-9A07-4102-38CFC6F0CA20}"/>
              </a:ext>
            </a:extLst>
          </p:cNvPr>
          <p:cNvGrpSpPr/>
          <p:nvPr/>
        </p:nvGrpSpPr>
        <p:grpSpPr>
          <a:xfrm>
            <a:off x="1610849" y="1567201"/>
            <a:ext cx="3293409" cy="3220216"/>
            <a:chOff x="1610849" y="1567201"/>
            <a:chExt cx="3293409" cy="322021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02F0632-427E-F8FF-06C7-FE482C3390FF}"/>
                </a:ext>
              </a:extLst>
            </p:cNvPr>
            <p:cNvSpPr/>
            <p:nvPr/>
          </p:nvSpPr>
          <p:spPr>
            <a:xfrm>
              <a:off x="1828800" y="1752600"/>
              <a:ext cx="2895600" cy="2819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5F2FCCC-7FC6-3F9E-EF7E-FC63FB04B3BF}"/>
                </a:ext>
              </a:extLst>
            </p:cNvPr>
            <p:cNvGrpSpPr/>
            <p:nvPr/>
          </p:nvGrpSpPr>
          <p:grpSpPr>
            <a:xfrm>
              <a:off x="1610849" y="1567201"/>
              <a:ext cx="3293409" cy="3220216"/>
              <a:chOff x="7033932" y="1567200"/>
              <a:chExt cx="3293409" cy="3220216"/>
            </a:xfrm>
            <a:solidFill>
              <a:schemeClr val="tx1">
                <a:lumMod val="50000"/>
                <a:lumOff val="50000"/>
              </a:schemeClr>
            </a:solidFill>
          </p:grpSpPr>
          <p:grpSp>
            <p:nvGrpSpPr>
              <p:cNvPr id="12" name="Graphic 4">
                <a:extLst>
                  <a:ext uri="{FF2B5EF4-FFF2-40B4-BE49-F238E27FC236}">
                    <a16:creationId xmlns:a16="http://schemas.microsoft.com/office/drawing/2014/main" id="{DC7DB675-EC32-758A-A77A-5DA17B5A71EF}"/>
                  </a:ext>
                </a:extLst>
              </p:cNvPr>
              <p:cNvGrpSpPr/>
              <p:nvPr/>
            </p:nvGrpSpPr>
            <p:grpSpPr>
              <a:xfrm>
                <a:off x="7033932" y="1567200"/>
                <a:ext cx="3293409" cy="3220216"/>
                <a:chOff x="7033932" y="1567200"/>
                <a:chExt cx="3293409" cy="3220216"/>
              </a:xfrm>
              <a:grpFill/>
            </p:grpSpPr>
            <p:sp>
              <p:nvSpPr>
                <p:cNvPr id="14" name="Freeform 13">
                  <a:extLst>
                    <a:ext uri="{FF2B5EF4-FFF2-40B4-BE49-F238E27FC236}">
                      <a16:creationId xmlns:a16="http://schemas.microsoft.com/office/drawing/2014/main" id="{9CE9BD8D-7021-D401-D63B-4643049EC71B}"/>
                    </a:ext>
                  </a:extLst>
                </p:cNvPr>
                <p:cNvSpPr/>
                <p:nvPr/>
              </p:nvSpPr>
              <p:spPr>
                <a:xfrm>
                  <a:off x="7033932" y="1567200"/>
                  <a:ext cx="3293409" cy="3220216"/>
                </a:xfrm>
                <a:custGeom>
                  <a:avLst/>
                  <a:gdLst>
                    <a:gd name="connsiteX0" fmla="*/ 1646705 w 3293409"/>
                    <a:gd name="connsiteY0" fmla="*/ 0 h 3220216"/>
                    <a:gd name="connsiteX1" fmla="*/ 0 w 3293409"/>
                    <a:gd name="connsiteY1" fmla="*/ 1610108 h 3220216"/>
                    <a:gd name="connsiteX2" fmla="*/ 1646705 w 3293409"/>
                    <a:gd name="connsiteY2" fmla="*/ 3220217 h 3220216"/>
                    <a:gd name="connsiteX3" fmla="*/ 3293409 w 3293409"/>
                    <a:gd name="connsiteY3" fmla="*/ 1610108 h 3220216"/>
                    <a:gd name="connsiteX4" fmla="*/ 1646705 w 3293409"/>
                    <a:gd name="connsiteY4" fmla="*/ 0 h 3220216"/>
                    <a:gd name="connsiteX5" fmla="*/ 1646705 w 3293409"/>
                    <a:gd name="connsiteY5" fmla="*/ 2951865 h 3220216"/>
                    <a:gd name="connsiteX6" fmla="*/ 274451 w 3293409"/>
                    <a:gd name="connsiteY6" fmla="*/ 1610108 h 3220216"/>
                    <a:gd name="connsiteX7" fmla="*/ 1646705 w 3293409"/>
                    <a:gd name="connsiteY7" fmla="*/ 268351 h 3220216"/>
                    <a:gd name="connsiteX8" fmla="*/ 3018958 w 3293409"/>
                    <a:gd name="connsiteY8" fmla="*/ 1610108 h 3220216"/>
                    <a:gd name="connsiteX9" fmla="*/ 1646705 w 3293409"/>
                    <a:gd name="connsiteY9" fmla="*/ 2951865 h 32202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93409" h="3220216">
                      <a:moveTo>
                        <a:pt x="1646705" y="0"/>
                      </a:moveTo>
                      <a:cubicBezTo>
                        <a:pt x="737312" y="0"/>
                        <a:pt x="0" y="720926"/>
                        <a:pt x="0" y="1610108"/>
                      </a:cubicBezTo>
                      <a:cubicBezTo>
                        <a:pt x="0" y="2499291"/>
                        <a:pt x="737312" y="3220217"/>
                        <a:pt x="1646705" y="3220217"/>
                      </a:cubicBezTo>
                      <a:cubicBezTo>
                        <a:pt x="2556097" y="3220217"/>
                        <a:pt x="3293409" y="2499291"/>
                        <a:pt x="3293409" y="1610108"/>
                      </a:cubicBezTo>
                      <a:cubicBezTo>
                        <a:pt x="3293409" y="720926"/>
                        <a:pt x="2556097" y="0"/>
                        <a:pt x="1646705" y="0"/>
                      </a:cubicBezTo>
                      <a:close/>
                      <a:moveTo>
                        <a:pt x="1646705" y="2951865"/>
                      </a:moveTo>
                      <a:cubicBezTo>
                        <a:pt x="890044" y="2951865"/>
                        <a:pt x="274451" y="2349953"/>
                        <a:pt x="274451" y="1610108"/>
                      </a:cubicBezTo>
                      <a:cubicBezTo>
                        <a:pt x="274451" y="870264"/>
                        <a:pt x="890044" y="268351"/>
                        <a:pt x="1646705" y="268351"/>
                      </a:cubicBezTo>
                      <a:cubicBezTo>
                        <a:pt x="2403365" y="268351"/>
                        <a:pt x="3018958" y="870264"/>
                        <a:pt x="3018958" y="1610108"/>
                      </a:cubicBezTo>
                      <a:cubicBezTo>
                        <a:pt x="3018958" y="2349953"/>
                        <a:pt x="2403365" y="2951865"/>
                        <a:pt x="1646705" y="2951865"/>
                      </a:cubicBezTo>
                      <a:close/>
                    </a:path>
                  </a:pathLst>
                </a:custGeom>
                <a:solidFill>
                  <a:srgbClr val="DBA520"/>
                </a:solidFill>
                <a:ln w="13692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5" name="Freeform 14">
                  <a:extLst>
                    <a:ext uri="{FF2B5EF4-FFF2-40B4-BE49-F238E27FC236}">
                      <a16:creationId xmlns:a16="http://schemas.microsoft.com/office/drawing/2014/main" id="{9BA9CBB0-105C-6581-86C4-A6AC5893C272}"/>
                    </a:ext>
                  </a:extLst>
                </p:cNvPr>
                <p:cNvSpPr/>
                <p:nvPr/>
              </p:nvSpPr>
              <p:spPr>
                <a:xfrm>
                  <a:off x="7994509" y="2774190"/>
                  <a:ext cx="1372253" cy="268351"/>
                </a:xfrm>
                <a:custGeom>
                  <a:avLst/>
                  <a:gdLst>
                    <a:gd name="connsiteX0" fmla="*/ 0 w 1372253"/>
                    <a:gd name="connsiteY0" fmla="*/ 0 h 268351"/>
                    <a:gd name="connsiteX1" fmla="*/ 1372254 w 1372253"/>
                    <a:gd name="connsiteY1" fmla="*/ 0 h 268351"/>
                    <a:gd name="connsiteX2" fmla="*/ 1372254 w 1372253"/>
                    <a:gd name="connsiteY2" fmla="*/ 268351 h 268351"/>
                    <a:gd name="connsiteX3" fmla="*/ 0 w 1372253"/>
                    <a:gd name="connsiteY3" fmla="*/ 268351 h 268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72253" h="268351">
                      <a:moveTo>
                        <a:pt x="0" y="0"/>
                      </a:moveTo>
                      <a:lnTo>
                        <a:pt x="1372254" y="0"/>
                      </a:lnTo>
                      <a:lnTo>
                        <a:pt x="1372254" y="268351"/>
                      </a:lnTo>
                      <a:lnTo>
                        <a:pt x="0" y="268351"/>
                      </a:lnTo>
                      <a:close/>
                    </a:path>
                  </a:pathLst>
                </a:custGeom>
                <a:solidFill>
                  <a:srgbClr val="DBA520"/>
                </a:solidFill>
                <a:ln w="13692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F2372D00-76E9-41A6-9549-315B11976A21}"/>
                  </a:ext>
                </a:extLst>
              </p:cNvPr>
              <p:cNvSpPr/>
              <p:nvPr/>
            </p:nvSpPr>
            <p:spPr>
              <a:xfrm>
                <a:off x="7994508" y="3361765"/>
                <a:ext cx="1372253" cy="268351"/>
              </a:xfrm>
              <a:custGeom>
                <a:avLst/>
                <a:gdLst>
                  <a:gd name="connsiteX0" fmla="*/ 0 w 1372253"/>
                  <a:gd name="connsiteY0" fmla="*/ 0 h 268351"/>
                  <a:gd name="connsiteX1" fmla="*/ 1372254 w 1372253"/>
                  <a:gd name="connsiteY1" fmla="*/ 0 h 268351"/>
                  <a:gd name="connsiteX2" fmla="*/ 1372254 w 1372253"/>
                  <a:gd name="connsiteY2" fmla="*/ 268351 h 268351"/>
                  <a:gd name="connsiteX3" fmla="*/ 0 w 1372253"/>
                  <a:gd name="connsiteY3" fmla="*/ 268351 h 268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2253" h="268351">
                    <a:moveTo>
                      <a:pt x="0" y="0"/>
                    </a:moveTo>
                    <a:lnTo>
                      <a:pt x="1372254" y="0"/>
                    </a:lnTo>
                    <a:lnTo>
                      <a:pt x="1372254" y="268351"/>
                    </a:lnTo>
                    <a:lnTo>
                      <a:pt x="0" y="268351"/>
                    </a:lnTo>
                    <a:close/>
                  </a:path>
                </a:pathLst>
              </a:custGeom>
              <a:solidFill>
                <a:srgbClr val="DBA520"/>
              </a:solidFill>
              <a:ln w="136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52523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60AB3591-D60A-1C3B-80BC-06F2C3B7BFE2}"/>
              </a:ext>
            </a:extLst>
          </p:cNvPr>
          <p:cNvGrpSpPr/>
          <p:nvPr/>
        </p:nvGrpSpPr>
        <p:grpSpPr>
          <a:xfrm>
            <a:off x="1610849" y="1567201"/>
            <a:ext cx="3293409" cy="3220216"/>
            <a:chOff x="1610849" y="1567201"/>
            <a:chExt cx="3293409" cy="322021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22CF287-7D6F-9822-CBA8-CD117546208B}"/>
                </a:ext>
              </a:extLst>
            </p:cNvPr>
            <p:cNvSpPr/>
            <p:nvPr/>
          </p:nvSpPr>
          <p:spPr>
            <a:xfrm>
              <a:off x="1828800" y="1828800"/>
              <a:ext cx="2895600" cy="2743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C8FF30D-FB36-3D46-41CA-2B2C72C89772}"/>
                </a:ext>
              </a:extLst>
            </p:cNvPr>
            <p:cNvGrpSpPr/>
            <p:nvPr/>
          </p:nvGrpSpPr>
          <p:grpSpPr>
            <a:xfrm>
              <a:off x="1610849" y="1567201"/>
              <a:ext cx="3293409" cy="3220216"/>
              <a:chOff x="1610849" y="1567201"/>
              <a:chExt cx="3293409" cy="3220216"/>
            </a:xfrm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17E09956-5107-AE0E-B129-C62BDAABB716}"/>
                  </a:ext>
                </a:extLst>
              </p:cNvPr>
              <p:cNvSpPr/>
              <p:nvPr/>
            </p:nvSpPr>
            <p:spPr>
              <a:xfrm>
                <a:off x="1610849" y="1567201"/>
                <a:ext cx="3293409" cy="3220216"/>
              </a:xfrm>
              <a:custGeom>
                <a:avLst/>
                <a:gdLst>
                  <a:gd name="connsiteX0" fmla="*/ 1646705 w 3293409"/>
                  <a:gd name="connsiteY0" fmla="*/ 0 h 3220216"/>
                  <a:gd name="connsiteX1" fmla="*/ 0 w 3293409"/>
                  <a:gd name="connsiteY1" fmla="*/ 1610108 h 3220216"/>
                  <a:gd name="connsiteX2" fmla="*/ 1646705 w 3293409"/>
                  <a:gd name="connsiteY2" fmla="*/ 3220217 h 3220216"/>
                  <a:gd name="connsiteX3" fmla="*/ 3293409 w 3293409"/>
                  <a:gd name="connsiteY3" fmla="*/ 1610108 h 3220216"/>
                  <a:gd name="connsiteX4" fmla="*/ 1646705 w 3293409"/>
                  <a:gd name="connsiteY4" fmla="*/ 0 h 3220216"/>
                  <a:gd name="connsiteX5" fmla="*/ 1646705 w 3293409"/>
                  <a:gd name="connsiteY5" fmla="*/ 2951865 h 3220216"/>
                  <a:gd name="connsiteX6" fmla="*/ 274451 w 3293409"/>
                  <a:gd name="connsiteY6" fmla="*/ 1610108 h 3220216"/>
                  <a:gd name="connsiteX7" fmla="*/ 1646705 w 3293409"/>
                  <a:gd name="connsiteY7" fmla="*/ 268351 h 3220216"/>
                  <a:gd name="connsiteX8" fmla="*/ 3018958 w 3293409"/>
                  <a:gd name="connsiteY8" fmla="*/ 1610108 h 3220216"/>
                  <a:gd name="connsiteX9" fmla="*/ 1646705 w 3293409"/>
                  <a:gd name="connsiteY9" fmla="*/ 2951865 h 3220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93409" h="3220216">
                    <a:moveTo>
                      <a:pt x="1646705" y="0"/>
                    </a:moveTo>
                    <a:cubicBezTo>
                      <a:pt x="737312" y="0"/>
                      <a:pt x="0" y="720926"/>
                      <a:pt x="0" y="1610108"/>
                    </a:cubicBezTo>
                    <a:cubicBezTo>
                      <a:pt x="0" y="2499291"/>
                      <a:pt x="737312" y="3220217"/>
                      <a:pt x="1646705" y="3220217"/>
                    </a:cubicBezTo>
                    <a:cubicBezTo>
                      <a:pt x="2556097" y="3220217"/>
                      <a:pt x="3293409" y="2499291"/>
                      <a:pt x="3293409" y="1610108"/>
                    </a:cubicBezTo>
                    <a:cubicBezTo>
                      <a:pt x="3293409" y="720926"/>
                      <a:pt x="2556097" y="0"/>
                      <a:pt x="1646705" y="0"/>
                    </a:cubicBezTo>
                    <a:close/>
                    <a:moveTo>
                      <a:pt x="1646705" y="2951865"/>
                    </a:moveTo>
                    <a:cubicBezTo>
                      <a:pt x="890044" y="2951865"/>
                      <a:pt x="274451" y="2349953"/>
                      <a:pt x="274451" y="1610108"/>
                    </a:cubicBezTo>
                    <a:cubicBezTo>
                      <a:pt x="274451" y="870264"/>
                      <a:pt x="890044" y="268351"/>
                      <a:pt x="1646705" y="268351"/>
                    </a:cubicBezTo>
                    <a:cubicBezTo>
                      <a:pt x="2403365" y="268351"/>
                      <a:pt x="3018958" y="870264"/>
                      <a:pt x="3018958" y="1610108"/>
                    </a:cubicBezTo>
                    <a:cubicBezTo>
                      <a:pt x="3018958" y="2349953"/>
                      <a:pt x="2403365" y="2951865"/>
                      <a:pt x="1646705" y="2951865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136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Multiply 15">
                <a:extLst>
                  <a:ext uri="{FF2B5EF4-FFF2-40B4-BE49-F238E27FC236}">
                    <a16:creationId xmlns:a16="http://schemas.microsoft.com/office/drawing/2014/main" id="{EF42033A-F436-6002-1817-2015C6FACFB1}"/>
                  </a:ext>
                </a:extLst>
              </p:cNvPr>
              <p:cNvSpPr/>
              <p:nvPr/>
            </p:nvSpPr>
            <p:spPr>
              <a:xfrm>
                <a:off x="2228853" y="2148609"/>
                <a:ext cx="2057400" cy="2057400"/>
              </a:xfrm>
              <a:prstGeom prst="mathMultiply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64EEF6D-0A24-30CC-6D9E-5E4C5011922D}"/>
              </a:ext>
            </a:extLst>
          </p:cNvPr>
          <p:cNvGrpSpPr/>
          <p:nvPr/>
        </p:nvGrpSpPr>
        <p:grpSpPr>
          <a:xfrm>
            <a:off x="7069791" y="1590292"/>
            <a:ext cx="3293409" cy="3220216"/>
            <a:chOff x="7069791" y="1590292"/>
            <a:chExt cx="3293409" cy="322021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3BD5405-1284-71EE-0D51-0DD9EB9E9AAC}"/>
                </a:ext>
              </a:extLst>
            </p:cNvPr>
            <p:cNvGrpSpPr/>
            <p:nvPr/>
          </p:nvGrpSpPr>
          <p:grpSpPr>
            <a:xfrm>
              <a:off x="7069791" y="1590292"/>
              <a:ext cx="3293409" cy="3220216"/>
              <a:chOff x="1610849" y="1567201"/>
              <a:chExt cx="3293409" cy="3220216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2467578-D629-FADC-948E-24BC5BC5D569}"/>
                  </a:ext>
                </a:extLst>
              </p:cNvPr>
              <p:cNvSpPr/>
              <p:nvPr/>
            </p:nvSpPr>
            <p:spPr>
              <a:xfrm>
                <a:off x="1828800" y="1752600"/>
                <a:ext cx="2895600" cy="28194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0C0670E2-DF7D-871F-B5D8-B0BA48956A4F}"/>
                  </a:ext>
                </a:extLst>
              </p:cNvPr>
              <p:cNvSpPr/>
              <p:nvPr/>
            </p:nvSpPr>
            <p:spPr>
              <a:xfrm>
                <a:off x="1610849" y="1567201"/>
                <a:ext cx="3293409" cy="3220216"/>
              </a:xfrm>
              <a:custGeom>
                <a:avLst/>
                <a:gdLst>
                  <a:gd name="connsiteX0" fmla="*/ 1646705 w 3293409"/>
                  <a:gd name="connsiteY0" fmla="*/ 0 h 3220216"/>
                  <a:gd name="connsiteX1" fmla="*/ 0 w 3293409"/>
                  <a:gd name="connsiteY1" fmla="*/ 1610108 h 3220216"/>
                  <a:gd name="connsiteX2" fmla="*/ 1646705 w 3293409"/>
                  <a:gd name="connsiteY2" fmla="*/ 3220217 h 3220216"/>
                  <a:gd name="connsiteX3" fmla="*/ 3293409 w 3293409"/>
                  <a:gd name="connsiteY3" fmla="*/ 1610108 h 3220216"/>
                  <a:gd name="connsiteX4" fmla="*/ 1646705 w 3293409"/>
                  <a:gd name="connsiteY4" fmla="*/ 0 h 3220216"/>
                  <a:gd name="connsiteX5" fmla="*/ 1646705 w 3293409"/>
                  <a:gd name="connsiteY5" fmla="*/ 2951865 h 3220216"/>
                  <a:gd name="connsiteX6" fmla="*/ 274451 w 3293409"/>
                  <a:gd name="connsiteY6" fmla="*/ 1610108 h 3220216"/>
                  <a:gd name="connsiteX7" fmla="*/ 1646705 w 3293409"/>
                  <a:gd name="connsiteY7" fmla="*/ 268351 h 3220216"/>
                  <a:gd name="connsiteX8" fmla="*/ 3018958 w 3293409"/>
                  <a:gd name="connsiteY8" fmla="*/ 1610108 h 3220216"/>
                  <a:gd name="connsiteX9" fmla="*/ 1646705 w 3293409"/>
                  <a:gd name="connsiteY9" fmla="*/ 2951865 h 3220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93409" h="3220216">
                    <a:moveTo>
                      <a:pt x="1646705" y="0"/>
                    </a:moveTo>
                    <a:cubicBezTo>
                      <a:pt x="737312" y="0"/>
                      <a:pt x="0" y="720926"/>
                      <a:pt x="0" y="1610108"/>
                    </a:cubicBezTo>
                    <a:cubicBezTo>
                      <a:pt x="0" y="2499291"/>
                      <a:pt x="737312" y="3220217"/>
                      <a:pt x="1646705" y="3220217"/>
                    </a:cubicBezTo>
                    <a:cubicBezTo>
                      <a:pt x="2556097" y="3220217"/>
                      <a:pt x="3293409" y="2499291"/>
                      <a:pt x="3293409" y="1610108"/>
                    </a:cubicBezTo>
                    <a:cubicBezTo>
                      <a:pt x="3293409" y="720926"/>
                      <a:pt x="2556097" y="0"/>
                      <a:pt x="1646705" y="0"/>
                    </a:cubicBezTo>
                    <a:close/>
                    <a:moveTo>
                      <a:pt x="1646705" y="2951865"/>
                    </a:moveTo>
                    <a:cubicBezTo>
                      <a:pt x="890044" y="2951865"/>
                      <a:pt x="274451" y="2349953"/>
                      <a:pt x="274451" y="1610108"/>
                    </a:cubicBezTo>
                    <a:cubicBezTo>
                      <a:pt x="274451" y="870264"/>
                      <a:pt x="890044" y="268351"/>
                      <a:pt x="1646705" y="268351"/>
                    </a:cubicBezTo>
                    <a:cubicBezTo>
                      <a:pt x="2403365" y="268351"/>
                      <a:pt x="3018958" y="870264"/>
                      <a:pt x="3018958" y="1610108"/>
                    </a:cubicBezTo>
                    <a:cubicBezTo>
                      <a:pt x="3018958" y="2349953"/>
                      <a:pt x="2403365" y="2951865"/>
                      <a:pt x="1646705" y="2951865"/>
                    </a:cubicBezTo>
                    <a:close/>
                  </a:path>
                </a:pathLst>
              </a:custGeom>
              <a:solidFill>
                <a:srgbClr val="0D8554"/>
              </a:solidFill>
              <a:ln w="136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34" name="Right Arrow 33">
              <a:extLst>
                <a:ext uri="{FF2B5EF4-FFF2-40B4-BE49-F238E27FC236}">
                  <a16:creationId xmlns:a16="http://schemas.microsoft.com/office/drawing/2014/main" id="{BF9690CC-E8F2-BD0F-DB9B-CC66A2288F13}"/>
                </a:ext>
              </a:extLst>
            </p:cNvPr>
            <p:cNvSpPr/>
            <p:nvPr/>
          </p:nvSpPr>
          <p:spPr>
            <a:xfrm>
              <a:off x="7747305" y="2583296"/>
              <a:ext cx="990600" cy="1234209"/>
            </a:xfrm>
            <a:prstGeom prst="rightArrow">
              <a:avLst/>
            </a:prstGeom>
            <a:solidFill>
              <a:srgbClr val="0D85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BA7D0CDA-DA5E-5304-866A-36AA88C18ECF}"/>
                </a:ext>
              </a:extLst>
            </p:cNvPr>
            <p:cNvSpPr/>
            <p:nvPr/>
          </p:nvSpPr>
          <p:spPr>
            <a:xfrm rot="10800000">
              <a:off x="8735542" y="2583296"/>
              <a:ext cx="990600" cy="1234209"/>
            </a:xfrm>
            <a:prstGeom prst="rightArrow">
              <a:avLst/>
            </a:prstGeom>
            <a:solidFill>
              <a:srgbClr val="0D85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5943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4E2D9-F5C5-7C0D-446A-C17E9980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49FE4D82-7820-7CA7-DBED-D9A25B569BEB}"/>
              </a:ext>
            </a:extLst>
          </p:cNvPr>
          <p:cNvGrpSpPr/>
          <p:nvPr/>
        </p:nvGrpSpPr>
        <p:grpSpPr>
          <a:xfrm>
            <a:off x="1143000" y="1447800"/>
            <a:ext cx="3886200" cy="3657600"/>
            <a:chOff x="1143000" y="1447800"/>
            <a:chExt cx="3886200" cy="36576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C5BC7E1-B39F-63A5-9A5E-1F7022F15B49}"/>
                </a:ext>
              </a:extLst>
            </p:cNvPr>
            <p:cNvSpPr/>
            <p:nvPr/>
          </p:nvSpPr>
          <p:spPr>
            <a:xfrm>
              <a:off x="1546739" y="1613614"/>
              <a:ext cx="3200400" cy="320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C760B9B-C487-C28C-D260-8524F7AE9F29}"/>
                </a:ext>
              </a:extLst>
            </p:cNvPr>
            <p:cNvSpPr/>
            <p:nvPr/>
          </p:nvSpPr>
          <p:spPr>
            <a:xfrm>
              <a:off x="2988423" y="2285651"/>
              <a:ext cx="317033" cy="317033"/>
            </a:xfrm>
            <a:custGeom>
              <a:avLst/>
              <a:gdLst>
                <a:gd name="connsiteX0" fmla="*/ 317033 w 317033"/>
                <a:gd name="connsiteY0" fmla="*/ 158517 h 317033"/>
                <a:gd name="connsiteX1" fmla="*/ 158517 w 317033"/>
                <a:gd name="connsiteY1" fmla="*/ 317033 h 317033"/>
                <a:gd name="connsiteX2" fmla="*/ 0 w 317033"/>
                <a:gd name="connsiteY2" fmla="*/ 158517 h 317033"/>
                <a:gd name="connsiteX3" fmla="*/ 158517 w 317033"/>
                <a:gd name="connsiteY3" fmla="*/ 0 h 317033"/>
                <a:gd name="connsiteX4" fmla="*/ 317033 w 317033"/>
                <a:gd name="connsiteY4" fmla="*/ 158517 h 317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7033" h="317033">
                  <a:moveTo>
                    <a:pt x="317033" y="158517"/>
                  </a:moveTo>
                  <a:cubicBezTo>
                    <a:pt x="317033" y="246063"/>
                    <a:pt x="246063" y="317033"/>
                    <a:pt x="158517" y="317033"/>
                  </a:cubicBezTo>
                  <a:cubicBezTo>
                    <a:pt x="70970" y="317033"/>
                    <a:pt x="0" y="246063"/>
                    <a:pt x="0" y="158517"/>
                  </a:cubicBezTo>
                  <a:cubicBezTo>
                    <a:pt x="0" y="70970"/>
                    <a:pt x="70970" y="0"/>
                    <a:pt x="158517" y="0"/>
                  </a:cubicBezTo>
                  <a:cubicBezTo>
                    <a:pt x="246063" y="0"/>
                    <a:pt x="317033" y="70970"/>
                    <a:pt x="317033" y="158517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9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86F196C-03AF-C8FE-4603-499E68408448}"/>
                </a:ext>
              </a:extLst>
            </p:cNvPr>
            <p:cNvSpPr/>
            <p:nvPr/>
          </p:nvSpPr>
          <p:spPr>
            <a:xfrm>
              <a:off x="2711019" y="2642314"/>
              <a:ext cx="871841" cy="1426650"/>
            </a:xfrm>
            <a:custGeom>
              <a:avLst/>
              <a:gdLst>
                <a:gd name="connsiteX0" fmla="*/ 867879 w 871841"/>
                <a:gd name="connsiteY0" fmla="*/ 618215 h 1426650"/>
                <a:gd name="connsiteX1" fmla="*/ 756917 w 871841"/>
                <a:gd name="connsiteY1" fmla="*/ 146628 h 1426650"/>
                <a:gd name="connsiteX2" fmla="*/ 733140 w 871841"/>
                <a:gd name="connsiteY2" fmla="*/ 103036 h 1426650"/>
                <a:gd name="connsiteX3" fmla="*/ 566697 w 871841"/>
                <a:gd name="connsiteY3" fmla="*/ 15852 h 1426650"/>
                <a:gd name="connsiteX4" fmla="*/ 435921 w 871841"/>
                <a:gd name="connsiteY4" fmla="*/ 0 h 1426650"/>
                <a:gd name="connsiteX5" fmla="*/ 305145 w 871841"/>
                <a:gd name="connsiteY5" fmla="*/ 19815 h 1426650"/>
                <a:gd name="connsiteX6" fmla="*/ 138702 w 871841"/>
                <a:gd name="connsiteY6" fmla="*/ 106999 h 1426650"/>
                <a:gd name="connsiteX7" fmla="*/ 114925 w 871841"/>
                <a:gd name="connsiteY7" fmla="*/ 150591 h 1426650"/>
                <a:gd name="connsiteX8" fmla="*/ 3963 w 871841"/>
                <a:gd name="connsiteY8" fmla="*/ 622178 h 1426650"/>
                <a:gd name="connsiteX9" fmla="*/ 0 w 871841"/>
                <a:gd name="connsiteY9" fmla="*/ 641993 h 1426650"/>
                <a:gd name="connsiteX10" fmla="*/ 79258 w 871841"/>
                <a:gd name="connsiteY10" fmla="*/ 721251 h 1426650"/>
                <a:gd name="connsiteX11" fmla="*/ 154554 w 871841"/>
                <a:gd name="connsiteY11" fmla="*/ 661807 h 1426650"/>
                <a:gd name="connsiteX12" fmla="*/ 237775 w 871841"/>
                <a:gd name="connsiteY12" fmla="*/ 317033 h 1426650"/>
                <a:gd name="connsiteX13" fmla="*/ 237775 w 871841"/>
                <a:gd name="connsiteY13" fmla="*/ 1426650 h 1426650"/>
                <a:gd name="connsiteX14" fmla="*/ 396292 w 871841"/>
                <a:gd name="connsiteY14" fmla="*/ 1426650 h 1426650"/>
                <a:gd name="connsiteX15" fmla="*/ 396292 w 871841"/>
                <a:gd name="connsiteY15" fmla="*/ 713325 h 1426650"/>
                <a:gd name="connsiteX16" fmla="*/ 475550 w 871841"/>
                <a:gd name="connsiteY16" fmla="*/ 713325 h 1426650"/>
                <a:gd name="connsiteX17" fmla="*/ 475550 w 871841"/>
                <a:gd name="connsiteY17" fmla="*/ 1426650 h 1426650"/>
                <a:gd name="connsiteX18" fmla="*/ 634067 w 871841"/>
                <a:gd name="connsiteY18" fmla="*/ 1426650 h 1426650"/>
                <a:gd name="connsiteX19" fmla="*/ 634067 w 871841"/>
                <a:gd name="connsiteY19" fmla="*/ 313070 h 1426650"/>
                <a:gd name="connsiteX20" fmla="*/ 717288 w 871841"/>
                <a:gd name="connsiteY20" fmla="*/ 657844 h 1426650"/>
                <a:gd name="connsiteX21" fmla="*/ 792583 w 871841"/>
                <a:gd name="connsiteY21" fmla="*/ 717288 h 1426650"/>
                <a:gd name="connsiteX22" fmla="*/ 871842 w 871841"/>
                <a:gd name="connsiteY22" fmla="*/ 638030 h 1426650"/>
                <a:gd name="connsiteX23" fmla="*/ 867879 w 871841"/>
                <a:gd name="connsiteY23" fmla="*/ 618215 h 1426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71841" h="1426650">
                  <a:moveTo>
                    <a:pt x="867879" y="618215"/>
                  </a:moveTo>
                  <a:lnTo>
                    <a:pt x="756917" y="146628"/>
                  </a:lnTo>
                  <a:cubicBezTo>
                    <a:pt x="752954" y="130776"/>
                    <a:pt x="745028" y="114925"/>
                    <a:pt x="733140" y="103036"/>
                  </a:cubicBezTo>
                  <a:cubicBezTo>
                    <a:pt x="685585" y="63407"/>
                    <a:pt x="630104" y="35666"/>
                    <a:pt x="566697" y="15852"/>
                  </a:cubicBezTo>
                  <a:cubicBezTo>
                    <a:pt x="523105" y="7926"/>
                    <a:pt x="479513" y="0"/>
                    <a:pt x="435921" y="0"/>
                  </a:cubicBezTo>
                  <a:cubicBezTo>
                    <a:pt x="392329" y="0"/>
                    <a:pt x="348737" y="7926"/>
                    <a:pt x="305145" y="19815"/>
                  </a:cubicBezTo>
                  <a:cubicBezTo>
                    <a:pt x="241738" y="35666"/>
                    <a:pt x="186257" y="67370"/>
                    <a:pt x="138702" y="106999"/>
                  </a:cubicBezTo>
                  <a:cubicBezTo>
                    <a:pt x="126813" y="118888"/>
                    <a:pt x="118888" y="134739"/>
                    <a:pt x="114925" y="150591"/>
                  </a:cubicBezTo>
                  <a:lnTo>
                    <a:pt x="3963" y="622178"/>
                  </a:lnTo>
                  <a:cubicBezTo>
                    <a:pt x="3963" y="626141"/>
                    <a:pt x="0" y="634067"/>
                    <a:pt x="0" y="641993"/>
                  </a:cubicBezTo>
                  <a:cubicBezTo>
                    <a:pt x="0" y="685585"/>
                    <a:pt x="35666" y="721251"/>
                    <a:pt x="79258" y="721251"/>
                  </a:cubicBezTo>
                  <a:cubicBezTo>
                    <a:pt x="114925" y="721251"/>
                    <a:pt x="146628" y="693510"/>
                    <a:pt x="154554" y="661807"/>
                  </a:cubicBezTo>
                  <a:lnTo>
                    <a:pt x="237775" y="317033"/>
                  </a:lnTo>
                  <a:lnTo>
                    <a:pt x="237775" y="1426650"/>
                  </a:lnTo>
                  <a:lnTo>
                    <a:pt x="396292" y="1426650"/>
                  </a:lnTo>
                  <a:lnTo>
                    <a:pt x="396292" y="713325"/>
                  </a:lnTo>
                  <a:lnTo>
                    <a:pt x="475550" y="713325"/>
                  </a:lnTo>
                  <a:lnTo>
                    <a:pt x="475550" y="1426650"/>
                  </a:lnTo>
                  <a:lnTo>
                    <a:pt x="634067" y="1426650"/>
                  </a:lnTo>
                  <a:lnTo>
                    <a:pt x="634067" y="313070"/>
                  </a:lnTo>
                  <a:lnTo>
                    <a:pt x="717288" y="657844"/>
                  </a:lnTo>
                  <a:cubicBezTo>
                    <a:pt x="725214" y="689548"/>
                    <a:pt x="756917" y="717288"/>
                    <a:pt x="792583" y="717288"/>
                  </a:cubicBezTo>
                  <a:cubicBezTo>
                    <a:pt x="836175" y="717288"/>
                    <a:pt x="871842" y="681622"/>
                    <a:pt x="871842" y="638030"/>
                  </a:cubicBezTo>
                  <a:cubicBezTo>
                    <a:pt x="871842" y="630104"/>
                    <a:pt x="867879" y="622178"/>
                    <a:pt x="867879" y="618215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97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30" name="Graphic 29" descr="Arrow circle with solid fill">
              <a:extLst>
                <a:ext uri="{FF2B5EF4-FFF2-40B4-BE49-F238E27FC236}">
                  <a16:creationId xmlns:a16="http://schemas.microsoft.com/office/drawing/2014/main" id="{8BC0C7E9-09BA-20C6-E994-0EBF0EF13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043" t="14925" r="13043" b="13432"/>
            <a:stretch>
              <a:fillRect/>
            </a:stretch>
          </p:blipFill>
          <p:spPr>
            <a:xfrm>
              <a:off x="1143000" y="1447800"/>
              <a:ext cx="3886200" cy="36576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E8EEAFF-D5CF-2155-4C6E-84B60E2EB764}"/>
              </a:ext>
            </a:extLst>
          </p:cNvPr>
          <p:cNvGrpSpPr/>
          <p:nvPr/>
        </p:nvGrpSpPr>
        <p:grpSpPr>
          <a:xfrm>
            <a:off x="6934200" y="1447800"/>
            <a:ext cx="3886200" cy="3657600"/>
            <a:chOff x="6934200" y="1447800"/>
            <a:chExt cx="3886200" cy="36576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EB49E12-68F4-76A5-5F31-21BB8822928F}"/>
                </a:ext>
              </a:extLst>
            </p:cNvPr>
            <p:cNvSpPr/>
            <p:nvPr/>
          </p:nvSpPr>
          <p:spPr>
            <a:xfrm>
              <a:off x="7086600" y="1600200"/>
              <a:ext cx="3200400" cy="320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Graphic 2" descr="Group of men with solid fill">
              <a:extLst>
                <a:ext uri="{FF2B5EF4-FFF2-40B4-BE49-F238E27FC236}">
                  <a16:creationId xmlns:a16="http://schemas.microsoft.com/office/drawing/2014/main" id="{D7139795-A95A-BB52-F876-AB733411D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729536" y="2226208"/>
              <a:ext cx="1902200" cy="1902200"/>
            </a:xfrm>
            <a:prstGeom prst="rect">
              <a:avLst/>
            </a:prstGeom>
          </p:spPr>
        </p:pic>
        <p:pic>
          <p:nvPicPr>
            <p:cNvPr id="32" name="Graphic 31" descr="Arrow circle with solid fill">
              <a:extLst>
                <a:ext uri="{FF2B5EF4-FFF2-40B4-BE49-F238E27FC236}">
                  <a16:creationId xmlns:a16="http://schemas.microsoft.com/office/drawing/2014/main" id="{0396C5E1-1C48-4BF2-58D5-A03D4B37D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1594" t="14925" r="14493" b="13433"/>
            <a:stretch>
              <a:fillRect/>
            </a:stretch>
          </p:blipFill>
          <p:spPr>
            <a:xfrm flipH="1">
              <a:off x="6934200" y="1447800"/>
              <a:ext cx="3886200" cy="3657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3029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F54A9-8928-2D25-2A8A-62BCEEE2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1D6B076-7CC8-037B-8B9D-806C18F32771}"/>
              </a:ext>
            </a:extLst>
          </p:cNvPr>
          <p:cNvGrpSpPr/>
          <p:nvPr/>
        </p:nvGrpSpPr>
        <p:grpSpPr>
          <a:xfrm>
            <a:off x="7033932" y="1567200"/>
            <a:ext cx="3293409" cy="3220216"/>
            <a:chOff x="7033932" y="1567200"/>
            <a:chExt cx="3293409" cy="322021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D17C764-F21D-F4C1-401F-9A01C637B901}"/>
                </a:ext>
              </a:extLst>
            </p:cNvPr>
            <p:cNvSpPr/>
            <p:nvPr/>
          </p:nvSpPr>
          <p:spPr>
            <a:xfrm>
              <a:off x="7232836" y="1796143"/>
              <a:ext cx="2895600" cy="2743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507E895-B80C-08BF-7F32-6D23CB51426A}"/>
                </a:ext>
              </a:extLst>
            </p:cNvPr>
            <p:cNvGrpSpPr/>
            <p:nvPr/>
          </p:nvGrpSpPr>
          <p:grpSpPr>
            <a:xfrm>
              <a:off x="7033932" y="1567200"/>
              <a:ext cx="3293409" cy="3220216"/>
              <a:chOff x="7033932" y="1567200"/>
              <a:chExt cx="3293409" cy="3220216"/>
            </a:xfrm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CEFAE6C8-5F93-12F8-637B-A3507F304CF4}"/>
                  </a:ext>
                </a:extLst>
              </p:cNvPr>
              <p:cNvSpPr/>
              <p:nvPr/>
            </p:nvSpPr>
            <p:spPr>
              <a:xfrm>
                <a:off x="7033932" y="1567200"/>
                <a:ext cx="3293409" cy="3220216"/>
              </a:xfrm>
              <a:custGeom>
                <a:avLst/>
                <a:gdLst>
                  <a:gd name="connsiteX0" fmla="*/ 1646705 w 3293409"/>
                  <a:gd name="connsiteY0" fmla="*/ 0 h 3220216"/>
                  <a:gd name="connsiteX1" fmla="*/ 0 w 3293409"/>
                  <a:gd name="connsiteY1" fmla="*/ 1610108 h 3220216"/>
                  <a:gd name="connsiteX2" fmla="*/ 1646705 w 3293409"/>
                  <a:gd name="connsiteY2" fmla="*/ 3220217 h 3220216"/>
                  <a:gd name="connsiteX3" fmla="*/ 3293409 w 3293409"/>
                  <a:gd name="connsiteY3" fmla="*/ 1610108 h 3220216"/>
                  <a:gd name="connsiteX4" fmla="*/ 1646705 w 3293409"/>
                  <a:gd name="connsiteY4" fmla="*/ 0 h 3220216"/>
                  <a:gd name="connsiteX5" fmla="*/ 1646705 w 3293409"/>
                  <a:gd name="connsiteY5" fmla="*/ 2951865 h 3220216"/>
                  <a:gd name="connsiteX6" fmla="*/ 274451 w 3293409"/>
                  <a:gd name="connsiteY6" fmla="*/ 1610108 h 3220216"/>
                  <a:gd name="connsiteX7" fmla="*/ 1646705 w 3293409"/>
                  <a:gd name="connsiteY7" fmla="*/ 268351 h 3220216"/>
                  <a:gd name="connsiteX8" fmla="*/ 3018958 w 3293409"/>
                  <a:gd name="connsiteY8" fmla="*/ 1610108 h 3220216"/>
                  <a:gd name="connsiteX9" fmla="*/ 1646705 w 3293409"/>
                  <a:gd name="connsiteY9" fmla="*/ 2951865 h 3220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93409" h="3220216">
                    <a:moveTo>
                      <a:pt x="1646705" y="0"/>
                    </a:moveTo>
                    <a:cubicBezTo>
                      <a:pt x="737312" y="0"/>
                      <a:pt x="0" y="720926"/>
                      <a:pt x="0" y="1610108"/>
                    </a:cubicBezTo>
                    <a:cubicBezTo>
                      <a:pt x="0" y="2499291"/>
                      <a:pt x="737312" y="3220217"/>
                      <a:pt x="1646705" y="3220217"/>
                    </a:cubicBezTo>
                    <a:cubicBezTo>
                      <a:pt x="2556097" y="3220217"/>
                      <a:pt x="3293409" y="2499291"/>
                      <a:pt x="3293409" y="1610108"/>
                    </a:cubicBezTo>
                    <a:cubicBezTo>
                      <a:pt x="3293409" y="720926"/>
                      <a:pt x="2556097" y="0"/>
                      <a:pt x="1646705" y="0"/>
                    </a:cubicBezTo>
                    <a:close/>
                    <a:moveTo>
                      <a:pt x="1646705" y="2951865"/>
                    </a:moveTo>
                    <a:cubicBezTo>
                      <a:pt x="890044" y="2951865"/>
                      <a:pt x="274451" y="2349953"/>
                      <a:pt x="274451" y="1610108"/>
                    </a:cubicBezTo>
                    <a:cubicBezTo>
                      <a:pt x="274451" y="870264"/>
                      <a:pt x="890044" y="268351"/>
                      <a:pt x="1646705" y="268351"/>
                    </a:cubicBezTo>
                    <a:cubicBezTo>
                      <a:pt x="2403365" y="268351"/>
                      <a:pt x="3018958" y="870264"/>
                      <a:pt x="3018958" y="1610108"/>
                    </a:cubicBezTo>
                    <a:cubicBezTo>
                      <a:pt x="3018958" y="2349953"/>
                      <a:pt x="2403365" y="2951865"/>
                      <a:pt x="1646705" y="2951865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136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3" name="Graphic 2" descr="Baby with solid fill">
                <a:extLst>
                  <a:ext uri="{FF2B5EF4-FFF2-40B4-BE49-F238E27FC236}">
                    <a16:creationId xmlns:a16="http://schemas.microsoft.com/office/drawing/2014/main" id="{D2AFABB9-77BB-8C27-A643-4A6B9A15F6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7729536" y="2226208"/>
                <a:ext cx="1902200" cy="1902200"/>
              </a:xfrm>
              <a:prstGeom prst="rect">
                <a:avLst/>
              </a:prstGeom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A7A57A7-CFD4-002A-50F7-8B84C0A0F857}"/>
              </a:ext>
            </a:extLst>
          </p:cNvPr>
          <p:cNvGrpSpPr/>
          <p:nvPr/>
        </p:nvGrpSpPr>
        <p:grpSpPr>
          <a:xfrm>
            <a:off x="1500236" y="1567200"/>
            <a:ext cx="3293409" cy="3220216"/>
            <a:chOff x="1500236" y="1567200"/>
            <a:chExt cx="3293409" cy="322021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4CD386C-3CDA-44FF-E0A2-DC97BC2BCB41}"/>
                </a:ext>
              </a:extLst>
            </p:cNvPr>
            <p:cNvSpPr/>
            <p:nvPr/>
          </p:nvSpPr>
          <p:spPr>
            <a:xfrm>
              <a:off x="1752600" y="1828800"/>
              <a:ext cx="2895600" cy="2743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CDA082B-22A0-DBEE-D3CF-DCB05C0E3D2C}"/>
                </a:ext>
              </a:extLst>
            </p:cNvPr>
            <p:cNvGrpSpPr/>
            <p:nvPr/>
          </p:nvGrpSpPr>
          <p:grpSpPr>
            <a:xfrm>
              <a:off x="1500236" y="1567200"/>
              <a:ext cx="3293409" cy="3220216"/>
              <a:chOff x="7033932" y="1567200"/>
              <a:chExt cx="3293409" cy="3220216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2A513D27-CA97-EAB8-117A-9356357E588B}"/>
                  </a:ext>
                </a:extLst>
              </p:cNvPr>
              <p:cNvSpPr/>
              <p:nvPr/>
            </p:nvSpPr>
            <p:spPr>
              <a:xfrm>
                <a:off x="7033932" y="1567200"/>
                <a:ext cx="3293409" cy="3220216"/>
              </a:xfrm>
              <a:custGeom>
                <a:avLst/>
                <a:gdLst>
                  <a:gd name="connsiteX0" fmla="*/ 1646705 w 3293409"/>
                  <a:gd name="connsiteY0" fmla="*/ 0 h 3220216"/>
                  <a:gd name="connsiteX1" fmla="*/ 0 w 3293409"/>
                  <a:gd name="connsiteY1" fmla="*/ 1610108 h 3220216"/>
                  <a:gd name="connsiteX2" fmla="*/ 1646705 w 3293409"/>
                  <a:gd name="connsiteY2" fmla="*/ 3220217 h 3220216"/>
                  <a:gd name="connsiteX3" fmla="*/ 3293409 w 3293409"/>
                  <a:gd name="connsiteY3" fmla="*/ 1610108 h 3220216"/>
                  <a:gd name="connsiteX4" fmla="*/ 1646705 w 3293409"/>
                  <a:gd name="connsiteY4" fmla="*/ 0 h 3220216"/>
                  <a:gd name="connsiteX5" fmla="*/ 1646705 w 3293409"/>
                  <a:gd name="connsiteY5" fmla="*/ 2951865 h 3220216"/>
                  <a:gd name="connsiteX6" fmla="*/ 274451 w 3293409"/>
                  <a:gd name="connsiteY6" fmla="*/ 1610108 h 3220216"/>
                  <a:gd name="connsiteX7" fmla="*/ 1646705 w 3293409"/>
                  <a:gd name="connsiteY7" fmla="*/ 268351 h 3220216"/>
                  <a:gd name="connsiteX8" fmla="*/ 3018958 w 3293409"/>
                  <a:gd name="connsiteY8" fmla="*/ 1610108 h 3220216"/>
                  <a:gd name="connsiteX9" fmla="*/ 1646705 w 3293409"/>
                  <a:gd name="connsiteY9" fmla="*/ 2951865 h 3220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93409" h="3220216">
                    <a:moveTo>
                      <a:pt x="1646705" y="0"/>
                    </a:moveTo>
                    <a:cubicBezTo>
                      <a:pt x="737312" y="0"/>
                      <a:pt x="0" y="720926"/>
                      <a:pt x="0" y="1610108"/>
                    </a:cubicBezTo>
                    <a:cubicBezTo>
                      <a:pt x="0" y="2499291"/>
                      <a:pt x="737312" y="3220217"/>
                      <a:pt x="1646705" y="3220217"/>
                    </a:cubicBezTo>
                    <a:cubicBezTo>
                      <a:pt x="2556097" y="3220217"/>
                      <a:pt x="3293409" y="2499291"/>
                      <a:pt x="3293409" y="1610108"/>
                    </a:cubicBezTo>
                    <a:cubicBezTo>
                      <a:pt x="3293409" y="720926"/>
                      <a:pt x="2556097" y="0"/>
                      <a:pt x="1646705" y="0"/>
                    </a:cubicBezTo>
                    <a:close/>
                    <a:moveTo>
                      <a:pt x="1646705" y="2951865"/>
                    </a:moveTo>
                    <a:cubicBezTo>
                      <a:pt x="890044" y="2951865"/>
                      <a:pt x="274451" y="2349953"/>
                      <a:pt x="274451" y="1610108"/>
                    </a:cubicBezTo>
                    <a:cubicBezTo>
                      <a:pt x="274451" y="870264"/>
                      <a:pt x="890044" y="268351"/>
                      <a:pt x="1646705" y="268351"/>
                    </a:cubicBezTo>
                    <a:cubicBezTo>
                      <a:pt x="2403365" y="268351"/>
                      <a:pt x="3018958" y="870264"/>
                      <a:pt x="3018958" y="1610108"/>
                    </a:cubicBezTo>
                    <a:cubicBezTo>
                      <a:pt x="3018958" y="2349953"/>
                      <a:pt x="2403365" y="2951865"/>
                      <a:pt x="1646705" y="2951865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136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11" name="Graphic 10" descr="Man with cane with solid fill">
                <a:extLst>
                  <a:ext uri="{FF2B5EF4-FFF2-40B4-BE49-F238E27FC236}">
                    <a16:creationId xmlns:a16="http://schemas.microsoft.com/office/drawing/2014/main" id="{6D7899B3-3277-2B17-6C08-1F9560D7A3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7729536" y="2226208"/>
                <a:ext cx="1902200" cy="19022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45207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1BEBB-C332-C94F-50EB-91F77F576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2F5B1A2-273E-AEE4-C205-8BAF3D9A1A2A}"/>
              </a:ext>
            </a:extLst>
          </p:cNvPr>
          <p:cNvGrpSpPr/>
          <p:nvPr/>
        </p:nvGrpSpPr>
        <p:grpSpPr>
          <a:xfrm>
            <a:off x="7033932" y="1567200"/>
            <a:ext cx="3293409" cy="3220216"/>
            <a:chOff x="7033932" y="1567200"/>
            <a:chExt cx="3293409" cy="322021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60F455F-A445-D1FB-9E3F-83F7EBBEF32A}"/>
                </a:ext>
              </a:extLst>
            </p:cNvPr>
            <p:cNvSpPr/>
            <p:nvPr/>
          </p:nvSpPr>
          <p:spPr>
            <a:xfrm>
              <a:off x="7232836" y="1828800"/>
              <a:ext cx="2895600" cy="2743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7F1824A-7638-259A-A193-28BC2E59B586}"/>
                </a:ext>
              </a:extLst>
            </p:cNvPr>
            <p:cNvGrpSpPr/>
            <p:nvPr/>
          </p:nvGrpSpPr>
          <p:grpSpPr>
            <a:xfrm>
              <a:off x="7033932" y="1567200"/>
              <a:ext cx="3293409" cy="3220216"/>
              <a:chOff x="7033932" y="1567200"/>
              <a:chExt cx="3293409" cy="3220216"/>
            </a:xfrm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DB4714A1-D249-FE4B-399E-9B9936E1954F}"/>
                  </a:ext>
                </a:extLst>
              </p:cNvPr>
              <p:cNvSpPr/>
              <p:nvPr/>
            </p:nvSpPr>
            <p:spPr>
              <a:xfrm>
                <a:off x="7033932" y="1567200"/>
                <a:ext cx="3293409" cy="3220216"/>
              </a:xfrm>
              <a:custGeom>
                <a:avLst/>
                <a:gdLst>
                  <a:gd name="connsiteX0" fmla="*/ 1646705 w 3293409"/>
                  <a:gd name="connsiteY0" fmla="*/ 0 h 3220216"/>
                  <a:gd name="connsiteX1" fmla="*/ 0 w 3293409"/>
                  <a:gd name="connsiteY1" fmla="*/ 1610108 h 3220216"/>
                  <a:gd name="connsiteX2" fmla="*/ 1646705 w 3293409"/>
                  <a:gd name="connsiteY2" fmla="*/ 3220217 h 3220216"/>
                  <a:gd name="connsiteX3" fmla="*/ 3293409 w 3293409"/>
                  <a:gd name="connsiteY3" fmla="*/ 1610108 h 3220216"/>
                  <a:gd name="connsiteX4" fmla="*/ 1646705 w 3293409"/>
                  <a:gd name="connsiteY4" fmla="*/ 0 h 3220216"/>
                  <a:gd name="connsiteX5" fmla="*/ 1646705 w 3293409"/>
                  <a:gd name="connsiteY5" fmla="*/ 2951865 h 3220216"/>
                  <a:gd name="connsiteX6" fmla="*/ 274451 w 3293409"/>
                  <a:gd name="connsiteY6" fmla="*/ 1610108 h 3220216"/>
                  <a:gd name="connsiteX7" fmla="*/ 1646705 w 3293409"/>
                  <a:gd name="connsiteY7" fmla="*/ 268351 h 3220216"/>
                  <a:gd name="connsiteX8" fmla="*/ 3018958 w 3293409"/>
                  <a:gd name="connsiteY8" fmla="*/ 1610108 h 3220216"/>
                  <a:gd name="connsiteX9" fmla="*/ 1646705 w 3293409"/>
                  <a:gd name="connsiteY9" fmla="*/ 2951865 h 3220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93409" h="3220216">
                    <a:moveTo>
                      <a:pt x="1646705" y="0"/>
                    </a:moveTo>
                    <a:cubicBezTo>
                      <a:pt x="737312" y="0"/>
                      <a:pt x="0" y="720926"/>
                      <a:pt x="0" y="1610108"/>
                    </a:cubicBezTo>
                    <a:cubicBezTo>
                      <a:pt x="0" y="2499291"/>
                      <a:pt x="737312" y="3220217"/>
                      <a:pt x="1646705" y="3220217"/>
                    </a:cubicBezTo>
                    <a:cubicBezTo>
                      <a:pt x="2556097" y="3220217"/>
                      <a:pt x="3293409" y="2499291"/>
                      <a:pt x="3293409" y="1610108"/>
                    </a:cubicBezTo>
                    <a:cubicBezTo>
                      <a:pt x="3293409" y="720926"/>
                      <a:pt x="2556097" y="0"/>
                      <a:pt x="1646705" y="0"/>
                    </a:cubicBezTo>
                    <a:close/>
                    <a:moveTo>
                      <a:pt x="1646705" y="2951865"/>
                    </a:moveTo>
                    <a:cubicBezTo>
                      <a:pt x="890044" y="2951865"/>
                      <a:pt x="274451" y="2349953"/>
                      <a:pt x="274451" y="1610108"/>
                    </a:cubicBezTo>
                    <a:cubicBezTo>
                      <a:pt x="274451" y="870264"/>
                      <a:pt x="890044" y="268351"/>
                      <a:pt x="1646705" y="268351"/>
                    </a:cubicBezTo>
                    <a:cubicBezTo>
                      <a:pt x="2403365" y="268351"/>
                      <a:pt x="3018958" y="870264"/>
                      <a:pt x="3018958" y="1610108"/>
                    </a:cubicBezTo>
                    <a:cubicBezTo>
                      <a:pt x="3018958" y="2349953"/>
                      <a:pt x="2403365" y="2951865"/>
                      <a:pt x="1646705" y="2951865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136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3" name="Graphic 2" descr="Schoolhouse with solid fill">
                <a:extLst>
                  <a:ext uri="{FF2B5EF4-FFF2-40B4-BE49-F238E27FC236}">
                    <a16:creationId xmlns:a16="http://schemas.microsoft.com/office/drawing/2014/main" id="{16B6044A-31B5-04A2-EE37-1552C2D3CD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7663349" y="2051794"/>
                <a:ext cx="2034574" cy="2034574"/>
              </a:xfrm>
              <a:prstGeom prst="rect">
                <a:avLst/>
              </a:prstGeom>
            </p:spPr>
          </p:pic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25AFCA8-99BF-3C7D-CC52-4296326046FC}"/>
              </a:ext>
            </a:extLst>
          </p:cNvPr>
          <p:cNvGrpSpPr/>
          <p:nvPr/>
        </p:nvGrpSpPr>
        <p:grpSpPr>
          <a:xfrm>
            <a:off x="1500236" y="1567200"/>
            <a:ext cx="3293409" cy="3220216"/>
            <a:chOff x="1500236" y="1567200"/>
            <a:chExt cx="3293409" cy="322021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CCB5E3F-6B5F-822E-291D-45CBC5715921}"/>
                </a:ext>
              </a:extLst>
            </p:cNvPr>
            <p:cNvSpPr/>
            <p:nvPr/>
          </p:nvSpPr>
          <p:spPr>
            <a:xfrm>
              <a:off x="1752600" y="1828800"/>
              <a:ext cx="2895600" cy="2743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3C38A9-2BC8-5F8D-1F1B-25735366E0D5}"/>
                </a:ext>
              </a:extLst>
            </p:cNvPr>
            <p:cNvGrpSpPr/>
            <p:nvPr/>
          </p:nvGrpSpPr>
          <p:grpSpPr>
            <a:xfrm>
              <a:off x="1500236" y="1567200"/>
              <a:ext cx="3293409" cy="3220216"/>
              <a:chOff x="7033932" y="1567200"/>
              <a:chExt cx="3293409" cy="3220216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7C36E686-C3F9-C083-0BB4-E506291E3E08}"/>
                  </a:ext>
                </a:extLst>
              </p:cNvPr>
              <p:cNvSpPr/>
              <p:nvPr/>
            </p:nvSpPr>
            <p:spPr>
              <a:xfrm>
                <a:off x="7033932" y="1567200"/>
                <a:ext cx="3293409" cy="3220216"/>
              </a:xfrm>
              <a:custGeom>
                <a:avLst/>
                <a:gdLst>
                  <a:gd name="connsiteX0" fmla="*/ 1646705 w 3293409"/>
                  <a:gd name="connsiteY0" fmla="*/ 0 h 3220216"/>
                  <a:gd name="connsiteX1" fmla="*/ 0 w 3293409"/>
                  <a:gd name="connsiteY1" fmla="*/ 1610108 h 3220216"/>
                  <a:gd name="connsiteX2" fmla="*/ 1646705 w 3293409"/>
                  <a:gd name="connsiteY2" fmla="*/ 3220217 h 3220216"/>
                  <a:gd name="connsiteX3" fmla="*/ 3293409 w 3293409"/>
                  <a:gd name="connsiteY3" fmla="*/ 1610108 h 3220216"/>
                  <a:gd name="connsiteX4" fmla="*/ 1646705 w 3293409"/>
                  <a:gd name="connsiteY4" fmla="*/ 0 h 3220216"/>
                  <a:gd name="connsiteX5" fmla="*/ 1646705 w 3293409"/>
                  <a:gd name="connsiteY5" fmla="*/ 2951865 h 3220216"/>
                  <a:gd name="connsiteX6" fmla="*/ 274451 w 3293409"/>
                  <a:gd name="connsiteY6" fmla="*/ 1610108 h 3220216"/>
                  <a:gd name="connsiteX7" fmla="*/ 1646705 w 3293409"/>
                  <a:gd name="connsiteY7" fmla="*/ 268351 h 3220216"/>
                  <a:gd name="connsiteX8" fmla="*/ 3018958 w 3293409"/>
                  <a:gd name="connsiteY8" fmla="*/ 1610108 h 3220216"/>
                  <a:gd name="connsiteX9" fmla="*/ 1646705 w 3293409"/>
                  <a:gd name="connsiteY9" fmla="*/ 2951865 h 3220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93409" h="3220216">
                    <a:moveTo>
                      <a:pt x="1646705" y="0"/>
                    </a:moveTo>
                    <a:cubicBezTo>
                      <a:pt x="737312" y="0"/>
                      <a:pt x="0" y="720926"/>
                      <a:pt x="0" y="1610108"/>
                    </a:cubicBezTo>
                    <a:cubicBezTo>
                      <a:pt x="0" y="2499291"/>
                      <a:pt x="737312" y="3220217"/>
                      <a:pt x="1646705" y="3220217"/>
                    </a:cubicBezTo>
                    <a:cubicBezTo>
                      <a:pt x="2556097" y="3220217"/>
                      <a:pt x="3293409" y="2499291"/>
                      <a:pt x="3293409" y="1610108"/>
                    </a:cubicBezTo>
                    <a:cubicBezTo>
                      <a:pt x="3293409" y="720926"/>
                      <a:pt x="2556097" y="0"/>
                      <a:pt x="1646705" y="0"/>
                    </a:cubicBezTo>
                    <a:close/>
                    <a:moveTo>
                      <a:pt x="1646705" y="2951865"/>
                    </a:moveTo>
                    <a:cubicBezTo>
                      <a:pt x="890044" y="2951865"/>
                      <a:pt x="274451" y="2349953"/>
                      <a:pt x="274451" y="1610108"/>
                    </a:cubicBezTo>
                    <a:cubicBezTo>
                      <a:pt x="274451" y="870264"/>
                      <a:pt x="890044" y="268351"/>
                      <a:pt x="1646705" y="268351"/>
                    </a:cubicBezTo>
                    <a:cubicBezTo>
                      <a:pt x="2403365" y="268351"/>
                      <a:pt x="3018958" y="870264"/>
                      <a:pt x="3018958" y="1610108"/>
                    </a:cubicBezTo>
                    <a:cubicBezTo>
                      <a:pt x="3018958" y="2349953"/>
                      <a:pt x="2403365" y="2951865"/>
                      <a:pt x="1646705" y="2951865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136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11" name="Graphic 10" descr="Office worker male with solid fill">
                <a:extLst>
                  <a:ext uri="{FF2B5EF4-FFF2-40B4-BE49-F238E27FC236}">
                    <a16:creationId xmlns:a16="http://schemas.microsoft.com/office/drawing/2014/main" id="{46D5CED5-8507-61FF-5E93-D974C1FA5E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7729536" y="2226208"/>
                <a:ext cx="1902200" cy="19022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6801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2E7C2-EB8F-20BB-BF1B-EC402DC66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EAB709D-496E-1227-5271-34F0C3812063}"/>
              </a:ext>
            </a:extLst>
          </p:cNvPr>
          <p:cNvGrpSpPr/>
          <p:nvPr/>
        </p:nvGrpSpPr>
        <p:grpSpPr>
          <a:xfrm>
            <a:off x="7033932" y="1567200"/>
            <a:ext cx="3293409" cy="3220216"/>
            <a:chOff x="7033932" y="1567200"/>
            <a:chExt cx="3293409" cy="322021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EE4531E-1C90-E579-74A3-89F08CDC9687}"/>
                </a:ext>
              </a:extLst>
            </p:cNvPr>
            <p:cNvSpPr/>
            <p:nvPr/>
          </p:nvSpPr>
          <p:spPr>
            <a:xfrm>
              <a:off x="7232836" y="1805708"/>
              <a:ext cx="2895600" cy="2743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BE0316F-07D9-6D66-092E-65CF4F0752E6}"/>
                </a:ext>
              </a:extLst>
            </p:cNvPr>
            <p:cNvSpPr/>
            <p:nvPr/>
          </p:nvSpPr>
          <p:spPr>
            <a:xfrm>
              <a:off x="7033932" y="1567200"/>
              <a:ext cx="3293409" cy="3220216"/>
            </a:xfrm>
            <a:custGeom>
              <a:avLst/>
              <a:gdLst>
                <a:gd name="connsiteX0" fmla="*/ 1646705 w 3293409"/>
                <a:gd name="connsiteY0" fmla="*/ 0 h 3220216"/>
                <a:gd name="connsiteX1" fmla="*/ 0 w 3293409"/>
                <a:gd name="connsiteY1" fmla="*/ 1610108 h 3220216"/>
                <a:gd name="connsiteX2" fmla="*/ 1646705 w 3293409"/>
                <a:gd name="connsiteY2" fmla="*/ 3220217 h 3220216"/>
                <a:gd name="connsiteX3" fmla="*/ 3293409 w 3293409"/>
                <a:gd name="connsiteY3" fmla="*/ 1610108 h 3220216"/>
                <a:gd name="connsiteX4" fmla="*/ 1646705 w 3293409"/>
                <a:gd name="connsiteY4" fmla="*/ 0 h 3220216"/>
                <a:gd name="connsiteX5" fmla="*/ 1646705 w 3293409"/>
                <a:gd name="connsiteY5" fmla="*/ 2951865 h 3220216"/>
                <a:gd name="connsiteX6" fmla="*/ 274451 w 3293409"/>
                <a:gd name="connsiteY6" fmla="*/ 1610108 h 3220216"/>
                <a:gd name="connsiteX7" fmla="*/ 1646705 w 3293409"/>
                <a:gd name="connsiteY7" fmla="*/ 268351 h 3220216"/>
                <a:gd name="connsiteX8" fmla="*/ 3018958 w 3293409"/>
                <a:gd name="connsiteY8" fmla="*/ 1610108 h 3220216"/>
                <a:gd name="connsiteX9" fmla="*/ 1646705 w 3293409"/>
                <a:gd name="connsiteY9" fmla="*/ 2951865 h 322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93409" h="3220216">
                  <a:moveTo>
                    <a:pt x="1646705" y="0"/>
                  </a:moveTo>
                  <a:cubicBezTo>
                    <a:pt x="737312" y="0"/>
                    <a:pt x="0" y="720926"/>
                    <a:pt x="0" y="1610108"/>
                  </a:cubicBezTo>
                  <a:cubicBezTo>
                    <a:pt x="0" y="2499291"/>
                    <a:pt x="737312" y="3220217"/>
                    <a:pt x="1646705" y="3220217"/>
                  </a:cubicBezTo>
                  <a:cubicBezTo>
                    <a:pt x="2556097" y="3220217"/>
                    <a:pt x="3293409" y="2499291"/>
                    <a:pt x="3293409" y="1610108"/>
                  </a:cubicBezTo>
                  <a:cubicBezTo>
                    <a:pt x="3293409" y="720926"/>
                    <a:pt x="2556097" y="0"/>
                    <a:pt x="1646705" y="0"/>
                  </a:cubicBezTo>
                  <a:close/>
                  <a:moveTo>
                    <a:pt x="1646705" y="2951865"/>
                  </a:moveTo>
                  <a:cubicBezTo>
                    <a:pt x="890044" y="2951865"/>
                    <a:pt x="274451" y="2349953"/>
                    <a:pt x="274451" y="1610108"/>
                  </a:cubicBezTo>
                  <a:cubicBezTo>
                    <a:pt x="274451" y="870264"/>
                    <a:pt x="890044" y="268351"/>
                    <a:pt x="1646705" y="268351"/>
                  </a:cubicBezTo>
                  <a:cubicBezTo>
                    <a:pt x="2403365" y="268351"/>
                    <a:pt x="3018958" y="870264"/>
                    <a:pt x="3018958" y="1610108"/>
                  </a:cubicBezTo>
                  <a:cubicBezTo>
                    <a:pt x="3018958" y="2349953"/>
                    <a:pt x="2403365" y="2951865"/>
                    <a:pt x="1646705" y="2951865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36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3" name="Graphic 2" descr="Universal access with solid fill">
              <a:extLst>
                <a:ext uri="{FF2B5EF4-FFF2-40B4-BE49-F238E27FC236}">
                  <a16:creationId xmlns:a16="http://schemas.microsoft.com/office/drawing/2014/main" id="{6FF05881-1AC1-F2A2-9AA4-D9F77C3E6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729536" y="2226208"/>
              <a:ext cx="1902200" cy="19022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FC389FA-60CA-DBB6-9151-0D98E12C8A8E}"/>
              </a:ext>
            </a:extLst>
          </p:cNvPr>
          <p:cNvGrpSpPr/>
          <p:nvPr/>
        </p:nvGrpSpPr>
        <p:grpSpPr>
          <a:xfrm>
            <a:off x="1500236" y="1567200"/>
            <a:ext cx="3293409" cy="3220216"/>
            <a:chOff x="1500236" y="1567200"/>
            <a:chExt cx="3293409" cy="322021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242063A-FC63-7DF8-D8FD-8C6C7163788A}"/>
                </a:ext>
              </a:extLst>
            </p:cNvPr>
            <p:cNvSpPr/>
            <p:nvPr/>
          </p:nvSpPr>
          <p:spPr>
            <a:xfrm>
              <a:off x="1752600" y="1828800"/>
              <a:ext cx="2895600" cy="2743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F8C8C02-38EB-629B-8BA5-54A0524C3DC5}"/>
                </a:ext>
              </a:extLst>
            </p:cNvPr>
            <p:cNvGrpSpPr/>
            <p:nvPr/>
          </p:nvGrpSpPr>
          <p:grpSpPr>
            <a:xfrm>
              <a:off x="1500236" y="1567200"/>
              <a:ext cx="3293409" cy="3220216"/>
              <a:chOff x="7033932" y="1567200"/>
              <a:chExt cx="3293409" cy="3220216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770E5EAC-DC3B-262D-300E-15BF6D40451C}"/>
                  </a:ext>
                </a:extLst>
              </p:cNvPr>
              <p:cNvSpPr/>
              <p:nvPr/>
            </p:nvSpPr>
            <p:spPr>
              <a:xfrm>
                <a:off x="7033932" y="1567200"/>
                <a:ext cx="3293409" cy="3220216"/>
              </a:xfrm>
              <a:custGeom>
                <a:avLst/>
                <a:gdLst>
                  <a:gd name="connsiteX0" fmla="*/ 1646705 w 3293409"/>
                  <a:gd name="connsiteY0" fmla="*/ 0 h 3220216"/>
                  <a:gd name="connsiteX1" fmla="*/ 0 w 3293409"/>
                  <a:gd name="connsiteY1" fmla="*/ 1610108 h 3220216"/>
                  <a:gd name="connsiteX2" fmla="*/ 1646705 w 3293409"/>
                  <a:gd name="connsiteY2" fmla="*/ 3220217 h 3220216"/>
                  <a:gd name="connsiteX3" fmla="*/ 3293409 w 3293409"/>
                  <a:gd name="connsiteY3" fmla="*/ 1610108 h 3220216"/>
                  <a:gd name="connsiteX4" fmla="*/ 1646705 w 3293409"/>
                  <a:gd name="connsiteY4" fmla="*/ 0 h 3220216"/>
                  <a:gd name="connsiteX5" fmla="*/ 1646705 w 3293409"/>
                  <a:gd name="connsiteY5" fmla="*/ 2951865 h 3220216"/>
                  <a:gd name="connsiteX6" fmla="*/ 274451 w 3293409"/>
                  <a:gd name="connsiteY6" fmla="*/ 1610108 h 3220216"/>
                  <a:gd name="connsiteX7" fmla="*/ 1646705 w 3293409"/>
                  <a:gd name="connsiteY7" fmla="*/ 268351 h 3220216"/>
                  <a:gd name="connsiteX8" fmla="*/ 3018958 w 3293409"/>
                  <a:gd name="connsiteY8" fmla="*/ 1610108 h 3220216"/>
                  <a:gd name="connsiteX9" fmla="*/ 1646705 w 3293409"/>
                  <a:gd name="connsiteY9" fmla="*/ 2951865 h 3220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93409" h="3220216">
                    <a:moveTo>
                      <a:pt x="1646705" y="0"/>
                    </a:moveTo>
                    <a:cubicBezTo>
                      <a:pt x="737312" y="0"/>
                      <a:pt x="0" y="720926"/>
                      <a:pt x="0" y="1610108"/>
                    </a:cubicBezTo>
                    <a:cubicBezTo>
                      <a:pt x="0" y="2499291"/>
                      <a:pt x="737312" y="3220217"/>
                      <a:pt x="1646705" y="3220217"/>
                    </a:cubicBezTo>
                    <a:cubicBezTo>
                      <a:pt x="2556097" y="3220217"/>
                      <a:pt x="3293409" y="2499291"/>
                      <a:pt x="3293409" y="1610108"/>
                    </a:cubicBezTo>
                    <a:cubicBezTo>
                      <a:pt x="3293409" y="720926"/>
                      <a:pt x="2556097" y="0"/>
                      <a:pt x="1646705" y="0"/>
                    </a:cubicBezTo>
                    <a:close/>
                    <a:moveTo>
                      <a:pt x="1646705" y="2951865"/>
                    </a:moveTo>
                    <a:cubicBezTo>
                      <a:pt x="890044" y="2951865"/>
                      <a:pt x="274451" y="2349953"/>
                      <a:pt x="274451" y="1610108"/>
                    </a:cubicBezTo>
                    <a:cubicBezTo>
                      <a:pt x="274451" y="870264"/>
                      <a:pt x="890044" y="268351"/>
                      <a:pt x="1646705" y="268351"/>
                    </a:cubicBezTo>
                    <a:cubicBezTo>
                      <a:pt x="2403365" y="268351"/>
                      <a:pt x="3018958" y="870264"/>
                      <a:pt x="3018958" y="1610108"/>
                    </a:cubicBezTo>
                    <a:cubicBezTo>
                      <a:pt x="3018958" y="2349953"/>
                      <a:pt x="2403365" y="2951865"/>
                      <a:pt x="1646705" y="2951865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136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pic>
            <p:nvPicPr>
              <p:cNvPr id="11" name="Graphic 10" descr="Graduation cap with solid fill">
                <a:extLst>
                  <a:ext uri="{FF2B5EF4-FFF2-40B4-BE49-F238E27FC236}">
                    <a16:creationId xmlns:a16="http://schemas.microsoft.com/office/drawing/2014/main" id="{03F72A7B-D1AC-C711-595D-E8E0058E74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7729536" y="2226208"/>
                <a:ext cx="1902200" cy="19022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19873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A612B-B7D1-FA8B-7DA2-7114EECF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Badge 1 with solid fill">
            <a:extLst>
              <a:ext uri="{FF2B5EF4-FFF2-40B4-BE49-F238E27FC236}">
                <a16:creationId xmlns:a16="http://schemas.microsoft.com/office/drawing/2014/main" id="{938B00A5-70D6-232E-D6D9-C1FDD2A87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3030" y="1318099"/>
            <a:ext cx="3621932" cy="3621932"/>
          </a:xfrm>
          <a:prstGeom prst="rect">
            <a:avLst/>
          </a:prstGeom>
        </p:spPr>
      </p:pic>
      <p:pic>
        <p:nvPicPr>
          <p:cNvPr id="13" name="Graphic 12" descr="Badge with solid fill">
            <a:extLst>
              <a:ext uri="{FF2B5EF4-FFF2-40B4-BE49-F238E27FC236}">
                <a16:creationId xmlns:a16="http://schemas.microsoft.com/office/drawing/2014/main" id="{C193F618-5574-0384-2B2B-ADAF4271A6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08841" y="1318099"/>
            <a:ext cx="3621933" cy="362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138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282A4-B7E4-CB70-3A90-2F5CCE11B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Badge 3 with solid fill">
            <a:extLst>
              <a:ext uri="{FF2B5EF4-FFF2-40B4-BE49-F238E27FC236}">
                <a16:creationId xmlns:a16="http://schemas.microsoft.com/office/drawing/2014/main" id="{A4AA6F73-75C3-E493-1073-5D56B5E26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273030" y="1318099"/>
            <a:ext cx="3621932" cy="36219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62AF34-59A9-7976-B62F-0F821CF15C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21" t="20547" r="15620" b="14438"/>
          <a:stretch>
            <a:fillRect/>
          </a:stretch>
        </p:blipFill>
        <p:spPr>
          <a:xfrm>
            <a:off x="6867728" y="1472121"/>
            <a:ext cx="3621932" cy="34679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CEBC9C-C0B6-A8D9-A5E8-1469931A9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7BB77-2424-B12C-D7F8-12AFE0DD6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4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0F538FE-C9F5-92EB-DAE3-8F1389254457}"/>
              </a:ext>
            </a:extLst>
          </p:cNvPr>
          <p:cNvGrpSpPr/>
          <p:nvPr/>
        </p:nvGrpSpPr>
        <p:grpSpPr>
          <a:xfrm>
            <a:off x="-138338" y="457200"/>
            <a:ext cx="12177938" cy="5838140"/>
            <a:chOff x="-138338" y="457200"/>
            <a:chExt cx="12177938" cy="583814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FC0A41D-7FAB-61ED-37FF-6F34BFD50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5950" y="2448514"/>
              <a:ext cx="5016500" cy="3274128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E5440E7-35AB-EEF2-FAD5-725EDA1FF4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2600" y="1772828"/>
              <a:ext cx="9065" cy="1014363"/>
            </a:xfrm>
            <a:prstGeom prst="straightConnector1">
              <a:avLst/>
            </a:prstGeom>
            <a:ln w="44450">
              <a:solidFill>
                <a:srgbClr val="101D4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C356FAF-AA2D-855A-B585-C11FAFCF4885}"/>
                </a:ext>
              </a:extLst>
            </p:cNvPr>
            <p:cNvCxnSpPr>
              <a:cxnSpLocks/>
            </p:cNvCxnSpPr>
            <p:nvPr/>
          </p:nvCxnSpPr>
          <p:spPr>
            <a:xfrm>
              <a:off x="3786273" y="4292000"/>
              <a:ext cx="1485174" cy="790368"/>
            </a:xfrm>
            <a:prstGeom prst="straightConnector1">
              <a:avLst/>
            </a:prstGeom>
            <a:ln w="44450">
              <a:solidFill>
                <a:srgbClr val="101D4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DC3979CF-974B-06EE-33EB-8B038651090B}"/>
                </a:ext>
              </a:extLst>
            </p:cNvPr>
            <p:cNvSpPr/>
            <p:nvPr/>
          </p:nvSpPr>
          <p:spPr>
            <a:xfrm>
              <a:off x="-138338" y="3691901"/>
              <a:ext cx="4525612" cy="2603439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3CF5F92-7B48-0DAC-F0BD-9FA20E48B9B2}"/>
                </a:ext>
              </a:extLst>
            </p:cNvPr>
            <p:cNvCxnSpPr>
              <a:cxnSpLocks/>
            </p:cNvCxnSpPr>
            <p:nvPr/>
          </p:nvCxnSpPr>
          <p:spPr>
            <a:xfrm>
              <a:off x="2651511" y="2787191"/>
              <a:ext cx="2110676" cy="173956"/>
            </a:xfrm>
            <a:prstGeom prst="straightConnector1">
              <a:avLst/>
            </a:prstGeom>
            <a:ln w="44450">
              <a:solidFill>
                <a:srgbClr val="101D4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505F86E-9C40-9C5C-567C-E89E2E071D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2961147"/>
              <a:ext cx="1708727" cy="858967"/>
            </a:xfrm>
            <a:prstGeom prst="straightConnector1">
              <a:avLst/>
            </a:prstGeom>
            <a:ln w="44450">
              <a:solidFill>
                <a:srgbClr val="101D4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51931DC-7009-D67D-667C-1371AA39CFBE}"/>
                </a:ext>
              </a:extLst>
            </p:cNvPr>
            <p:cNvSpPr txBox="1"/>
            <p:nvPr/>
          </p:nvSpPr>
          <p:spPr>
            <a:xfrm>
              <a:off x="9600318" y="2408202"/>
              <a:ext cx="2210681" cy="85129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Latest value </a:t>
              </a:r>
              <a:r>
                <a:rPr lang="en-US" sz="2000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after 2015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3536534-535A-2719-377A-A2CCAD8A766B}"/>
                </a:ext>
              </a:extLst>
            </p:cNvPr>
            <p:cNvSpPr txBox="1"/>
            <p:nvPr/>
          </p:nvSpPr>
          <p:spPr>
            <a:xfrm>
              <a:off x="9581294" y="3905288"/>
              <a:ext cx="2458306" cy="15323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Latest year</a:t>
              </a:r>
            </a:p>
            <a:p>
              <a:pPr algn="ctr"/>
              <a:r>
                <a:rPr lang="en-US" sz="2000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Most frequent year for the OECD average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5AE7C8D-2AEB-181B-F01A-E61E4C2B19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93429" y="4292000"/>
              <a:ext cx="2287865" cy="290114"/>
            </a:xfrm>
            <a:prstGeom prst="straightConnector1">
              <a:avLst/>
            </a:prstGeom>
            <a:ln w="44450">
              <a:solidFill>
                <a:srgbClr val="101D4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49AA1F6-CE3D-28BF-A4BD-7B44B65AD77D}"/>
                </a:ext>
              </a:extLst>
            </p:cNvPr>
            <p:cNvSpPr txBox="1"/>
            <p:nvPr/>
          </p:nvSpPr>
          <p:spPr>
            <a:xfrm>
              <a:off x="-138338" y="3756558"/>
              <a:ext cx="4525612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Trend over time</a:t>
              </a:r>
            </a:p>
            <a:p>
              <a:pPr algn="ctr"/>
              <a:r>
                <a:rPr lang="en-US" sz="2000" dirty="0" err="1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Colour</a:t>
              </a:r>
              <a:r>
                <a:rPr lang="en-US" sz="2000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-coded by change since 2015</a:t>
              </a:r>
            </a:p>
            <a:p>
              <a:pPr algn="ctr"/>
              <a:endParaRPr lang="en-US" sz="2000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BCBE95E-9CB2-FF13-AF3A-E164CE9FF8D3}"/>
                </a:ext>
              </a:extLst>
            </p:cNvPr>
            <p:cNvGrpSpPr/>
            <p:nvPr/>
          </p:nvGrpSpPr>
          <p:grpSpPr>
            <a:xfrm>
              <a:off x="1981200" y="457200"/>
              <a:ext cx="8610600" cy="1381714"/>
              <a:chOff x="1981200" y="457200"/>
              <a:chExt cx="8305800" cy="1381714"/>
            </a:xfrm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11EE2251-C1E8-F56F-E084-620559E9BC42}"/>
                  </a:ext>
                </a:extLst>
              </p:cNvPr>
              <p:cNvSpPr/>
              <p:nvPr/>
            </p:nvSpPr>
            <p:spPr>
              <a:xfrm>
                <a:off x="1981200" y="457200"/>
                <a:ext cx="8305800" cy="1381714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A8AB47-7C74-3CC2-0717-BA5496D947BC}"/>
                  </a:ext>
                </a:extLst>
              </p:cNvPr>
              <p:cNvSpPr txBox="1"/>
              <p:nvPr/>
            </p:nvSpPr>
            <p:spPr>
              <a:xfrm>
                <a:off x="1981200" y="562660"/>
                <a:ext cx="8305800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OECD country ranking</a:t>
                </a:r>
              </a:p>
              <a:p>
                <a:pPr algn="ctr"/>
                <a:r>
                  <a:rPr lang="en-US" sz="2000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Displayed for OECD countries only</a:t>
                </a:r>
              </a:p>
            </p:txBody>
          </p:sp>
          <p:pic>
            <p:nvPicPr>
              <p:cNvPr id="29" name="Graphic 28" descr="Badge 1 with solid fill">
                <a:extLst>
                  <a:ext uri="{FF2B5EF4-FFF2-40B4-BE49-F238E27FC236}">
                    <a16:creationId xmlns:a16="http://schemas.microsoft.com/office/drawing/2014/main" id="{D3942C45-9EB2-AAF1-FE16-3683FAC44E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329873" y="1296722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0" name="Graphic 29" descr="Badge with solid fill">
                <a:extLst>
                  <a:ext uri="{FF2B5EF4-FFF2-40B4-BE49-F238E27FC236}">
                    <a16:creationId xmlns:a16="http://schemas.microsoft.com/office/drawing/2014/main" id="{709408C5-60E9-3D33-4ED0-694136C841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930073" y="1315628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2" name="Graphic 31" descr="Badge 3 with solid fill">
                <a:extLst>
                  <a:ext uri="{FF2B5EF4-FFF2-40B4-BE49-F238E27FC236}">
                    <a16:creationId xmlns:a16="http://schemas.microsoft.com/office/drawing/2014/main" id="{E43C0D0A-E315-B527-3E58-97BE40755A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5835073" y="1283699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523FE802-E113-3C6C-3791-80C2113DA9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l="14821" t="20547" r="15620" b="14438"/>
              <a:stretch>
                <a:fillRect/>
              </a:stretch>
            </p:blipFill>
            <p:spPr>
              <a:xfrm>
                <a:off x="7816273" y="1303248"/>
                <a:ext cx="457200" cy="437758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48D31A1-628D-27D3-D98F-907751CB707C}"/>
                  </a:ext>
                </a:extLst>
              </p:cNvPr>
              <p:cNvSpPr txBox="1"/>
              <p:nvPr/>
            </p:nvSpPr>
            <p:spPr>
              <a:xfrm>
                <a:off x="2787073" y="1351440"/>
                <a:ext cx="117311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Top third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B821C54-1F47-91AF-6327-D5F558A51448}"/>
                  </a:ext>
                </a:extLst>
              </p:cNvPr>
              <p:cNvSpPr txBox="1"/>
              <p:nvPr/>
            </p:nvSpPr>
            <p:spPr>
              <a:xfrm>
                <a:off x="4387273" y="1358455"/>
                <a:ext cx="153541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Middle third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E25CD7A-8031-7F31-5CD2-447D8C3D128C}"/>
                  </a:ext>
                </a:extLst>
              </p:cNvPr>
              <p:cNvSpPr txBox="1"/>
              <p:nvPr/>
            </p:nvSpPr>
            <p:spPr>
              <a:xfrm>
                <a:off x="6292273" y="1344650"/>
                <a:ext cx="153541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Bottom third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357363-DCE9-ADAF-7F70-360603F8D308}"/>
                  </a:ext>
                </a:extLst>
              </p:cNvPr>
              <p:cNvSpPr txBox="1"/>
              <p:nvPr/>
            </p:nvSpPr>
            <p:spPr>
              <a:xfrm>
                <a:off x="8273473" y="1348895"/>
                <a:ext cx="2013527" cy="378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Not enough data</a:t>
                </a: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6DB6922-A1B6-D390-B4DA-7C8822386BFB}"/>
                </a:ext>
              </a:extLst>
            </p:cNvPr>
            <p:cNvSpPr txBox="1"/>
            <p:nvPr/>
          </p:nvSpPr>
          <p:spPr>
            <a:xfrm>
              <a:off x="381002" y="2115286"/>
              <a:ext cx="2404894" cy="132802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Well-being dimension icon</a:t>
              </a:r>
              <a:endParaRPr lang="en-US" sz="2000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C2216AE-B109-A863-CEC0-BDFDCD06A502}"/>
                </a:ext>
              </a:extLst>
            </p:cNvPr>
            <p:cNvGrpSpPr/>
            <p:nvPr/>
          </p:nvGrpSpPr>
          <p:grpSpPr>
            <a:xfrm>
              <a:off x="228600" y="4572000"/>
              <a:ext cx="4041620" cy="1544504"/>
              <a:chOff x="27053" y="4461655"/>
              <a:chExt cx="4341674" cy="168114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5EE1333-AA58-A1F7-9F29-5CE9A9EDBB93}"/>
                  </a:ext>
                </a:extLst>
              </p:cNvPr>
              <p:cNvSpPr/>
              <p:nvPr/>
            </p:nvSpPr>
            <p:spPr>
              <a:xfrm>
                <a:off x="27053" y="4544595"/>
                <a:ext cx="228600" cy="226128"/>
              </a:xfrm>
              <a:prstGeom prst="ellipse">
                <a:avLst/>
              </a:prstGeom>
              <a:solidFill>
                <a:srgbClr val="0D855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8739798-E640-5664-BCA7-6B267C66F8A5}"/>
                  </a:ext>
                </a:extLst>
              </p:cNvPr>
              <p:cNvSpPr/>
              <p:nvPr/>
            </p:nvSpPr>
            <p:spPr>
              <a:xfrm>
                <a:off x="27053" y="4969297"/>
                <a:ext cx="228600" cy="226128"/>
              </a:xfrm>
              <a:prstGeom prst="ellipse">
                <a:avLst/>
              </a:prstGeom>
              <a:solidFill>
                <a:srgbClr val="DBA5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8987D49-D729-6BA2-90DE-24F0DF7767BD}"/>
                  </a:ext>
                </a:extLst>
              </p:cNvPr>
              <p:cNvSpPr/>
              <p:nvPr/>
            </p:nvSpPr>
            <p:spPr>
              <a:xfrm>
                <a:off x="27053" y="5384004"/>
                <a:ext cx="228600" cy="226128"/>
              </a:xfrm>
              <a:prstGeom prst="ellipse">
                <a:avLst/>
              </a:prstGeom>
              <a:solidFill>
                <a:srgbClr val="D0597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CC3ED0C-2447-B51A-4948-B2AB2A1085DD}"/>
                  </a:ext>
                </a:extLst>
              </p:cNvPr>
              <p:cNvSpPr/>
              <p:nvPr/>
            </p:nvSpPr>
            <p:spPr>
              <a:xfrm>
                <a:off x="27053" y="5800726"/>
                <a:ext cx="228600" cy="226128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D141C5A-7615-8790-5507-5382C8BDCC81}"/>
                  </a:ext>
                </a:extLst>
              </p:cNvPr>
              <p:cNvSpPr txBox="1"/>
              <p:nvPr/>
            </p:nvSpPr>
            <p:spPr>
              <a:xfrm>
                <a:off x="366114" y="4461655"/>
                <a:ext cx="2754540" cy="402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Improving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4889D7E-6AF3-C7B8-4CC0-3EE894AE3682}"/>
                  </a:ext>
                </a:extLst>
              </p:cNvPr>
              <p:cNvSpPr txBox="1"/>
              <p:nvPr/>
            </p:nvSpPr>
            <p:spPr>
              <a:xfrm>
                <a:off x="337510" y="4876360"/>
                <a:ext cx="2647010" cy="402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No clear change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200EA7-1D08-68D9-6E31-46DF3F3E537C}"/>
                  </a:ext>
                </a:extLst>
              </p:cNvPr>
              <p:cNvSpPr txBox="1"/>
              <p:nvPr/>
            </p:nvSpPr>
            <p:spPr>
              <a:xfrm>
                <a:off x="337510" y="5296065"/>
                <a:ext cx="2724430" cy="402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Deteriorating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EC6561F-6BE6-1313-07BD-87EC0E348668}"/>
                  </a:ext>
                </a:extLst>
              </p:cNvPr>
              <p:cNvSpPr txBox="1"/>
              <p:nvPr/>
            </p:nvSpPr>
            <p:spPr>
              <a:xfrm>
                <a:off x="310597" y="5740791"/>
                <a:ext cx="4058130" cy="402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Not enough data to assess change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2960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61D7089D-5F3B-E2AD-28FE-92F07661EDC1}"/>
              </a:ext>
            </a:extLst>
          </p:cNvPr>
          <p:cNvGrpSpPr/>
          <p:nvPr/>
        </p:nvGrpSpPr>
        <p:grpSpPr>
          <a:xfrm>
            <a:off x="-139262" y="914400"/>
            <a:ext cx="12559862" cy="4419600"/>
            <a:chOff x="-139262" y="914400"/>
            <a:chExt cx="12559862" cy="44196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8392708-82FC-5B2C-12CB-6632A773D7E0}"/>
                </a:ext>
              </a:extLst>
            </p:cNvPr>
            <p:cNvSpPr/>
            <p:nvPr/>
          </p:nvSpPr>
          <p:spPr>
            <a:xfrm>
              <a:off x="-139262" y="914400"/>
              <a:ext cx="12559862" cy="441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F406983-86C3-E73B-64CE-8C487DEE4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3138" y="990600"/>
              <a:ext cx="8954231" cy="4294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7083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F06D-5735-1C1F-3360-ECF2750C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F16A0D-ED6E-70E2-9653-D345D713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950" y="2448514"/>
            <a:ext cx="5016500" cy="327412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99FB4C-2C2D-A1B1-2CF1-6C85F934A8B3}"/>
              </a:ext>
            </a:extLst>
          </p:cNvPr>
          <p:cNvCxnSpPr>
            <a:cxnSpLocks/>
          </p:cNvCxnSpPr>
          <p:nvPr/>
        </p:nvCxnSpPr>
        <p:spPr>
          <a:xfrm flipH="1">
            <a:off x="5562600" y="1772828"/>
            <a:ext cx="9065" cy="1014363"/>
          </a:xfrm>
          <a:prstGeom prst="straightConnector1">
            <a:avLst/>
          </a:prstGeom>
          <a:ln w="44450">
            <a:solidFill>
              <a:srgbClr val="101D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5D68BB-2C8B-850A-F483-D539A08DF535}"/>
              </a:ext>
            </a:extLst>
          </p:cNvPr>
          <p:cNvCxnSpPr>
            <a:cxnSpLocks/>
          </p:cNvCxnSpPr>
          <p:nvPr/>
        </p:nvCxnSpPr>
        <p:spPr>
          <a:xfrm>
            <a:off x="3786273" y="4292000"/>
            <a:ext cx="1485174" cy="790368"/>
          </a:xfrm>
          <a:prstGeom prst="straightConnector1">
            <a:avLst/>
          </a:prstGeom>
          <a:ln w="44450">
            <a:solidFill>
              <a:srgbClr val="101D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0F60433-1D0C-B165-5769-9BB506459746}"/>
              </a:ext>
            </a:extLst>
          </p:cNvPr>
          <p:cNvSpPr/>
          <p:nvPr/>
        </p:nvSpPr>
        <p:spPr>
          <a:xfrm>
            <a:off x="-138338" y="3691901"/>
            <a:ext cx="4525612" cy="316609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01D4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110E10-92B4-9CC4-7017-765A0E420A15}"/>
              </a:ext>
            </a:extLst>
          </p:cNvPr>
          <p:cNvCxnSpPr>
            <a:cxnSpLocks/>
          </p:cNvCxnSpPr>
          <p:nvPr/>
        </p:nvCxnSpPr>
        <p:spPr>
          <a:xfrm>
            <a:off x="2651511" y="2787191"/>
            <a:ext cx="2110676" cy="173956"/>
          </a:xfrm>
          <a:prstGeom prst="straightConnector1">
            <a:avLst/>
          </a:prstGeom>
          <a:ln w="44450">
            <a:solidFill>
              <a:srgbClr val="101D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8D6A0D6-9854-B742-3DA9-A34C244B1F5C}"/>
              </a:ext>
            </a:extLst>
          </p:cNvPr>
          <p:cNvCxnSpPr>
            <a:cxnSpLocks/>
          </p:cNvCxnSpPr>
          <p:nvPr/>
        </p:nvCxnSpPr>
        <p:spPr>
          <a:xfrm flipH="1">
            <a:off x="8229600" y="2961147"/>
            <a:ext cx="1708727" cy="858967"/>
          </a:xfrm>
          <a:prstGeom prst="straightConnector1">
            <a:avLst/>
          </a:prstGeom>
          <a:ln w="44450">
            <a:solidFill>
              <a:srgbClr val="101D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C29F44-EA4C-0A66-CEF1-84945F625F32}"/>
              </a:ext>
            </a:extLst>
          </p:cNvPr>
          <p:cNvSpPr txBox="1"/>
          <p:nvPr/>
        </p:nvSpPr>
        <p:spPr>
          <a:xfrm>
            <a:off x="9600318" y="2408202"/>
            <a:ext cx="2210681" cy="125991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Valeur la plus récente </a:t>
            </a:r>
            <a:r>
              <a:rPr lang="fr-FR" sz="2000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après 2015</a:t>
            </a:r>
            <a:endParaRPr lang="en-US" sz="2000" dirty="0">
              <a:solidFill>
                <a:srgbClr val="101D4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44BD12-B5D8-A362-E4D4-B918812341AD}"/>
              </a:ext>
            </a:extLst>
          </p:cNvPr>
          <p:cNvSpPr txBox="1"/>
          <p:nvPr/>
        </p:nvSpPr>
        <p:spPr>
          <a:xfrm>
            <a:off x="9581294" y="3905288"/>
            <a:ext cx="2458306" cy="228147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Année la plus récente</a:t>
            </a:r>
          </a:p>
          <a:p>
            <a:pPr algn="ctr"/>
            <a:r>
              <a:rPr lang="fr-FR" sz="2000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Dernière année la plus fréquente pour la moyenne de l’OCDE</a:t>
            </a:r>
            <a:endParaRPr lang="en-US" sz="2000" dirty="0">
              <a:solidFill>
                <a:srgbClr val="101D4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7FA13E7-9A0A-2B26-75F8-BD0BAAC0184C}"/>
              </a:ext>
            </a:extLst>
          </p:cNvPr>
          <p:cNvCxnSpPr>
            <a:cxnSpLocks/>
          </p:cNvCxnSpPr>
          <p:nvPr/>
        </p:nvCxnSpPr>
        <p:spPr>
          <a:xfrm flipH="1" flipV="1">
            <a:off x="7293429" y="4292000"/>
            <a:ext cx="2287865" cy="290114"/>
          </a:xfrm>
          <a:prstGeom prst="straightConnector1">
            <a:avLst/>
          </a:prstGeom>
          <a:ln w="44450">
            <a:solidFill>
              <a:srgbClr val="101D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37780FA-31E6-1560-BDEF-7740A5F47A76}"/>
              </a:ext>
            </a:extLst>
          </p:cNvPr>
          <p:cNvSpPr txBox="1"/>
          <p:nvPr/>
        </p:nvSpPr>
        <p:spPr>
          <a:xfrm>
            <a:off x="-138338" y="3756558"/>
            <a:ext cx="45256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Évolution</a:t>
            </a:r>
            <a:r>
              <a:rPr lang="en-US" sz="2400" b="1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dans le temps</a:t>
            </a:r>
          </a:p>
          <a:p>
            <a:pPr algn="ctr"/>
            <a:r>
              <a:rPr lang="fr-FR" sz="2000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Code couleur selon l’évolution depuis 2015</a:t>
            </a:r>
            <a:endParaRPr lang="en-US" sz="2000" dirty="0">
              <a:solidFill>
                <a:srgbClr val="101D4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8A7BCC3-6265-C4BE-0406-E28B8E06577E}"/>
              </a:ext>
            </a:extLst>
          </p:cNvPr>
          <p:cNvGrpSpPr/>
          <p:nvPr/>
        </p:nvGrpSpPr>
        <p:grpSpPr>
          <a:xfrm>
            <a:off x="1981200" y="304799"/>
            <a:ext cx="8610599" cy="1617083"/>
            <a:chOff x="1981201" y="304799"/>
            <a:chExt cx="8305800" cy="1617083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697C3C52-4032-0172-A01B-A08AC69A1963}"/>
                </a:ext>
              </a:extLst>
            </p:cNvPr>
            <p:cNvSpPr/>
            <p:nvPr/>
          </p:nvSpPr>
          <p:spPr>
            <a:xfrm>
              <a:off x="2128205" y="304799"/>
              <a:ext cx="8011791" cy="1617083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153531D-57DD-08D5-B984-C2C9AD67126D}"/>
                </a:ext>
              </a:extLst>
            </p:cNvPr>
            <p:cNvSpPr txBox="1"/>
            <p:nvPr/>
          </p:nvSpPr>
          <p:spPr>
            <a:xfrm>
              <a:off x="1981201" y="395621"/>
              <a:ext cx="830580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Classement des pays de l’OCDE</a:t>
              </a:r>
            </a:p>
            <a:p>
              <a:pPr algn="ctr"/>
              <a:r>
                <a:rPr lang="fr-FR" sz="2000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Le niveau n’est affiché que pour les pays de l’OCDE</a:t>
              </a:r>
              <a:endParaRPr lang="en-US" sz="2000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pic>
          <p:nvPicPr>
            <p:cNvPr id="29" name="Graphic 28" descr="Badge 1 with solid fill">
              <a:extLst>
                <a:ext uri="{FF2B5EF4-FFF2-40B4-BE49-F238E27FC236}">
                  <a16:creationId xmlns:a16="http://schemas.microsoft.com/office/drawing/2014/main" id="{D0124051-3683-3C5B-0534-58B4F6688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54534" y="1263770"/>
              <a:ext cx="457200" cy="457200"/>
            </a:xfrm>
            <a:prstGeom prst="rect">
              <a:avLst/>
            </a:prstGeom>
          </p:spPr>
        </p:pic>
        <p:pic>
          <p:nvPicPr>
            <p:cNvPr id="30" name="Graphic 29" descr="Badge with solid fill">
              <a:extLst>
                <a:ext uri="{FF2B5EF4-FFF2-40B4-BE49-F238E27FC236}">
                  <a16:creationId xmlns:a16="http://schemas.microsoft.com/office/drawing/2014/main" id="{3E620C6E-2FF8-1611-3EF7-D57740389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78717" y="1249811"/>
              <a:ext cx="457200" cy="457200"/>
            </a:xfrm>
            <a:prstGeom prst="rect">
              <a:avLst/>
            </a:prstGeom>
          </p:spPr>
        </p:pic>
        <p:pic>
          <p:nvPicPr>
            <p:cNvPr id="32" name="Graphic 31" descr="Badge 3 with solid fill">
              <a:extLst>
                <a:ext uri="{FF2B5EF4-FFF2-40B4-BE49-F238E27FC236}">
                  <a16:creationId xmlns:a16="http://schemas.microsoft.com/office/drawing/2014/main" id="{33B70F83-6035-D146-4FB7-6C05BFE7D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5942306" y="1283699"/>
              <a:ext cx="457200" cy="4572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DB97937-59FD-5F82-5527-073A5F4B3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14821" t="20547" r="15620" b="14438"/>
            <a:stretch>
              <a:fillRect/>
            </a:stretch>
          </p:blipFill>
          <p:spPr>
            <a:xfrm>
              <a:off x="8102862" y="1303248"/>
              <a:ext cx="457200" cy="437758"/>
            </a:xfrm>
            <a:prstGeom prst="rect">
              <a:avLst/>
            </a:prstGeom>
            <a:ln>
              <a:noFill/>
            </a:ln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545E822-B4A3-1E8E-111E-E5680A8E3DFA}"/>
                </a:ext>
              </a:extLst>
            </p:cNvPr>
            <p:cNvSpPr txBox="1"/>
            <p:nvPr/>
          </p:nvSpPr>
          <p:spPr>
            <a:xfrm>
              <a:off x="2719160" y="1162034"/>
              <a:ext cx="117311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Tiers supérieur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9045B8F-2356-7B76-AB84-0035BB234EC1}"/>
                </a:ext>
              </a:extLst>
            </p:cNvPr>
            <p:cNvSpPr txBox="1"/>
            <p:nvPr/>
          </p:nvSpPr>
          <p:spPr>
            <a:xfrm>
              <a:off x="4341431" y="1179251"/>
              <a:ext cx="153541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Tiers </a:t>
              </a:r>
              <a:r>
                <a:rPr lang="en-US" i="1" dirty="0" err="1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intermédiaire</a:t>
              </a:r>
              <a:endParaRPr lang="en-US" i="1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9D64B9F-0542-7DE3-2222-6B2C6F395985}"/>
                </a:ext>
              </a:extLst>
            </p:cNvPr>
            <p:cNvSpPr txBox="1"/>
            <p:nvPr/>
          </p:nvSpPr>
          <p:spPr>
            <a:xfrm>
              <a:off x="6399506" y="1344650"/>
              <a:ext cx="153541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Tiers </a:t>
              </a:r>
              <a:r>
                <a:rPr lang="en-US" i="1" dirty="0" err="1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inférieur</a:t>
              </a:r>
              <a:endParaRPr lang="en-US" i="1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992D7F3-84B9-3ED0-0B2D-02F3EF4AC375}"/>
                </a:ext>
              </a:extLst>
            </p:cNvPr>
            <p:cNvSpPr txBox="1"/>
            <p:nvPr/>
          </p:nvSpPr>
          <p:spPr>
            <a:xfrm>
              <a:off x="8567485" y="1179250"/>
              <a:ext cx="153541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Données </a:t>
              </a:r>
              <a:r>
                <a:rPr lang="en-US" i="1" dirty="0" err="1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insuffisantes</a:t>
              </a:r>
              <a:r>
                <a:rPr lang="en-US" i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</a:t>
              </a:r>
              <a:endParaRPr lang="en-US" i="1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46A77902-07BC-314C-86D7-C380E5C76080}"/>
              </a:ext>
            </a:extLst>
          </p:cNvPr>
          <p:cNvSpPr txBox="1"/>
          <p:nvPr/>
        </p:nvSpPr>
        <p:spPr>
          <a:xfrm>
            <a:off x="381002" y="2115286"/>
            <a:ext cx="2404894" cy="1328023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Icône de la dimension du bien-être</a:t>
            </a:r>
            <a:endParaRPr lang="en-US" sz="2000" dirty="0">
              <a:solidFill>
                <a:srgbClr val="101D4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42C32B4-A42A-4DB9-BDEB-ED253914232E}"/>
              </a:ext>
            </a:extLst>
          </p:cNvPr>
          <p:cNvGrpSpPr/>
          <p:nvPr/>
        </p:nvGrpSpPr>
        <p:grpSpPr>
          <a:xfrm>
            <a:off x="228600" y="4932484"/>
            <a:ext cx="4246969" cy="1821512"/>
            <a:chOff x="27053" y="4854031"/>
            <a:chExt cx="4562268" cy="198265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D32219E-7A1D-6E11-DE8F-DA31CEC99657}"/>
                </a:ext>
              </a:extLst>
            </p:cNvPr>
            <p:cNvSpPr/>
            <p:nvPr/>
          </p:nvSpPr>
          <p:spPr>
            <a:xfrm>
              <a:off x="27053" y="4936978"/>
              <a:ext cx="228600" cy="226128"/>
            </a:xfrm>
            <a:prstGeom prst="ellipse">
              <a:avLst/>
            </a:prstGeom>
            <a:solidFill>
              <a:srgbClr val="0D85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12F277C-A69F-8CBD-9644-3428385FB5E0}"/>
                </a:ext>
              </a:extLst>
            </p:cNvPr>
            <p:cNvSpPr/>
            <p:nvPr/>
          </p:nvSpPr>
          <p:spPr>
            <a:xfrm>
              <a:off x="27053" y="5361679"/>
              <a:ext cx="228600" cy="226128"/>
            </a:xfrm>
            <a:prstGeom prst="ellipse">
              <a:avLst/>
            </a:prstGeom>
            <a:solidFill>
              <a:srgbClr val="DBA5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3A0469F-B0FE-639B-2E73-3E96E4EE8F62}"/>
                </a:ext>
              </a:extLst>
            </p:cNvPr>
            <p:cNvSpPr/>
            <p:nvPr/>
          </p:nvSpPr>
          <p:spPr>
            <a:xfrm>
              <a:off x="27053" y="5776386"/>
              <a:ext cx="228600" cy="226128"/>
            </a:xfrm>
            <a:prstGeom prst="ellipse">
              <a:avLst/>
            </a:prstGeom>
            <a:solidFill>
              <a:srgbClr val="D0597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5F36EDF-72F5-A96B-23DA-C82C5EB35EB9}"/>
                </a:ext>
              </a:extLst>
            </p:cNvPr>
            <p:cNvSpPr/>
            <p:nvPr/>
          </p:nvSpPr>
          <p:spPr>
            <a:xfrm>
              <a:off x="27053" y="6193108"/>
              <a:ext cx="228600" cy="226128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39A1FAF-D8EC-2CAD-172E-D65D74C0286D}"/>
                </a:ext>
              </a:extLst>
            </p:cNvPr>
            <p:cNvSpPr txBox="1"/>
            <p:nvPr/>
          </p:nvSpPr>
          <p:spPr>
            <a:xfrm>
              <a:off x="366114" y="4854031"/>
              <a:ext cx="2754540" cy="402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Amélioration</a:t>
              </a:r>
              <a:endParaRPr lang="en-US" i="1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CDCF6D3-6E9D-9BDB-20BA-96B196D1F815}"/>
                </a:ext>
              </a:extLst>
            </p:cNvPr>
            <p:cNvSpPr txBox="1"/>
            <p:nvPr/>
          </p:nvSpPr>
          <p:spPr>
            <a:xfrm>
              <a:off x="337510" y="5268741"/>
              <a:ext cx="2647010" cy="402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Stabilité</a:t>
              </a:r>
              <a:endParaRPr lang="en-US" i="1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09A3E24-D602-CF91-8E14-A1FEEAC04F10}"/>
                </a:ext>
              </a:extLst>
            </p:cNvPr>
            <p:cNvSpPr txBox="1"/>
            <p:nvPr/>
          </p:nvSpPr>
          <p:spPr>
            <a:xfrm>
              <a:off x="337510" y="5688449"/>
              <a:ext cx="2724430" cy="402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Dégradation</a:t>
              </a:r>
              <a:endParaRPr lang="en-US" i="1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D88C834-520A-9EC2-F403-ED3C268CCBFD}"/>
                </a:ext>
              </a:extLst>
            </p:cNvPr>
            <p:cNvSpPr txBox="1"/>
            <p:nvPr/>
          </p:nvSpPr>
          <p:spPr>
            <a:xfrm>
              <a:off x="310596" y="6133176"/>
              <a:ext cx="4278725" cy="703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i="1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Données insuffisantes pour déterminer l’évolution</a:t>
              </a:r>
              <a:endParaRPr lang="en-US" i="1" dirty="0">
                <a:solidFill>
                  <a:srgbClr val="101D4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9974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ECD75-303D-7F62-7FF6-2332B4181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E384FED8-8CD8-3F30-590C-D760E2DCED9A}"/>
              </a:ext>
            </a:extLst>
          </p:cNvPr>
          <p:cNvSpPr/>
          <p:nvPr/>
        </p:nvSpPr>
        <p:spPr>
          <a:xfrm>
            <a:off x="-380562" y="914400"/>
            <a:ext cx="12559862" cy="441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A3F49DF-0286-2143-DD19-EC92BE97F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952500"/>
            <a:ext cx="8007663" cy="429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93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E53AB-9084-0EDC-3E81-9D6A25127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E6CDA5EB-DCE4-7F61-17CF-0E6B3AEBE755}"/>
              </a:ext>
            </a:extLst>
          </p:cNvPr>
          <p:cNvGrpSpPr/>
          <p:nvPr/>
        </p:nvGrpSpPr>
        <p:grpSpPr>
          <a:xfrm>
            <a:off x="-1789178" y="-256127"/>
            <a:ext cx="14551407" cy="7687704"/>
            <a:chOff x="-1789178" y="-256127"/>
            <a:chExt cx="14551407" cy="7687704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217BBFED-9B8A-6365-A10F-E758DD723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40972" y="2066378"/>
              <a:ext cx="4580389" cy="3100570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123C15A-A058-9B2A-0B76-71B65B934F41}"/>
                </a:ext>
              </a:extLst>
            </p:cNvPr>
            <p:cNvGrpSpPr/>
            <p:nvPr/>
          </p:nvGrpSpPr>
          <p:grpSpPr>
            <a:xfrm>
              <a:off x="-1789178" y="-256127"/>
              <a:ext cx="14551407" cy="7687704"/>
              <a:chOff x="-1789178" y="-256127"/>
              <a:chExt cx="14551407" cy="7687704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91EB7167-E605-E657-FB1A-BA5FD5B01C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76010" y="753473"/>
                <a:ext cx="307428" cy="1544959"/>
              </a:xfrm>
              <a:prstGeom prst="straightConnector1">
                <a:avLst/>
              </a:prstGeom>
              <a:ln w="44450">
                <a:solidFill>
                  <a:srgbClr val="101D4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1AE67D86-8FD3-F821-7BA6-E980FDD240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55581" y="4303581"/>
                <a:ext cx="1461596" cy="1193360"/>
              </a:xfrm>
              <a:prstGeom prst="straightConnector1">
                <a:avLst/>
              </a:prstGeom>
              <a:ln w="44450">
                <a:solidFill>
                  <a:srgbClr val="101D4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392C4DA3-BB8B-8BF2-6735-F4835BA6A0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39597" y="3125039"/>
                <a:ext cx="2221819" cy="94773"/>
              </a:xfrm>
              <a:prstGeom prst="straightConnector1">
                <a:avLst/>
              </a:prstGeom>
              <a:ln w="44450">
                <a:solidFill>
                  <a:srgbClr val="101D4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53C7D5A-0D9C-D121-FBAC-24DA3B5A86A5}"/>
                  </a:ext>
                </a:extLst>
              </p:cNvPr>
              <p:cNvSpPr txBox="1"/>
              <p:nvPr/>
            </p:nvSpPr>
            <p:spPr>
              <a:xfrm>
                <a:off x="9574216" y="1837998"/>
                <a:ext cx="3188013" cy="228147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Groupe de population</a:t>
                </a:r>
              </a:p>
              <a:p>
                <a:pPr algn="ctr"/>
                <a:r>
                  <a:rPr lang="fr-FR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Coloré pour correspondre au groupe dans les graphiques ci-dessous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DEB68370-19EE-4A40-CC89-D9F3291B25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159285" y="3638189"/>
                <a:ext cx="2414931" cy="1162411"/>
              </a:xfrm>
              <a:prstGeom prst="straightConnector1">
                <a:avLst/>
              </a:prstGeom>
              <a:ln w="44450">
                <a:solidFill>
                  <a:srgbClr val="101D4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CADE8A02-FC19-07E1-951C-E817FD1D80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6189" y="2534029"/>
                <a:ext cx="1433602" cy="185551"/>
              </a:xfrm>
              <a:prstGeom prst="straightConnector1">
                <a:avLst/>
              </a:prstGeom>
              <a:ln w="44450">
                <a:solidFill>
                  <a:srgbClr val="101D4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E2C7371-610D-C10A-950E-E9C1A3BA1138}"/>
                  </a:ext>
                </a:extLst>
              </p:cNvPr>
              <p:cNvSpPr txBox="1"/>
              <p:nvPr/>
            </p:nvSpPr>
            <p:spPr>
              <a:xfrm>
                <a:off x="-1789178" y="308488"/>
                <a:ext cx="5641590" cy="364355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b="1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L’écart par rapport à la moyenne de la population</a:t>
                </a:r>
              </a:p>
              <a:p>
                <a:pPr algn="ctr"/>
                <a:r>
                  <a:rPr lang="fr-FR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Indique si l’écart entre ce groupe et la moyenne de la population se réduit ou se creuse depuis 2015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  <a:p>
                <a:pPr algn="ctr"/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  <a:p>
                <a:pPr algn="ctr"/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  <a:p>
                <a:pPr algn="ctr"/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  <a:p>
                <a:pPr algn="ctr"/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  <a:p>
                <a:pPr algn="ctr"/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56EA75E-EA3A-E3B4-519C-AFEC324E7809}"/>
                  </a:ext>
                </a:extLst>
              </p:cNvPr>
              <p:cNvGrpSpPr/>
              <p:nvPr/>
            </p:nvGrpSpPr>
            <p:grpSpPr>
              <a:xfrm>
                <a:off x="-1524000" y="2854052"/>
                <a:ext cx="350777" cy="365760"/>
                <a:chOff x="6786284" y="1567200"/>
                <a:chExt cx="3328708" cy="331014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AAC0DD6D-4CC8-F4E8-963E-A88A29647C56}"/>
                    </a:ext>
                  </a:extLst>
                </p:cNvPr>
                <p:cNvSpPr/>
                <p:nvPr/>
              </p:nvSpPr>
              <p:spPr>
                <a:xfrm>
                  <a:off x="7002838" y="1752600"/>
                  <a:ext cx="2895600" cy="2895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pic>
              <p:nvPicPr>
                <p:cNvPr id="14" name="Graphic 13">
                  <a:extLst>
                    <a:ext uri="{FF2B5EF4-FFF2-40B4-BE49-F238E27FC236}">
                      <a16:creationId xmlns:a16="http://schemas.microsoft.com/office/drawing/2014/main" id="{8DB9CA21-0587-1A6B-F564-9F85975324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b="18638"/>
                <a:stretch>
                  <a:fillRect/>
                </a:stretch>
              </p:blipFill>
              <p:spPr>
                <a:xfrm>
                  <a:off x="6786284" y="1567200"/>
                  <a:ext cx="3328708" cy="3310141"/>
                </a:xfrm>
                <a:prstGeom prst="rect">
                  <a:avLst/>
                </a:prstGeom>
              </p:spPr>
            </p:pic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4C1EAAE-E3F4-3133-DDA3-DBDD390558EF}"/>
                  </a:ext>
                </a:extLst>
              </p:cNvPr>
              <p:cNvGrpSpPr/>
              <p:nvPr/>
            </p:nvGrpSpPr>
            <p:grpSpPr>
              <a:xfrm>
                <a:off x="-1523999" y="3368040"/>
                <a:ext cx="365760" cy="365760"/>
                <a:chOff x="1610849" y="1567201"/>
                <a:chExt cx="3293409" cy="3220216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048A3F5B-CACA-E3A9-046D-50B6BDCB950C}"/>
                    </a:ext>
                  </a:extLst>
                </p:cNvPr>
                <p:cNvSpPr/>
                <p:nvPr/>
              </p:nvSpPr>
              <p:spPr>
                <a:xfrm>
                  <a:off x="1828800" y="1752600"/>
                  <a:ext cx="2895600" cy="28194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AEF99780-C47A-6379-34E2-99E4B87DCB2A}"/>
                    </a:ext>
                  </a:extLst>
                </p:cNvPr>
                <p:cNvGrpSpPr/>
                <p:nvPr/>
              </p:nvGrpSpPr>
              <p:grpSpPr>
                <a:xfrm>
                  <a:off x="1610849" y="1567201"/>
                  <a:ext cx="3293409" cy="3220216"/>
                  <a:chOff x="7033932" y="1567200"/>
                  <a:chExt cx="3293409" cy="3220216"/>
                </a:xfrm>
                <a:solidFill>
                  <a:schemeClr val="tx1">
                    <a:lumMod val="50000"/>
                    <a:lumOff val="50000"/>
                  </a:schemeClr>
                </a:solidFill>
              </p:grpSpPr>
              <p:grpSp>
                <p:nvGrpSpPr>
                  <p:cNvPr id="19" name="Graphic 4">
                    <a:extLst>
                      <a:ext uri="{FF2B5EF4-FFF2-40B4-BE49-F238E27FC236}">
                        <a16:creationId xmlns:a16="http://schemas.microsoft.com/office/drawing/2014/main" id="{8C1EED68-EBFD-267F-A7F7-3992F3ACB7F6}"/>
                      </a:ext>
                    </a:extLst>
                  </p:cNvPr>
                  <p:cNvGrpSpPr/>
                  <p:nvPr/>
                </p:nvGrpSpPr>
                <p:grpSpPr>
                  <a:xfrm>
                    <a:off x="7033932" y="1567200"/>
                    <a:ext cx="3293409" cy="3220216"/>
                    <a:chOff x="7033932" y="1567200"/>
                    <a:chExt cx="3293409" cy="3220216"/>
                  </a:xfrm>
                  <a:grpFill/>
                </p:grpSpPr>
                <p:sp>
                  <p:nvSpPr>
                    <p:cNvPr id="21" name="Freeform 20">
                      <a:extLst>
                        <a:ext uri="{FF2B5EF4-FFF2-40B4-BE49-F238E27FC236}">
                          <a16:creationId xmlns:a16="http://schemas.microsoft.com/office/drawing/2014/main" id="{97A0AAAC-EF40-85AB-B171-810B29494A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33932" y="1567200"/>
                      <a:ext cx="3293409" cy="3220216"/>
                    </a:xfrm>
                    <a:custGeom>
                      <a:avLst/>
                      <a:gdLst>
                        <a:gd name="connsiteX0" fmla="*/ 1646705 w 3293409"/>
                        <a:gd name="connsiteY0" fmla="*/ 0 h 3220216"/>
                        <a:gd name="connsiteX1" fmla="*/ 0 w 3293409"/>
                        <a:gd name="connsiteY1" fmla="*/ 1610108 h 3220216"/>
                        <a:gd name="connsiteX2" fmla="*/ 1646705 w 3293409"/>
                        <a:gd name="connsiteY2" fmla="*/ 3220217 h 3220216"/>
                        <a:gd name="connsiteX3" fmla="*/ 3293409 w 3293409"/>
                        <a:gd name="connsiteY3" fmla="*/ 1610108 h 3220216"/>
                        <a:gd name="connsiteX4" fmla="*/ 1646705 w 3293409"/>
                        <a:gd name="connsiteY4" fmla="*/ 0 h 3220216"/>
                        <a:gd name="connsiteX5" fmla="*/ 1646705 w 3293409"/>
                        <a:gd name="connsiteY5" fmla="*/ 2951865 h 3220216"/>
                        <a:gd name="connsiteX6" fmla="*/ 274451 w 3293409"/>
                        <a:gd name="connsiteY6" fmla="*/ 1610108 h 3220216"/>
                        <a:gd name="connsiteX7" fmla="*/ 1646705 w 3293409"/>
                        <a:gd name="connsiteY7" fmla="*/ 268351 h 3220216"/>
                        <a:gd name="connsiteX8" fmla="*/ 3018958 w 3293409"/>
                        <a:gd name="connsiteY8" fmla="*/ 1610108 h 3220216"/>
                        <a:gd name="connsiteX9" fmla="*/ 1646705 w 3293409"/>
                        <a:gd name="connsiteY9" fmla="*/ 2951865 h 322021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93409" h="3220216">
                          <a:moveTo>
                            <a:pt x="1646705" y="0"/>
                          </a:moveTo>
                          <a:cubicBezTo>
                            <a:pt x="737312" y="0"/>
                            <a:pt x="0" y="720926"/>
                            <a:pt x="0" y="1610108"/>
                          </a:cubicBezTo>
                          <a:cubicBezTo>
                            <a:pt x="0" y="2499291"/>
                            <a:pt x="737312" y="3220217"/>
                            <a:pt x="1646705" y="3220217"/>
                          </a:cubicBezTo>
                          <a:cubicBezTo>
                            <a:pt x="2556097" y="3220217"/>
                            <a:pt x="3293409" y="2499291"/>
                            <a:pt x="3293409" y="1610108"/>
                          </a:cubicBezTo>
                          <a:cubicBezTo>
                            <a:pt x="3293409" y="720926"/>
                            <a:pt x="2556097" y="0"/>
                            <a:pt x="1646705" y="0"/>
                          </a:cubicBezTo>
                          <a:close/>
                          <a:moveTo>
                            <a:pt x="1646705" y="2951865"/>
                          </a:moveTo>
                          <a:cubicBezTo>
                            <a:pt x="890044" y="2951865"/>
                            <a:pt x="274451" y="2349953"/>
                            <a:pt x="274451" y="1610108"/>
                          </a:cubicBezTo>
                          <a:cubicBezTo>
                            <a:pt x="274451" y="870264"/>
                            <a:pt x="890044" y="268351"/>
                            <a:pt x="1646705" y="268351"/>
                          </a:cubicBezTo>
                          <a:cubicBezTo>
                            <a:pt x="2403365" y="268351"/>
                            <a:pt x="3018958" y="870264"/>
                            <a:pt x="3018958" y="1610108"/>
                          </a:cubicBezTo>
                          <a:cubicBezTo>
                            <a:pt x="3018958" y="2349953"/>
                            <a:pt x="2403365" y="2951865"/>
                            <a:pt x="1646705" y="2951865"/>
                          </a:cubicBezTo>
                          <a:close/>
                        </a:path>
                      </a:pathLst>
                    </a:custGeom>
                    <a:solidFill>
                      <a:srgbClr val="DBA520"/>
                    </a:solidFill>
                    <a:ln w="13692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p:txBody>
                </p:sp>
                <p:sp>
                  <p:nvSpPr>
                    <p:cNvPr id="22" name="Freeform 21">
                      <a:extLst>
                        <a:ext uri="{FF2B5EF4-FFF2-40B4-BE49-F238E27FC236}">
                          <a16:creationId xmlns:a16="http://schemas.microsoft.com/office/drawing/2014/main" id="{F522A618-0CA2-14F5-542A-2655FEC0CA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94509" y="2774190"/>
                      <a:ext cx="1372253" cy="268351"/>
                    </a:xfrm>
                    <a:custGeom>
                      <a:avLst/>
                      <a:gdLst>
                        <a:gd name="connsiteX0" fmla="*/ 0 w 1372253"/>
                        <a:gd name="connsiteY0" fmla="*/ 0 h 268351"/>
                        <a:gd name="connsiteX1" fmla="*/ 1372254 w 1372253"/>
                        <a:gd name="connsiteY1" fmla="*/ 0 h 268351"/>
                        <a:gd name="connsiteX2" fmla="*/ 1372254 w 1372253"/>
                        <a:gd name="connsiteY2" fmla="*/ 268351 h 268351"/>
                        <a:gd name="connsiteX3" fmla="*/ 0 w 1372253"/>
                        <a:gd name="connsiteY3" fmla="*/ 268351 h 2683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2253" h="268351">
                          <a:moveTo>
                            <a:pt x="0" y="0"/>
                          </a:moveTo>
                          <a:lnTo>
                            <a:pt x="1372254" y="0"/>
                          </a:lnTo>
                          <a:lnTo>
                            <a:pt x="1372254" y="268351"/>
                          </a:lnTo>
                          <a:lnTo>
                            <a:pt x="0" y="268351"/>
                          </a:lnTo>
                          <a:close/>
                        </a:path>
                      </a:pathLst>
                    </a:custGeom>
                    <a:solidFill>
                      <a:srgbClr val="DBA520"/>
                    </a:solidFill>
                    <a:ln w="13692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p:txBody>
                </p:sp>
              </p:grpSp>
              <p:sp>
                <p:nvSpPr>
                  <p:cNvPr id="20" name="Freeform 19">
                    <a:extLst>
                      <a:ext uri="{FF2B5EF4-FFF2-40B4-BE49-F238E27FC236}">
                        <a16:creationId xmlns:a16="http://schemas.microsoft.com/office/drawing/2014/main" id="{DED971C6-96EE-C19F-6BD1-D3B88B76FDD4}"/>
                      </a:ext>
                    </a:extLst>
                  </p:cNvPr>
                  <p:cNvSpPr/>
                  <p:nvPr/>
                </p:nvSpPr>
                <p:spPr>
                  <a:xfrm>
                    <a:off x="7994508" y="3361765"/>
                    <a:ext cx="1372253" cy="268351"/>
                  </a:xfrm>
                  <a:custGeom>
                    <a:avLst/>
                    <a:gdLst>
                      <a:gd name="connsiteX0" fmla="*/ 0 w 1372253"/>
                      <a:gd name="connsiteY0" fmla="*/ 0 h 268351"/>
                      <a:gd name="connsiteX1" fmla="*/ 1372254 w 1372253"/>
                      <a:gd name="connsiteY1" fmla="*/ 0 h 268351"/>
                      <a:gd name="connsiteX2" fmla="*/ 1372254 w 1372253"/>
                      <a:gd name="connsiteY2" fmla="*/ 268351 h 268351"/>
                      <a:gd name="connsiteX3" fmla="*/ 0 w 1372253"/>
                      <a:gd name="connsiteY3" fmla="*/ 268351 h 2683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72253" h="268351">
                        <a:moveTo>
                          <a:pt x="0" y="0"/>
                        </a:moveTo>
                        <a:lnTo>
                          <a:pt x="1372254" y="0"/>
                        </a:lnTo>
                        <a:lnTo>
                          <a:pt x="1372254" y="268351"/>
                        </a:lnTo>
                        <a:lnTo>
                          <a:pt x="0" y="268351"/>
                        </a:lnTo>
                        <a:close/>
                      </a:path>
                    </a:pathLst>
                  </a:custGeom>
                  <a:solidFill>
                    <a:srgbClr val="DBA520"/>
                  </a:solidFill>
                  <a:ln w="13692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endParaRPr>
                  </a:p>
                </p:txBody>
              </p:sp>
            </p:grp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67C8CF4F-F86B-B996-3A29-D94C8E714161}"/>
                  </a:ext>
                </a:extLst>
              </p:cNvPr>
              <p:cNvGrpSpPr/>
              <p:nvPr/>
            </p:nvGrpSpPr>
            <p:grpSpPr>
              <a:xfrm>
                <a:off x="-1503526" y="2299604"/>
                <a:ext cx="365760" cy="365760"/>
                <a:chOff x="7069791" y="1590292"/>
                <a:chExt cx="3293409" cy="3220216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15BD62C1-EA27-CFD3-1F60-CBECBE6A550F}"/>
                    </a:ext>
                  </a:extLst>
                </p:cNvPr>
                <p:cNvGrpSpPr/>
                <p:nvPr/>
              </p:nvGrpSpPr>
              <p:grpSpPr>
                <a:xfrm>
                  <a:off x="7069791" y="1590292"/>
                  <a:ext cx="3293409" cy="3220216"/>
                  <a:chOff x="1610849" y="1567201"/>
                  <a:chExt cx="3293409" cy="3220216"/>
                </a:xfrm>
              </p:grpSpPr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1EC50898-8CB2-FC86-5C4E-4E1FFC6B5A57}"/>
                      </a:ext>
                    </a:extLst>
                  </p:cNvPr>
                  <p:cNvSpPr/>
                  <p:nvPr/>
                </p:nvSpPr>
                <p:spPr>
                  <a:xfrm>
                    <a:off x="1828798" y="1752599"/>
                    <a:ext cx="2895599" cy="281939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endParaRPr>
                  </a:p>
                </p:txBody>
              </p:sp>
              <p:sp>
                <p:nvSpPr>
                  <p:cNvPr id="49" name="Freeform 48">
                    <a:extLst>
                      <a:ext uri="{FF2B5EF4-FFF2-40B4-BE49-F238E27FC236}">
                        <a16:creationId xmlns:a16="http://schemas.microsoft.com/office/drawing/2014/main" id="{FE99E9F7-DFCA-9A43-4B5C-A3783D5E6DE5}"/>
                      </a:ext>
                    </a:extLst>
                  </p:cNvPr>
                  <p:cNvSpPr/>
                  <p:nvPr/>
                </p:nvSpPr>
                <p:spPr>
                  <a:xfrm>
                    <a:off x="1610849" y="1567201"/>
                    <a:ext cx="3293409" cy="3220216"/>
                  </a:xfrm>
                  <a:custGeom>
                    <a:avLst/>
                    <a:gdLst>
                      <a:gd name="connsiteX0" fmla="*/ 1646705 w 3293409"/>
                      <a:gd name="connsiteY0" fmla="*/ 0 h 3220216"/>
                      <a:gd name="connsiteX1" fmla="*/ 0 w 3293409"/>
                      <a:gd name="connsiteY1" fmla="*/ 1610108 h 3220216"/>
                      <a:gd name="connsiteX2" fmla="*/ 1646705 w 3293409"/>
                      <a:gd name="connsiteY2" fmla="*/ 3220217 h 3220216"/>
                      <a:gd name="connsiteX3" fmla="*/ 3293409 w 3293409"/>
                      <a:gd name="connsiteY3" fmla="*/ 1610108 h 3220216"/>
                      <a:gd name="connsiteX4" fmla="*/ 1646705 w 3293409"/>
                      <a:gd name="connsiteY4" fmla="*/ 0 h 3220216"/>
                      <a:gd name="connsiteX5" fmla="*/ 1646705 w 3293409"/>
                      <a:gd name="connsiteY5" fmla="*/ 2951865 h 3220216"/>
                      <a:gd name="connsiteX6" fmla="*/ 274451 w 3293409"/>
                      <a:gd name="connsiteY6" fmla="*/ 1610108 h 3220216"/>
                      <a:gd name="connsiteX7" fmla="*/ 1646705 w 3293409"/>
                      <a:gd name="connsiteY7" fmla="*/ 268351 h 3220216"/>
                      <a:gd name="connsiteX8" fmla="*/ 3018958 w 3293409"/>
                      <a:gd name="connsiteY8" fmla="*/ 1610108 h 3220216"/>
                      <a:gd name="connsiteX9" fmla="*/ 1646705 w 3293409"/>
                      <a:gd name="connsiteY9" fmla="*/ 2951865 h 32202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93409" h="3220216">
                        <a:moveTo>
                          <a:pt x="1646705" y="0"/>
                        </a:moveTo>
                        <a:cubicBezTo>
                          <a:pt x="737312" y="0"/>
                          <a:pt x="0" y="720926"/>
                          <a:pt x="0" y="1610108"/>
                        </a:cubicBezTo>
                        <a:cubicBezTo>
                          <a:pt x="0" y="2499291"/>
                          <a:pt x="737312" y="3220217"/>
                          <a:pt x="1646705" y="3220217"/>
                        </a:cubicBezTo>
                        <a:cubicBezTo>
                          <a:pt x="2556097" y="3220217"/>
                          <a:pt x="3293409" y="2499291"/>
                          <a:pt x="3293409" y="1610108"/>
                        </a:cubicBezTo>
                        <a:cubicBezTo>
                          <a:pt x="3293409" y="720926"/>
                          <a:pt x="2556097" y="0"/>
                          <a:pt x="1646705" y="0"/>
                        </a:cubicBezTo>
                        <a:close/>
                        <a:moveTo>
                          <a:pt x="1646705" y="2951865"/>
                        </a:moveTo>
                        <a:cubicBezTo>
                          <a:pt x="890044" y="2951865"/>
                          <a:pt x="274451" y="2349953"/>
                          <a:pt x="274451" y="1610108"/>
                        </a:cubicBezTo>
                        <a:cubicBezTo>
                          <a:pt x="274451" y="870264"/>
                          <a:pt x="890044" y="268351"/>
                          <a:pt x="1646705" y="268351"/>
                        </a:cubicBezTo>
                        <a:cubicBezTo>
                          <a:pt x="2403365" y="268351"/>
                          <a:pt x="3018958" y="870264"/>
                          <a:pt x="3018958" y="1610108"/>
                        </a:cubicBezTo>
                        <a:cubicBezTo>
                          <a:pt x="3018958" y="2349953"/>
                          <a:pt x="2403365" y="2951865"/>
                          <a:pt x="1646705" y="2951865"/>
                        </a:cubicBezTo>
                        <a:close/>
                      </a:path>
                    </a:pathLst>
                  </a:custGeom>
                  <a:solidFill>
                    <a:srgbClr val="0D8554"/>
                  </a:solidFill>
                  <a:ln w="13692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endParaRPr>
                  </a:p>
                </p:txBody>
              </p:sp>
            </p:grpSp>
            <p:sp>
              <p:nvSpPr>
                <p:cNvPr id="46" name="Right Arrow 45">
                  <a:extLst>
                    <a:ext uri="{FF2B5EF4-FFF2-40B4-BE49-F238E27FC236}">
                      <a16:creationId xmlns:a16="http://schemas.microsoft.com/office/drawing/2014/main" id="{9B0B5885-47D9-8369-5878-F84F46400C2C}"/>
                    </a:ext>
                  </a:extLst>
                </p:cNvPr>
                <p:cNvSpPr/>
                <p:nvPr/>
              </p:nvSpPr>
              <p:spPr>
                <a:xfrm>
                  <a:off x="7747305" y="2583296"/>
                  <a:ext cx="990600" cy="1234209"/>
                </a:xfrm>
                <a:prstGeom prst="rightArrow">
                  <a:avLst/>
                </a:prstGeom>
                <a:solidFill>
                  <a:srgbClr val="0D855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47" name="Right Arrow 46">
                  <a:extLst>
                    <a:ext uri="{FF2B5EF4-FFF2-40B4-BE49-F238E27FC236}">
                      <a16:creationId xmlns:a16="http://schemas.microsoft.com/office/drawing/2014/main" id="{E2267914-77EA-8088-4EDD-03B3336A02C9}"/>
                    </a:ext>
                  </a:extLst>
                </p:cNvPr>
                <p:cNvSpPr/>
                <p:nvPr/>
              </p:nvSpPr>
              <p:spPr>
                <a:xfrm rot="10800000">
                  <a:off x="8735542" y="2583296"/>
                  <a:ext cx="990600" cy="1234209"/>
                </a:xfrm>
                <a:prstGeom prst="rightArrow">
                  <a:avLst/>
                </a:prstGeom>
                <a:solidFill>
                  <a:srgbClr val="0D855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F3F21884-C739-78A8-99E8-6E32D26AFC4D}"/>
                  </a:ext>
                </a:extLst>
              </p:cNvPr>
              <p:cNvGrpSpPr/>
              <p:nvPr/>
            </p:nvGrpSpPr>
            <p:grpSpPr>
              <a:xfrm>
                <a:off x="-76200" y="3443527"/>
                <a:ext cx="786995" cy="365760"/>
                <a:chOff x="-2361919" y="1567201"/>
                <a:chExt cx="7086316" cy="3220216"/>
              </a:xfrm>
            </p:grpSpPr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4E7F724B-44E3-EA43-D9CD-CB125264245E}"/>
                    </a:ext>
                  </a:extLst>
                </p:cNvPr>
                <p:cNvSpPr/>
                <p:nvPr/>
              </p:nvSpPr>
              <p:spPr>
                <a:xfrm>
                  <a:off x="1828798" y="1828800"/>
                  <a:ext cx="2895599" cy="27431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1E82FF66-68B5-B588-C370-FAA9E158070F}"/>
                    </a:ext>
                  </a:extLst>
                </p:cNvPr>
                <p:cNvGrpSpPr/>
                <p:nvPr/>
              </p:nvGrpSpPr>
              <p:grpSpPr>
                <a:xfrm>
                  <a:off x="-2361919" y="1567201"/>
                  <a:ext cx="3293410" cy="3220216"/>
                  <a:chOff x="-2361919" y="1567201"/>
                  <a:chExt cx="3293410" cy="3220216"/>
                </a:xfrm>
              </p:grpSpPr>
              <p:sp>
                <p:nvSpPr>
                  <p:cNvPr id="59" name="Freeform 58">
                    <a:extLst>
                      <a:ext uri="{FF2B5EF4-FFF2-40B4-BE49-F238E27FC236}">
                        <a16:creationId xmlns:a16="http://schemas.microsoft.com/office/drawing/2014/main" id="{BCB8E4A2-FBBF-1BD6-5515-A87382CD0E96}"/>
                      </a:ext>
                    </a:extLst>
                  </p:cNvPr>
                  <p:cNvSpPr/>
                  <p:nvPr/>
                </p:nvSpPr>
                <p:spPr>
                  <a:xfrm>
                    <a:off x="-2361919" y="1567201"/>
                    <a:ext cx="3293410" cy="3220216"/>
                  </a:xfrm>
                  <a:custGeom>
                    <a:avLst/>
                    <a:gdLst>
                      <a:gd name="connsiteX0" fmla="*/ 1646705 w 3293409"/>
                      <a:gd name="connsiteY0" fmla="*/ 0 h 3220216"/>
                      <a:gd name="connsiteX1" fmla="*/ 0 w 3293409"/>
                      <a:gd name="connsiteY1" fmla="*/ 1610108 h 3220216"/>
                      <a:gd name="connsiteX2" fmla="*/ 1646705 w 3293409"/>
                      <a:gd name="connsiteY2" fmla="*/ 3220217 h 3220216"/>
                      <a:gd name="connsiteX3" fmla="*/ 3293409 w 3293409"/>
                      <a:gd name="connsiteY3" fmla="*/ 1610108 h 3220216"/>
                      <a:gd name="connsiteX4" fmla="*/ 1646705 w 3293409"/>
                      <a:gd name="connsiteY4" fmla="*/ 0 h 3220216"/>
                      <a:gd name="connsiteX5" fmla="*/ 1646705 w 3293409"/>
                      <a:gd name="connsiteY5" fmla="*/ 2951865 h 3220216"/>
                      <a:gd name="connsiteX6" fmla="*/ 274451 w 3293409"/>
                      <a:gd name="connsiteY6" fmla="*/ 1610108 h 3220216"/>
                      <a:gd name="connsiteX7" fmla="*/ 1646705 w 3293409"/>
                      <a:gd name="connsiteY7" fmla="*/ 268351 h 3220216"/>
                      <a:gd name="connsiteX8" fmla="*/ 3018958 w 3293409"/>
                      <a:gd name="connsiteY8" fmla="*/ 1610108 h 3220216"/>
                      <a:gd name="connsiteX9" fmla="*/ 1646705 w 3293409"/>
                      <a:gd name="connsiteY9" fmla="*/ 2951865 h 32202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93409" h="3220216">
                        <a:moveTo>
                          <a:pt x="1646705" y="0"/>
                        </a:moveTo>
                        <a:cubicBezTo>
                          <a:pt x="737312" y="0"/>
                          <a:pt x="0" y="720926"/>
                          <a:pt x="0" y="1610108"/>
                        </a:cubicBezTo>
                        <a:cubicBezTo>
                          <a:pt x="0" y="2499291"/>
                          <a:pt x="737312" y="3220217"/>
                          <a:pt x="1646705" y="3220217"/>
                        </a:cubicBezTo>
                        <a:cubicBezTo>
                          <a:pt x="2556097" y="3220217"/>
                          <a:pt x="3293409" y="2499291"/>
                          <a:pt x="3293409" y="1610108"/>
                        </a:cubicBezTo>
                        <a:cubicBezTo>
                          <a:pt x="3293409" y="720926"/>
                          <a:pt x="2556097" y="0"/>
                          <a:pt x="1646705" y="0"/>
                        </a:cubicBezTo>
                        <a:close/>
                        <a:moveTo>
                          <a:pt x="1646705" y="2951865"/>
                        </a:moveTo>
                        <a:cubicBezTo>
                          <a:pt x="890044" y="2951865"/>
                          <a:pt x="274451" y="2349953"/>
                          <a:pt x="274451" y="1610108"/>
                        </a:cubicBezTo>
                        <a:cubicBezTo>
                          <a:pt x="274451" y="870264"/>
                          <a:pt x="890044" y="268351"/>
                          <a:pt x="1646705" y="268351"/>
                        </a:cubicBezTo>
                        <a:cubicBezTo>
                          <a:pt x="2403365" y="268351"/>
                          <a:pt x="3018958" y="870264"/>
                          <a:pt x="3018958" y="1610108"/>
                        </a:cubicBezTo>
                        <a:cubicBezTo>
                          <a:pt x="3018958" y="2349953"/>
                          <a:pt x="2403365" y="2951865"/>
                          <a:pt x="1646705" y="2951865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50000"/>
                      <a:lumOff val="50000"/>
                    </a:schemeClr>
                  </a:solidFill>
                  <a:ln w="13692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endParaRPr>
                  </a:p>
                </p:txBody>
              </p:sp>
              <p:sp>
                <p:nvSpPr>
                  <p:cNvPr id="60" name="Multiply 59">
                    <a:extLst>
                      <a:ext uri="{FF2B5EF4-FFF2-40B4-BE49-F238E27FC236}">
                        <a16:creationId xmlns:a16="http://schemas.microsoft.com/office/drawing/2014/main" id="{BAE00B5C-31F5-C312-9635-CFA888CE3421}"/>
                      </a:ext>
                    </a:extLst>
                  </p:cNvPr>
                  <p:cNvSpPr/>
                  <p:nvPr/>
                </p:nvSpPr>
                <p:spPr>
                  <a:xfrm>
                    <a:off x="-1743920" y="2148611"/>
                    <a:ext cx="2057403" cy="2057404"/>
                  </a:xfrm>
                  <a:prstGeom prst="mathMultiply">
                    <a:avLst/>
                  </a:prstGeom>
                  <a:solidFill>
                    <a:srgbClr val="7F7F7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endParaRPr>
                  </a:p>
                </p:txBody>
              </p:sp>
            </p:grpSp>
          </p:grp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6E7DD02-3811-9A90-63D5-D5DCFDE590F5}"/>
                  </a:ext>
                </a:extLst>
              </p:cNvPr>
              <p:cNvSpPr txBox="1"/>
              <p:nvPr/>
            </p:nvSpPr>
            <p:spPr>
              <a:xfrm>
                <a:off x="-1061058" y="2314428"/>
                <a:ext cx="12430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Se </a:t>
                </a:r>
                <a:r>
                  <a:rPr lang="en-US" sz="1600" i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réduit</a:t>
                </a:r>
                <a:endPara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412C7CE-6D35-5FDA-2641-854473E9B7CD}"/>
                  </a:ext>
                </a:extLst>
              </p:cNvPr>
              <p:cNvSpPr txBox="1"/>
              <p:nvPr/>
            </p:nvSpPr>
            <p:spPr>
              <a:xfrm>
                <a:off x="-1082038" y="3291501"/>
                <a:ext cx="12147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Stabilité</a:t>
                </a:r>
                <a:endPara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25412CA-FDCD-3D37-D1A3-F8D99AC25785}"/>
                  </a:ext>
                </a:extLst>
              </p:cNvPr>
              <p:cNvSpPr txBox="1"/>
              <p:nvPr/>
            </p:nvSpPr>
            <p:spPr>
              <a:xfrm>
                <a:off x="326538" y="3473264"/>
                <a:ext cx="25585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Données </a:t>
                </a:r>
                <a:r>
                  <a:rPr lang="en-US" sz="1600" i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insuffisantes</a:t>
                </a:r>
                <a:endPara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F2607C1-48E0-2F8D-A20E-38EBF00DA0D2}"/>
                  </a:ext>
                </a:extLst>
              </p:cNvPr>
              <p:cNvSpPr txBox="1"/>
              <p:nvPr/>
            </p:nvSpPr>
            <p:spPr>
              <a:xfrm>
                <a:off x="-1105381" y="2836362"/>
                <a:ext cx="121253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Se </a:t>
                </a:r>
                <a:r>
                  <a:rPr lang="en-US" sz="1600" i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creuse</a:t>
                </a:r>
                <a:endPara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DAD8E65-2685-D4D3-E858-228391705A89}"/>
                  </a:ext>
                </a:extLst>
              </p:cNvPr>
              <p:cNvSpPr txBox="1"/>
              <p:nvPr/>
            </p:nvSpPr>
            <p:spPr>
              <a:xfrm>
                <a:off x="397631" y="2295904"/>
                <a:ext cx="168665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Situation du groupe meilleure que celle de la pop.</a:t>
                </a:r>
                <a:endPara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A546ECC-215D-CBC6-00A3-04ACD25A8078}"/>
                  </a:ext>
                </a:extLst>
              </p:cNvPr>
              <p:cNvSpPr txBox="1"/>
              <p:nvPr/>
            </p:nvSpPr>
            <p:spPr>
              <a:xfrm>
                <a:off x="2462868" y="2240340"/>
                <a:ext cx="121478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Situation du groupe moins bonne que celle de la pop.</a:t>
                </a:r>
                <a:endPara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77FEA275-F017-71C3-1A73-AF0F64DB07B0}"/>
                  </a:ext>
                </a:extLst>
              </p:cNvPr>
              <p:cNvGrpSpPr/>
              <p:nvPr/>
            </p:nvGrpSpPr>
            <p:grpSpPr>
              <a:xfrm>
                <a:off x="0" y="2370098"/>
                <a:ext cx="422236" cy="402366"/>
                <a:chOff x="1143000" y="1447800"/>
                <a:chExt cx="3886200" cy="3657600"/>
              </a:xfrm>
            </p:grpSpPr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88A661D7-0F9E-84EA-5251-060722B5DB43}"/>
                    </a:ext>
                  </a:extLst>
                </p:cNvPr>
                <p:cNvSpPr/>
                <p:nvPr/>
              </p:nvSpPr>
              <p:spPr>
                <a:xfrm>
                  <a:off x="1546739" y="1613614"/>
                  <a:ext cx="3200400" cy="32004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85" name="Freeform 84">
                  <a:extLst>
                    <a:ext uri="{FF2B5EF4-FFF2-40B4-BE49-F238E27FC236}">
                      <a16:creationId xmlns:a16="http://schemas.microsoft.com/office/drawing/2014/main" id="{B5391BBA-3DAF-2AA5-D50E-EA62CEA9BF90}"/>
                    </a:ext>
                  </a:extLst>
                </p:cNvPr>
                <p:cNvSpPr/>
                <p:nvPr/>
              </p:nvSpPr>
              <p:spPr>
                <a:xfrm>
                  <a:off x="2988423" y="2285651"/>
                  <a:ext cx="317033" cy="317033"/>
                </a:xfrm>
                <a:custGeom>
                  <a:avLst/>
                  <a:gdLst>
                    <a:gd name="connsiteX0" fmla="*/ 317033 w 317033"/>
                    <a:gd name="connsiteY0" fmla="*/ 158517 h 317033"/>
                    <a:gd name="connsiteX1" fmla="*/ 158517 w 317033"/>
                    <a:gd name="connsiteY1" fmla="*/ 317033 h 317033"/>
                    <a:gd name="connsiteX2" fmla="*/ 0 w 317033"/>
                    <a:gd name="connsiteY2" fmla="*/ 158517 h 317033"/>
                    <a:gd name="connsiteX3" fmla="*/ 158517 w 317033"/>
                    <a:gd name="connsiteY3" fmla="*/ 0 h 317033"/>
                    <a:gd name="connsiteX4" fmla="*/ 317033 w 317033"/>
                    <a:gd name="connsiteY4" fmla="*/ 158517 h 317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033" h="317033">
                      <a:moveTo>
                        <a:pt x="317033" y="158517"/>
                      </a:moveTo>
                      <a:cubicBezTo>
                        <a:pt x="317033" y="246063"/>
                        <a:pt x="246063" y="317033"/>
                        <a:pt x="158517" y="317033"/>
                      </a:cubicBezTo>
                      <a:cubicBezTo>
                        <a:pt x="70970" y="317033"/>
                        <a:pt x="0" y="246063"/>
                        <a:pt x="0" y="158517"/>
                      </a:cubicBezTo>
                      <a:cubicBezTo>
                        <a:pt x="0" y="70970"/>
                        <a:pt x="70970" y="0"/>
                        <a:pt x="158517" y="0"/>
                      </a:cubicBezTo>
                      <a:cubicBezTo>
                        <a:pt x="246063" y="0"/>
                        <a:pt x="317033" y="70970"/>
                        <a:pt x="317033" y="158517"/>
                      </a:cubicBez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 w="197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86" name="Freeform 85">
                  <a:extLst>
                    <a:ext uri="{FF2B5EF4-FFF2-40B4-BE49-F238E27FC236}">
                      <a16:creationId xmlns:a16="http://schemas.microsoft.com/office/drawing/2014/main" id="{80EAB91D-5B2F-FDD7-4F89-D5EEBE061CB1}"/>
                    </a:ext>
                  </a:extLst>
                </p:cNvPr>
                <p:cNvSpPr/>
                <p:nvPr/>
              </p:nvSpPr>
              <p:spPr>
                <a:xfrm>
                  <a:off x="2711021" y="2642316"/>
                  <a:ext cx="871838" cy="1426651"/>
                </a:xfrm>
                <a:custGeom>
                  <a:avLst/>
                  <a:gdLst>
                    <a:gd name="connsiteX0" fmla="*/ 867879 w 871841"/>
                    <a:gd name="connsiteY0" fmla="*/ 618215 h 1426650"/>
                    <a:gd name="connsiteX1" fmla="*/ 756917 w 871841"/>
                    <a:gd name="connsiteY1" fmla="*/ 146628 h 1426650"/>
                    <a:gd name="connsiteX2" fmla="*/ 733140 w 871841"/>
                    <a:gd name="connsiteY2" fmla="*/ 103036 h 1426650"/>
                    <a:gd name="connsiteX3" fmla="*/ 566697 w 871841"/>
                    <a:gd name="connsiteY3" fmla="*/ 15852 h 1426650"/>
                    <a:gd name="connsiteX4" fmla="*/ 435921 w 871841"/>
                    <a:gd name="connsiteY4" fmla="*/ 0 h 1426650"/>
                    <a:gd name="connsiteX5" fmla="*/ 305145 w 871841"/>
                    <a:gd name="connsiteY5" fmla="*/ 19815 h 1426650"/>
                    <a:gd name="connsiteX6" fmla="*/ 138702 w 871841"/>
                    <a:gd name="connsiteY6" fmla="*/ 106999 h 1426650"/>
                    <a:gd name="connsiteX7" fmla="*/ 114925 w 871841"/>
                    <a:gd name="connsiteY7" fmla="*/ 150591 h 1426650"/>
                    <a:gd name="connsiteX8" fmla="*/ 3963 w 871841"/>
                    <a:gd name="connsiteY8" fmla="*/ 622178 h 1426650"/>
                    <a:gd name="connsiteX9" fmla="*/ 0 w 871841"/>
                    <a:gd name="connsiteY9" fmla="*/ 641993 h 1426650"/>
                    <a:gd name="connsiteX10" fmla="*/ 79258 w 871841"/>
                    <a:gd name="connsiteY10" fmla="*/ 721251 h 1426650"/>
                    <a:gd name="connsiteX11" fmla="*/ 154554 w 871841"/>
                    <a:gd name="connsiteY11" fmla="*/ 661807 h 1426650"/>
                    <a:gd name="connsiteX12" fmla="*/ 237775 w 871841"/>
                    <a:gd name="connsiteY12" fmla="*/ 317033 h 1426650"/>
                    <a:gd name="connsiteX13" fmla="*/ 237775 w 871841"/>
                    <a:gd name="connsiteY13" fmla="*/ 1426650 h 1426650"/>
                    <a:gd name="connsiteX14" fmla="*/ 396292 w 871841"/>
                    <a:gd name="connsiteY14" fmla="*/ 1426650 h 1426650"/>
                    <a:gd name="connsiteX15" fmla="*/ 396292 w 871841"/>
                    <a:gd name="connsiteY15" fmla="*/ 713325 h 1426650"/>
                    <a:gd name="connsiteX16" fmla="*/ 475550 w 871841"/>
                    <a:gd name="connsiteY16" fmla="*/ 713325 h 1426650"/>
                    <a:gd name="connsiteX17" fmla="*/ 475550 w 871841"/>
                    <a:gd name="connsiteY17" fmla="*/ 1426650 h 1426650"/>
                    <a:gd name="connsiteX18" fmla="*/ 634067 w 871841"/>
                    <a:gd name="connsiteY18" fmla="*/ 1426650 h 1426650"/>
                    <a:gd name="connsiteX19" fmla="*/ 634067 w 871841"/>
                    <a:gd name="connsiteY19" fmla="*/ 313070 h 1426650"/>
                    <a:gd name="connsiteX20" fmla="*/ 717288 w 871841"/>
                    <a:gd name="connsiteY20" fmla="*/ 657844 h 1426650"/>
                    <a:gd name="connsiteX21" fmla="*/ 792583 w 871841"/>
                    <a:gd name="connsiteY21" fmla="*/ 717288 h 1426650"/>
                    <a:gd name="connsiteX22" fmla="*/ 871842 w 871841"/>
                    <a:gd name="connsiteY22" fmla="*/ 638030 h 1426650"/>
                    <a:gd name="connsiteX23" fmla="*/ 867879 w 871841"/>
                    <a:gd name="connsiteY23" fmla="*/ 618215 h 1426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71841" h="1426650">
                      <a:moveTo>
                        <a:pt x="867879" y="618215"/>
                      </a:moveTo>
                      <a:lnTo>
                        <a:pt x="756917" y="146628"/>
                      </a:lnTo>
                      <a:cubicBezTo>
                        <a:pt x="752954" y="130776"/>
                        <a:pt x="745028" y="114925"/>
                        <a:pt x="733140" y="103036"/>
                      </a:cubicBezTo>
                      <a:cubicBezTo>
                        <a:pt x="685585" y="63407"/>
                        <a:pt x="630104" y="35666"/>
                        <a:pt x="566697" y="15852"/>
                      </a:cubicBezTo>
                      <a:cubicBezTo>
                        <a:pt x="523105" y="7926"/>
                        <a:pt x="479513" y="0"/>
                        <a:pt x="435921" y="0"/>
                      </a:cubicBezTo>
                      <a:cubicBezTo>
                        <a:pt x="392329" y="0"/>
                        <a:pt x="348737" y="7926"/>
                        <a:pt x="305145" y="19815"/>
                      </a:cubicBezTo>
                      <a:cubicBezTo>
                        <a:pt x="241738" y="35666"/>
                        <a:pt x="186257" y="67370"/>
                        <a:pt x="138702" y="106999"/>
                      </a:cubicBezTo>
                      <a:cubicBezTo>
                        <a:pt x="126813" y="118888"/>
                        <a:pt x="118888" y="134739"/>
                        <a:pt x="114925" y="150591"/>
                      </a:cubicBezTo>
                      <a:lnTo>
                        <a:pt x="3963" y="622178"/>
                      </a:lnTo>
                      <a:cubicBezTo>
                        <a:pt x="3963" y="626141"/>
                        <a:pt x="0" y="634067"/>
                        <a:pt x="0" y="641993"/>
                      </a:cubicBezTo>
                      <a:cubicBezTo>
                        <a:pt x="0" y="685585"/>
                        <a:pt x="35666" y="721251"/>
                        <a:pt x="79258" y="721251"/>
                      </a:cubicBezTo>
                      <a:cubicBezTo>
                        <a:pt x="114925" y="721251"/>
                        <a:pt x="146628" y="693510"/>
                        <a:pt x="154554" y="661807"/>
                      </a:cubicBezTo>
                      <a:lnTo>
                        <a:pt x="237775" y="317033"/>
                      </a:lnTo>
                      <a:lnTo>
                        <a:pt x="237775" y="1426650"/>
                      </a:lnTo>
                      <a:lnTo>
                        <a:pt x="396292" y="1426650"/>
                      </a:lnTo>
                      <a:lnTo>
                        <a:pt x="396292" y="713325"/>
                      </a:lnTo>
                      <a:lnTo>
                        <a:pt x="475550" y="713325"/>
                      </a:lnTo>
                      <a:lnTo>
                        <a:pt x="475550" y="1426650"/>
                      </a:lnTo>
                      <a:lnTo>
                        <a:pt x="634067" y="1426650"/>
                      </a:lnTo>
                      <a:lnTo>
                        <a:pt x="634067" y="313070"/>
                      </a:lnTo>
                      <a:lnTo>
                        <a:pt x="717288" y="657844"/>
                      </a:lnTo>
                      <a:cubicBezTo>
                        <a:pt x="725214" y="689548"/>
                        <a:pt x="756917" y="717288"/>
                        <a:pt x="792583" y="717288"/>
                      </a:cubicBezTo>
                      <a:cubicBezTo>
                        <a:pt x="836175" y="717288"/>
                        <a:pt x="871842" y="681622"/>
                        <a:pt x="871842" y="638030"/>
                      </a:cubicBezTo>
                      <a:cubicBezTo>
                        <a:pt x="871842" y="630104"/>
                        <a:pt x="867879" y="622178"/>
                        <a:pt x="867879" y="618215"/>
                      </a:cubicBez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 w="197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pic>
              <p:nvPicPr>
                <p:cNvPr id="87" name="Graphic 86" descr="Arrow circle with solid fill">
                  <a:extLst>
                    <a:ext uri="{FF2B5EF4-FFF2-40B4-BE49-F238E27FC236}">
                      <a16:creationId xmlns:a16="http://schemas.microsoft.com/office/drawing/2014/main" id="{6EA68926-5C68-3E0C-6BEB-A8551D7CCE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 l="13043" t="14925" r="13043" b="13432"/>
                <a:stretch>
                  <a:fillRect/>
                </a:stretch>
              </p:blipFill>
              <p:spPr>
                <a:xfrm>
                  <a:off x="1143000" y="1447800"/>
                  <a:ext cx="3886200" cy="3657600"/>
                </a:xfrm>
                <a:prstGeom prst="rect">
                  <a:avLst/>
                </a:prstGeom>
              </p:spPr>
            </p:pic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40352689-2B47-318B-8C3B-7A4560378C75}"/>
                  </a:ext>
                </a:extLst>
              </p:cNvPr>
              <p:cNvGrpSpPr/>
              <p:nvPr/>
            </p:nvGrpSpPr>
            <p:grpSpPr>
              <a:xfrm>
                <a:off x="2001225" y="2329057"/>
                <a:ext cx="422236" cy="409945"/>
                <a:chOff x="4957736" y="1447800"/>
                <a:chExt cx="3886199" cy="3657600"/>
              </a:xfrm>
            </p:grpSpPr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6EA65C89-761D-DC9C-5F47-4BD951AC52AC}"/>
                    </a:ext>
                  </a:extLst>
                </p:cNvPr>
                <p:cNvSpPr/>
                <p:nvPr/>
              </p:nvSpPr>
              <p:spPr>
                <a:xfrm>
                  <a:off x="5065347" y="1600200"/>
                  <a:ext cx="3200401" cy="32004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pic>
              <p:nvPicPr>
                <p:cNvPr id="92" name="Graphic 91" descr="Group of men with solid fill">
                  <a:extLst>
                    <a:ext uri="{FF2B5EF4-FFF2-40B4-BE49-F238E27FC236}">
                      <a16:creationId xmlns:a16="http://schemas.microsoft.com/office/drawing/2014/main" id="{BE97FD7B-4CB5-77F3-01AE-BB005786A5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/>
                <a:stretch/>
              </p:blipFill>
              <p:spPr>
                <a:xfrm>
                  <a:off x="5753069" y="2226206"/>
                  <a:ext cx="1902198" cy="1902198"/>
                </a:xfrm>
                <a:prstGeom prst="rect">
                  <a:avLst/>
                </a:prstGeom>
              </p:spPr>
            </p:pic>
            <p:pic>
              <p:nvPicPr>
                <p:cNvPr id="93" name="Graphic 92" descr="Arrow circle with solid fill">
                  <a:extLst>
                    <a:ext uri="{FF2B5EF4-FFF2-40B4-BE49-F238E27FC236}">
                      <a16:creationId xmlns:a16="http://schemas.microsoft.com/office/drawing/2014/main" id="{216C96CA-71D0-FDE4-6565-CF164E0C33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 l="11594" t="14925" r="14493" b="13433"/>
                <a:stretch>
                  <a:fillRect/>
                </a:stretch>
              </p:blipFill>
              <p:spPr>
                <a:xfrm flipH="1">
                  <a:off x="4957736" y="1447800"/>
                  <a:ext cx="3886199" cy="3657600"/>
                </a:xfrm>
                <a:prstGeom prst="rect">
                  <a:avLst/>
                </a:prstGeom>
              </p:spPr>
            </p:pic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A720C745-7008-A59A-E590-C343E8CCB9FA}"/>
                  </a:ext>
                </a:extLst>
              </p:cNvPr>
              <p:cNvGrpSpPr/>
              <p:nvPr/>
            </p:nvGrpSpPr>
            <p:grpSpPr>
              <a:xfrm>
                <a:off x="3900997" y="-256127"/>
                <a:ext cx="8610599" cy="1617083"/>
                <a:chOff x="1981201" y="304799"/>
                <a:chExt cx="8305800" cy="1617083"/>
              </a:xfrm>
            </p:grpSpPr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3A6C68C4-6ED4-A0ED-D7D2-8594F750BE17}"/>
                    </a:ext>
                  </a:extLst>
                </p:cNvPr>
                <p:cNvSpPr/>
                <p:nvPr/>
              </p:nvSpPr>
              <p:spPr>
                <a:xfrm>
                  <a:off x="2128205" y="304799"/>
                  <a:ext cx="8011791" cy="1617083"/>
                </a:xfrm>
                <a:prstGeom prst="roundRect">
                  <a:avLst/>
                </a:prstGeom>
                <a:solidFill>
                  <a:schemeClr val="bg1"/>
                </a:solidFill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8C0A1A7-70C6-3AD0-2881-2EFFC53476AB}"/>
                    </a:ext>
                  </a:extLst>
                </p:cNvPr>
                <p:cNvSpPr txBox="1"/>
                <p:nvPr/>
              </p:nvSpPr>
              <p:spPr>
                <a:xfrm>
                  <a:off x="1981201" y="395621"/>
                  <a:ext cx="8305800" cy="76944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2400" b="1" dirty="0">
                      <a:solidFill>
                        <a:srgbClr val="101D40"/>
                      </a:solidFill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rPr>
                    <a:t>Classement des pays de l’OCDE</a:t>
                  </a:r>
                </a:p>
                <a:p>
                  <a:pPr algn="ctr"/>
                  <a:r>
                    <a:rPr lang="fr-FR" sz="2000" dirty="0">
                      <a:solidFill>
                        <a:srgbClr val="101D40"/>
                      </a:solidFill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rPr>
                    <a:t>Le niveau n’est affiché que pour les pays de l’OCDE</a:t>
                  </a:r>
                  <a:endParaRPr lang="en-US" sz="2000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pic>
              <p:nvPicPr>
                <p:cNvPr id="8" name="Graphic 7" descr="Badge 1 with solid fill">
                  <a:extLst>
                    <a:ext uri="{FF2B5EF4-FFF2-40B4-BE49-F238E27FC236}">
                      <a16:creationId xmlns:a16="http://schemas.microsoft.com/office/drawing/2014/main" id="{3CE9FB36-BF60-6D0E-A16B-886497BBA8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54534" y="1263770"/>
                  <a:ext cx="457200" cy="457200"/>
                </a:xfrm>
                <a:prstGeom prst="rect">
                  <a:avLst/>
                </a:prstGeom>
              </p:spPr>
            </p:pic>
            <p:pic>
              <p:nvPicPr>
                <p:cNvPr id="10" name="Graphic 9" descr="Badge with solid fill">
                  <a:extLst>
                    <a:ext uri="{FF2B5EF4-FFF2-40B4-BE49-F238E27FC236}">
                      <a16:creationId xmlns:a16="http://schemas.microsoft.com/office/drawing/2014/main" id="{1AE7EDDF-F0AA-E1A3-E20F-2F68477B87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78717" y="1249811"/>
                  <a:ext cx="457200" cy="457200"/>
                </a:xfrm>
                <a:prstGeom prst="rect">
                  <a:avLst/>
                </a:prstGeom>
              </p:spPr>
            </p:pic>
            <p:pic>
              <p:nvPicPr>
                <p:cNvPr id="24" name="Graphic 23" descr="Badge 3 with solid fill">
                  <a:extLst>
                    <a:ext uri="{FF2B5EF4-FFF2-40B4-BE49-F238E27FC236}">
                      <a16:creationId xmlns:a16="http://schemas.microsoft.com/office/drawing/2014/main" id="{BEE5AA5E-6C43-1F6E-99F8-4C1998CC7D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rcRect/>
                <a:stretch/>
              </p:blipFill>
              <p:spPr>
                <a:xfrm>
                  <a:off x="5942306" y="1283699"/>
                  <a:ext cx="457200" cy="457200"/>
                </a:xfrm>
                <a:prstGeom prst="rect">
                  <a:avLst/>
                </a:prstGeom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EF9514EF-C03E-FE95-E89C-28CE69216E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rcRect l="14821" t="20547" r="15620" b="14438"/>
                <a:stretch>
                  <a:fillRect/>
                </a:stretch>
              </p:blipFill>
              <p:spPr>
                <a:xfrm>
                  <a:off x="8102862" y="1303248"/>
                  <a:ext cx="457200" cy="437758"/>
                </a:xfrm>
                <a:prstGeom prst="rect">
                  <a:avLst/>
                </a:prstGeom>
                <a:ln>
                  <a:noFill/>
                </a:ln>
              </p:spPr>
            </p:pic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4BCEFDF-D43D-7DA8-50CD-B2C2D79C1625}"/>
                    </a:ext>
                  </a:extLst>
                </p:cNvPr>
                <p:cNvSpPr txBox="1"/>
                <p:nvPr/>
              </p:nvSpPr>
              <p:spPr>
                <a:xfrm>
                  <a:off x="2719160" y="1162034"/>
                  <a:ext cx="1173110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>
                      <a:solidFill>
                        <a:srgbClr val="101D40"/>
                      </a:solidFill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rPr>
                    <a:t>Tiers supérieur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49BC5A6-862F-A88D-4938-6E123B7F26DA}"/>
                    </a:ext>
                  </a:extLst>
                </p:cNvPr>
                <p:cNvSpPr txBox="1"/>
                <p:nvPr/>
              </p:nvSpPr>
              <p:spPr>
                <a:xfrm>
                  <a:off x="4341431" y="1179251"/>
                  <a:ext cx="1535411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>
                      <a:solidFill>
                        <a:srgbClr val="101D40"/>
                      </a:solidFill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rPr>
                    <a:t>Tiers </a:t>
                  </a:r>
                  <a:r>
                    <a:rPr lang="en-US" i="1" dirty="0" err="1">
                      <a:solidFill>
                        <a:srgbClr val="101D40"/>
                      </a:solidFill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rPr>
                    <a:t>intermédiaire</a:t>
                  </a:r>
                  <a:endParaRPr lang="en-US" i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89C1170-5978-B2AF-8CA9-098C993C9E96}"/>
                    </a:ext>
                  </a:extLst>
                </p:cNvPr>
                <p:cNvSpPr txBox="1"/>
                <p:nvPr/>
              </p:nvSpPr>
              <p:spPr>
                <a:xfrm>
                  <a:off x="6399506" y="1344650"/>
                  <a:ext cx="1535411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>
                      <a:solidFill>
                        <a:srgbClr val="101D40"/>
                      </a:solidFill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rPr>
                    <a:t>Tiers </a:t>
                  </a:r>
                  <a:r>
                    <a:rPr lang="en-US" i="1" dirty="0" err="1">
                      <a:solidFill>
                        <a:srgbClr val="101D40"/>
                      </a:solidFill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rPr>
                    <a:t>inférieur</a:t>
                  </a:r>
                  <a:endParaRPr lang="en-US" i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851076A-52B9-9292-A7D5-58550E9B7799}"/>
                    </a:ext>
                  </a:extLst>
                </p:cNvPr>
                <p:cNvSpPr txBox="1"/>
                <p:nvPr/>
              </p:nvSpPr>
              <p:spPr>
                <a:xfrm>
                  <a:off x="8567485" y="1179250"/>
                  <a:ext cx="1535411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rPr>
                    <a:t>Données </a:t>
                  </a:r>
                  <a:r>
                    <a:rPr lang="en-US" i="1" dirty="0" err="1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rPr>
                    <a:t>insuffisantes</a:t>
                  </a:r>
                  <a:r>
                    <a:rPr lang="en-US" i="1" dirty="0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rPr>
                    <a:t> </a:t>
                  </a:r>
                  <a:endParaRPr lang="en-US" i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1A25A936-AC97-680E-8487-B886C656A7C5}"/>
                  </a:ext>
                </a:extLst>
              </p:cNvPr>
              <p:cNvSpPr/>
              <p:nvPr/>
            </p:nvSpPr>
            <p:spPr>
              <a:xfrm>
                <a:off x="-118649" y="4265478"/>
                <a:ext cx="4525612" cy="3166099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CA55C64-034C-97D7-5E4A-35F3E85F48F3}"/>
                  </a:ext>
                </a:extLst>
              </p:cNvPr>
              <p:cNvSpPr txBox="1"/>
              <p:nvPr/>
            </p:nvSpPr>
            <p:spPr>
              <a:xfrm>
                <a:off x="-118649" y="4330135"/>
                <a:ext cx="452561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 err="1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Évolution</a:t>
                </a:r>
                <a:r>
                  <a:rPr lang="en-US" sz="2400" b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 dans le temps</a:t>
                </a:r>
              </a:p>
              <a:p>
                <a:pPr algn="ctr"/>
                <a:r>
                  <a:rPr lang="fr-FR" sz="2000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Code couleur selon l’évolution depuis 2015</a:t>
                </a:r>
                <a:endParaRPr lang="en-US" sz="2000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674FAD4A-D162-E6A6-9056-8C3C4BE3AA4E}"/>
                  </a:ext>
                </a:extLst>
              </p:cNvPr>
              <p:cNvGrpSpPr/>
              <p:nvPr/>
            </p:nvGrpSpPr>
            <p:grpSpPr>
              <a:xfrm>
                <a:off x="248289" y="5506061"/>
                <a:ext cx="4246969" cy="1821512"/>
                <a:chOff x="27053" y="4854031"/>
                <a:chExt cx="4562268" cy="1982655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6D2C0851-2088-B5C5-776E-FC0810B3650D}"/>
                    </a:ext>
                  </a:extLst>
                </p:cNvPr>
                <p:cNvSpPr/>
                <p:nvPr/>
              </p:nvSpPr>
              <p:spPr>
                <a:xfrm>
                  <a:off x="27053" y="4936978"/>
                  <a:ext cx="228600" cy="226128"/>
                </a:xfrm>
                <a:prstGeom prst="ellipse">
                  <a:avLst/>
                </a:prstGeom>
                <a:solidFill>
                  <a:srgbClr val="0D855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479077A6-3932-AD73-8B93-BF71D2FF0437}"/>
                    </a:ext>
                  </a:extLst>
                </p:cNvPr>
                <p:cNvSpPr/>
                <p:nvPr/>
              </p:nvSpPr>
              <p:spPr>
                <a:xfrm>
                  <a:off x="27053" y="5361679"/>
                  <a:ext cx="228600" cy="226128"/>
                </a:xfrm>
                <a:prstGeom prst="ellipse">
                  <a:avLst/>
                </a:prstGeom>
                <a:solidFill>
                  <a:srgbClr val="DBA5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D06914E8-FD75-83AA-A662-D944C7706F15}"/>
                    </a:ext>
                  </a:extLst>
                </p:cNvPr>
                <p:cNvSpPr/>
                <p:nvPr/>
              </p:nvSpPr>
              <p:spPr>
                <a:xfrm>
                  <a:off x="27053" y="5776386"/>
                  <a:ext cx="228600" cy="226128"/>
                </a:xfrm>
                <a:prstGeom prst="ellipse">
                  <a:avLst/>
                </a:prstGeom>
                <a:solidFill>
                  <a:srgbClr val="D0597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1DBC013A-7B40-1172-B2AC-01921A444981}"/>
                    </a:ext>
                  </a:extLst>
                </p:cNvPr>
                <p:cNvSpPr/>
                <p:nvPr/>
              </p:nvSpPr>
              <p:spPr>
                <a:xfrm>
                  <a:off x="27053" y="6193108"/>
                  <a:ext cx="228600" cy="226128"/>
                </a:xfrm>
                <a:prstGeom prst="ellipse">
                  <a:avLst/>
                </a:prstGeom>
                <a:solidFill>
                  <a:srgbClr val="7F7F7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DA01D50-DDBA-75EB-819D-95CE028E21AC}"/>
                    </a:ext>
                  </a:extLst>
                </p:cNvPr>
                <p:cNvSpPr txBox="1"/>
                <p:nvPr/>
              </p:nvSpPr>
              <p:spPr>
                <a:xfrm>
                  <a:off x="366114" y="4854031"/>
                  <a:ext cx="2754540" cy="4020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 err="1">
                      <a:solidFill>
                        <a:srgbClr val="101D40"/>
                      </a:solidFill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rPr>
                    <a:t>Amélioration</a:t>
                  </a:r>
                  <a:endParaRPr lang="en-US" i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997637C-4070-33F2-C8E6-A8E8D5CB3397}"/>
                    </a:ext>
                  </a:extLst>
                </p:cNvPr>
                <p:cNvSpPr txBox="1"/>
                <p:nvPr/>
              </p:nvSpPr>
              <p:spPr>
                <a:xfrm>
                  <a:off x="337510" y="5268741"/>
                  <a:ext cx="2647010" cy="4020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 err="1">
                      <a:solidFill>
                        <a:srgbClr val="101D40"/>
                      </a:solidFill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rPr>
                    <a:t>Stabilité</a:t>
                  </a:r>
                  <a:endParaRPr lang="en-US" i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9158340-258B-51C0-EC2A-BFE223FFEF48}"/>
                    </a:ext>
                  </a:extLst>
                </p:cNvPr>
                <p:cNvSpPr txBox="1"/>
                <p:nvPr/>
              </p:nvSpPr>
              <p:spPr>
                <a:xfrm>
                  <a:off x="337510" y="5688449"/>
                  <a:ext cx="2724430" cy="4020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 err="1">
                      <a:solidFill>
                        <a:srgbClr val="101D40"/>
                      </a:solidFill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rPr>
                    <a:t>Dégradation</a:t>
                  </a:r>
                  <a:endParaRPr lang="en-US" i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69B4D96-7F3A-160C-349C-C7BAD5FC864D}"/>
                    </a:ext>
                  </a:extLst>
                </p:cNvPr>
                <p:cNvSpPr txBox="1"/>
                <p:nvPr/>
              </p:nvSpPr>
              <p:spPr>
                <a:xfrm>
                  <a:off x="310596" y="6133176"/>
                  <a:ext cx="4278725" cy="7035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i="1" dirty="0">
                      <a:solidFill>
                        <a:srgbClr val="101D40"/>
                      </a:solidFill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rPr>
                    <a:t>Données insuffisantes pour déterminer l’évolution</a:t>
                  </a:r>
                  <a:endParaRPr lang="en-US" i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15F2F1-A856-31B3-6874-A41F86F0C657}"/>
                  </a:ext>
                </a:extLst>
              </p:cNvPr>
              <p:cNvSpPr txBox="1"/>
              <p:nvPr/>
            </p:nvSpPr>
            <p:spPr>
              <a:xfrm>
                <a:off x="9314176" y="4481751"/>
                <a:ext cx="2210681" cy="125991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b="1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Valeur la plus récente </a:t>
                </a:r>
                <a:r>
                  <a:rPr lang="fr-FR" sz="2000" dirty="0">
                    <a:solidFill>
                      <a:srgbClr val="101D40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après 2015</a:t>
                </a:r>
                <a:endParaRPr lang="en-US" sz="2000" dirty="0">
                  <a:solidFill>
                    <a:srgbClr val="101D40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74258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029DF-03F6-1778-8BFB-42003D48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920D42E-7A97-ED0A-E1AF-BB91BC9970AD}"/>
              </a:ext>
            </a:extLst>
          </p:cNvPr>
          <p:cNvGrpSpPr/>
          <p:nvPr/>
        </p:nvGrpSpPr>
        <p:grpSpPr>
          <a:xfrm>
            <a:off x="-228600" y="533400"/>
            <a:ext cx="12673014" cy="4800600"/>
            <a:chOff x="-228600" y="533400"/>
            <a:chExt cx="12673014" cy="48006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376379A-5041-639D-E458-E5742F37B836}"/>
                </a:ext>
              </a:extLst>
            </p:cNvPr>
            <p:cNvSpPr/>
            <p:nvPr/>
          </p:nvSpPr>
          <p:spPr>
            <a:xfrm>
              <a:off x="-228600" y="592620"/>
              <a:ext cx="12673014" cy="47413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68F9AFA-6991-2210-E060-592753E65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-1" y="533400"/>
              <a:ext cx="9074021" cy="47951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2528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B69B9-6037-4D42-6639-3B6C24CFE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035E039-5576-5BE6-5FCA-BF5130771562}"/>
              </a:ext>
            </a:extLst>
          </p:cNvPr>
          <p:cNvGrpSpPr/>
          <p:nvPr/>
        </p:nvGrpSpPr>
        <p:grpSpPr>
          <a:xfrm>
            <a:off x="-1371600" y="0"/>
            <a:ext cx="14133829" cy="6900434"/>
            <a:chOff x="-1512012" y="171826"/>
            <a:chExt cx="14133829" cy="690043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93F01A5-478F-8776-D334-20C76CB38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71934" y="2360947"/>
              <a:ext cx="4463180" cy="2870910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796EA81-5CC9-7F2C-FD63-9F4099829A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30563" y="969641"/>
              <a:ext cx="307428" cy="1544959"/>
            </a:xfrm>
            <a:prstGeom prst="straightConnector1">
              <a:avLst/>
            </a:prstGeom>
            <a:ln w="44450">
              <a:solidFill>
                <a:srgbClr val="101D4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3411A8F-5518-3FCC-7B0E-AF0ACC3329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5169" y="4475407"/>
              <a:ext cx="1461596" cy="1193360"/>
            </a:xfrm>
            <a:prstGeom prst="straightConnector1">
              <a:avLst/>
            </a:prstGeom>
            <a:ln w="44450">
              <a:solidFill>
                <a:srgbClr val="101D4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7E5E779-932A-FADD-587C-C79AD0B8BA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8226" y="2779134"/>
              <a:ext cx="2100657" cy="517731"/>
            </a:xfrm>
            <a:prstGeom prst="straightConnector1">
              <a:avLst/>
            </a:prstGeom>
            <a:ln w="44450">
              <a:solidFill>
                <a:srgbClr val="101D4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EFBCB04-CA53-2840-0EFE-507507E4B1B3}"/>
                </a:ext>
              </a:extLst>
            </p:cNvPr>
            <p:cNvSpPr txBox="1"/>
            <p:nvPr/>
          </p:nvSpPr>
          <p:spPr>
            <a:xfrm>
              <a:off x="9433804" y="2009824"/>
              <a:ext cx="3188013" cy="119181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Population group</a:t>
              </a:r>
            </a:p>
            <a:p>
              <a:pPr algn="ctr"/>
              <a:r>
                <a:rPr lang="en-US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Coloured</a:t>
              </a:r>
              <a:r>
                <a: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to match group in charts below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284C14A-8301-1992-1390-85693378EF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061" y="3820000"/>
              <a:ext cx="2165720" cy="378935"/>
            </a:xfrm>
            <a:prstGeom prst="straightConnector1">
              <a:avLst/>
            </a:prstGeom>
            <a:ln w="44450">
              <a:solidFill>
                <a:srgbClr val="101D4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5D82D47-DEA4-B84F-8CEA-59191B0656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5777" y="2745078"/>
              <a:ext cx="1894092" cy="146328"/>
            </a:xfrm>
            <a:prstGeom prst="straightConnector1">
              <a:avLst/>
            </a:prstGeom>
            <a:ln w="44450">
              <a:solidFill>
                <a:srgbClr val="101D4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788A4530-C208-46D7-AE2C-D996B1C7DEE6}"/>
                </a:ext>
              </a:extLst>
            </p:cNvPr>
            <p:cNvGrpSpPr/>
            <p:nvPr/>
          </p:nvGrpSpPr>
          <p:grpSpPr>
            <a:xfrm>
              <a:off x="-1512012" y="1304526"/>
              <a:ext cx="5398212" cy="2894409"/>
              <a:chOff x="-1894180" y="1092241"/>
              <a:chExt cx="5398212" cy="2894409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09ACABE-6326-886F-7DB5-BFED49D5559A}"/>
                  </a:ext>
                </a:extLst>
              </p:cNvPr>
              <p:cNvSpPr txBox="1"/>
              <p:nvPr/>
            </p:nvSpPr>
            <p:spPr>
              <a:xfrm>
                <a:off x="-1894180" y="1092241"/>
                <a:ext cx="5133659" cy="289440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Gap with population average</a:t>
                </a:r>
              </a:p>
              <a:p>
                <a:pPr algn="ctr"/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Indicates if the gap between the group and the population average is narrowing or widening </a:t>
                </a:r>
                <a:r>
                  <a:rPr lang="en-US"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since 2015</a:t>
                </a: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  <a:p>
                <a:pPr algn="ctr"/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  <a:p>
                <a:pPr algn="ctr"/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  <a:p>
                <a:pPr algn="ctr"/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  <a:p>
                <a:pPr algn="ctr"/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12F4E960-3687-8730-6EC1-BE95DB93702A}"/>
                  </a:ext>
                </a:extLst>
              </p:cNvPr>
              <p:cNvGrpSpPr/>
              <p:nvPr/>
            </p:nvGrpSpPr>
            <p:grpSpPr>
              <a:xfrm>
                <a:off x="-24556" y="2798800"/>
                <a:ext cx="365760" cy="365760"/>
                <a:chOff x="6786284" y="1567200"/>
                <a:chExt cx="3328708" cy="331014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4F3886F7-774E-EB05-1400-4F3E70E2371B}"/>
                    </a:ext>
                  </a:extLst>
                </p:cNvPr>
                <p:cNvSpPr/>
                <p:nvPr/>
              </p:nvSpPr>
              <p:spPr>
                <a:xfrm>
                  <a:off x="7002838" y="1752600"/>
                  <a:ext cx="2895600" cy="28956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pic>
              <p:nvPicPr>
                <p:cNvPr id="14" name="Graphic 13">
                  <a:extLst>
                    <a:ext uri="{FF2B5EF4-FFF2-40B4-BE49-F238E27FC236}">
                      <a16:creationId xmlns:a16="http://schemas.microsoft.com/office/drawing/2014/main" id="{8E66A868-0F92-0377-A203-CB98BE1C75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b="18638"/>
                <a:stretch>
                  <a:fillRect/>
                </a:stretch>
              </p:blipFill>
              <p:spPr>
                <a:xfrm>
                  <a:off x="6786284" y="1567200"/>
                  <a:ext cx="3328708" cy="3310141"/>
                </a:xfrm>
                <a:prstGeom prst="rect">
                  <a:avLst/>
                </a:prstGeom>
              </p:spPr>
            </p:pic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6DF77DB-C87E-66E1-ED0A-7A724AF85DB8}"/>
                  </a:ext>
                </a:extLst>
              </p:cNvPr>
              <p:cNvGrpSpPr/>
              <p:nvPr/>
            </p:nvGrpSpPr>
            <p:grpSpPr>
              <a:xfrm>
                <a:off x="-1716371" y="3308169"/>
                <a:ext cx="365760" cy="365760"/>
                <a:chOff x="1610849" y="1567201"/>
                <a:chExt cx="3293409" cy="3220216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F8E0CD86-944C-C1D6-9834-C5BD15A83951}"/>
                    </a:ext>
                  </a:extLst>
                </p:cNvPr>
                <p:cNvSpPr/>
                <p:nvPr/>
              </p:nvSpPr>
              <p:spPr>
                <a:xfrm>
                  <a:off x="1828800" y="1752600"/>
                  <a:ext cx="2895600" cy="28194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C2AD63E6-8894-C016-D8A6-BDF2297AB4A0}"/>
                    </a:ext>
                  </a:extLst>
                </p:cNvPr>
                <p:cNvGrpSpPr/>
                <p:nvPr/>
              </p:nvGrpSpPr>
              <p:grpSpPr>
                <a:xfrm>
                  <a:off x="1610849" y="1567201"/>
                  <a:ext cx="3293409" cy="3220216"/>
                  <a:chOff x="7033932" y="1567200"/>
                  <a:chExt cx="3293409" cy="3220216"/>
                </a:xfrm>
                <a:solidFill>
                  <a:schemeClr val="tx1">
                    <a:lumMod val="50000"/>
                    <a:lumOff val="50000"/>
                  </a:schemeClr>
                </a:solidFill>
              </p:grpSpPr>
              <p:grpSp>
                <p:nvGrpSpPr>
                  <p:cNvPr id="19" name="Graphic 4">
                    <a:extLst>
                      <a:ext uri="{FF2B5EF4-FFF2-40B4-BE49-F238E27FC236}">
                        <a16:creationId xmlns:a16="http://schemas.microsoft.com/office/drawing/2014/main" id="{14D8F578-2536-302C-99DB-17B92ED4B9D7}"/>
                      </a:ext>
                    </a:extLst>
                  </p:cNvPr>
                  <p:cNvGrpSpPr/>
                  <p:nvPr/>
                </p:nvGrpSpPr>
                <p:grpSpPr>
                  <a:xfrm>
                    <a:off x="7033932" y="1567200"/>
                    <a:ext cx="3293409" cy="3220216"/>
                    <a:chOff x="7033932" y="1567200"/>
                    <a:chExt cx="3293409" cy="3220216"/>
                  </a:xfrm>
                  <a:grpFill/>
                </p:grpSpPr>
                <p:sp>
                  <p:nvSpPr>
                    <p:cNvPr id="21" name="Freeform 20">
                      <a:extLst>
                        <a:ext uri="{FF2B5EF4-FFF2-40B4-BE49-F238E27FC236}">
                          <a16:creationId xmlns:a16="http://schemas.microsoft.com/office/drawing/2014/main" id="{583B2789-4225-7B8A-3A20-F6E4CAA8AD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33932" y="1567200"/>
                      <a:ext cx="3293409" cy="3220216"/>
                    </a:xfrm>
                    <a:custGeom>
                      <a:avLst/>
                      <a:gdLst>
                        <a:gd name="connsiteX0" fmla="*/ 1646705 w 3293409"/>
                        <a:gd name="connsiteY0" fmla="*/ 0 h 3220216"/>
                        <a:gd name="connsiteX1" fmla="*/ 0 w 3293409"/>
                        <a:gd name="connsiteY1" fmla="*/ 1610108 h 3220216"/>
                        <a:gd name="connsiteX2" fmla="*/ 1646705 w 3293409"/>
                        <a:gd name="connsiteY2" fmla="*/ 3220217 h 3220216"/>
                        <a:gd name="connsiteX3" fmla="*/ 3293409 w 3293409"/>
                        <a:gd name="connsiteY3" fmla="*/ 1610108 h 3220216"/>
                        <a:gd name="connsiteX4" fmla="*/ 1646705 w 3293409"/>
                        <a:gd name="connsiteY4" fmla="*/ 0 h 3220216"/>
                        <a:gd name="connsiteX5" fmla="*/ 1646705 w 3293409"/>
                        <a:gd name="connsiteY5" fmla="*/ 2951865 h 3220216"/>
                        <a:gd name="connsiteX6" fmla="*/ 274451 w 3293409"/>
                        <a:gd name="connsiteY6" fmla="*/ 1610108 h 3220216"/>
                        <a:gd name="connsiteX7" fmla="*/ 1646705 w 3293409"/>
                        <a:gd name="connsiteY7" fmla="*/ 268351 h 3220216"/>
                        <a:gd name="connsiteX8" fmla="*/ 3018958 w 3293409"/>
                        <a:gd name="connsiteY8" fmla="*/ 1610108 h 3220216"/>
                        <a:gd name="connsiteX9" fmla="*/ 1646705 w 3293409"/>
                        <a:gd name="connsiteY9" fmla="*/ 2951865 h 322021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93409" h="3220216">
                          <a:moveTo>
                            <a:pt x="1646705" y="0"/>
                          </a:moveTo>
                          <a:cubicBezTo>
                            <a:pt x="737312" y="0"/>
                            <a:pt x="0" y="720926"/>
                            <a:pt x="0" y="1610108"/>
                          </a:cubicBezTo>
                          <a:cubicBezTo>
                            <a:pt x="0" y="2499291"/>
                            <a:pt x="737312" y="3220217"/>
                            <a:pt x="1646705" y="3220217"/>
                          </a:cubicBezTo>
                          <a:cubicBezTo>
                            <a:pt x="2556097" y="3220217"/>
                            <a:pt x="3293409" y="2499291"/>
                            <a:pt x="3293409" y="1610108"/>
                          </a:cubicBezTo>
                          <a:cubicBezTo>
                            <a:pt x="3293409" y="720926"/>
                            <a:pt x="2556097" y="0"/>
                            <a:pt x="1646705" y="0"/>
                          </a:cubicBezTo>
                          <a:close/>
                          <a:moveTo>
                            <a:pt x="1646705" y="2951865"/>
                          </a:moveTo>
                          <a:cubicBezTo>
                            <a:pt x="890044" y="2951865"/>
                            <a:pt x="274451" y="2349953"/>
                            <a:pt x="274451" y="1610108"/>
                          </a:cubicBezTo>
                          <a:cubicBezTo>
                            <a:pt x="274451" y="870264"/>
                            <a:pt x="890044" y="268351"/>
                            <a:pt x="1646705" y="268351"/>
                          </a:cubicBezTo>
                          <a:cubicBezTo>
                            <a:pt x="2403365" y="268351"/>
                            <a:pt x="3018958" y="870264"/>
                            <a:pt x="3018958" y="1610108"/>
                          </a:cubicBezTo>
                          <a:cubicBezTo>
                            <a:pt x="3018958" y="2349953"/>
                            <a:pt x="2403365" y="2951865"/>
                            <a:pt x="1646705" y="2951865"/>
                          </a:cubicBezTo>
                          <a:close/>
                        </a:path>
                      </a:pathLst>
                    </a:custGeom>
                    <a:solidFill>
                      <a:srgbClr val="DBA520"/>
                    </a:solidFill>
                    <a:ln w="13692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p:txBody>
                </p:sp>
                <p:sp>
                  <p:nvSpPr>
                    <p:cNvPr id="22" name="Freeform 21">
                      <a:extLst>
                        <a:ext uri="{FF2B5EF4-FFF2-40B4-BE49-F238E27FC236}">
                          <a16:creationId xmlns:a16="http://schemas.microsoft.com/office/drawing/2014/main" id="{DC295BE0-A20E-56D3-9FA0-C84BA58E08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94509" y="2774190"/>
                      <a:ext cx="1372253" cy="268351"/>
                    </a:xfrm>
                    <a:custGeom>
                      <a:avLst/>
                      <a:gdLst>
                        <a:gd name="connsiteX0" fmla="*/ 0 w 1372253"/>
                        <a:gd name="connsiteY0" fmla="*/ 0 h 268351"/>
                        <a:gd name="connsiteX1" fmla="*/ 1372254 w 1372253"/>
                        <a:gd name="connsiteY1" fmla="*/ 0 h 268351"/>
                        <a:gd name="connsiteX2" fmla="*/ 1372254 w 1372253"/>
                        <a:gd name="connsiteY2" fmla="*/ 268351 h 268351"/>
                        <a:gd name="connsiteX3" fmla="*/ 0 w 1372253"/>
                        <a:gd name="connsiteY3" fmla="*/ 268351 h 2683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72253" h="268351">
                          <a:moveTo>
                            <a:pt x="0" y="0"/>
                          </a:moveTo>
                          <a:lnTo>
                            <a:pt x="1372254" y="0"/>
                          </a:lnTo>
                          <a:lnTo>
                            <a:pt x="1372254" y="268351"/>
                          </a:lnTo>
                          <a:lnTo>
                            <a:pt x="0" y="268351"/>
                          </a:lnTo>
                          <a:close/>
                        </a:path>
                      </a:pathLst>
                    </a:custGeom>
                    <a:solidFill>
                      <a:srgbClr val="DBA520"/>
                    </a:solidFill>
                    <a:ln w="13692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p:txBody>
                </p:sp>
              </p:grpSp>
              <p:sp>
                <p:nvSpPr>
                  <p:cNvPr id="20" name="Freeform 19">
                    <a:extLst>
                      <a:ext uri="{FF2B5EF4-FFF2-40B4-BE49-F238E27FC236}">
                        <a16:creationId xmlns:a16="http://schemas.microsoft.com/office/drawing/2014/main" id="{B28E9CA2-70D6-5DBB-E82A-11DC04DD00FB}"/>
                      </a:ext>
                    </a:extLst>
                  </p:cNvPr>
                  <p:cNvSpPr/>
                  <p:nvPr/>
                </p:nvSpPr>
                <p:spPr>
                  <a:xfrm>
                    <a:off x="7994508" y="3361765"/>
                    <a:ext cx="1372253" cy="268351"/>
                  </a:xfrm>
                  <a:custGeom>
                    <a:avLst/>
                    <a:gdLst>
                      <a:gd name="connsiteX0" fmla="*/ 0 w 1372253"/>
                      <a:gd name="connsiteY0" fmla="*/ 0 h 268351"/>
                      <a:gd name="connsiteX1" fmla="*/ 1372254 w 1372253"/>
                      <a:gd name="connsiteY1" fmla="*/ 0 h 268351"/>
                      <a:gd name="connsiteX2" fmla="*/ 1372254 w 1372253"/>
                      <a:gd name="connsiteY2" fmla="*/ 268351 h 268351"/>
                      <a:gd name="connsiteX3" fmla="*/ 0 w 1372253"/>
                      <a:gd name="connsiteY3" fmla="*/ 268351 h 2683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72253" h="268351">
                        <a:moveTo>
                          <a:pt x="0" y="0"/>
                        </a:moveTo>
                        <a:lnTo>
                          <a:pt x="1372254" y="0"/>
                        </a:lnTo>
                        <a:lnTo>
                          <a:pt x="1372254" y="268351"/>
                        </a:lnTo>
                        <a:lnTo>
                          <a:pt x="0" y="268351"/>
                        </a:lnTo>
                        <a:close/>
                      </a:path>
                    </a:pathLst>
                  </a:custGeom>
                  <a:solidFill>
                    <a:srgbClr val="DBA520"/>
                  </a:solidFill>
                  <a:ln w="13692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endParaRPr>
                  </a:p>
                </p:txBody>
              </p:sp>
            </p:grp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C84BB548-4126-DD89-3400-C06B4788A362}"/>
                  </a:ext>
                </a:extLst>
              </p:cNvPr>
              <p:cNvGrpSpPr/>
              <p:nvPr/>
            </p:nvGrpSpPr>
            <p:grpSpPr>
              <a:xfrm>
                <a:off x="-1713885" y="2785021"/>
                <a:ext cx="365760" cy="365760"/>
                <a:chOff x="7069791" y="1590292"/>
                <a:chExt cx="3293409" cy="3220216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6E467F4F-5CAD-A341-F543-95044D1EABBB}"/>
                    </a:ext>
                  </a:extLst>
                </p:cNvPr>
                <p:cNvGrpSpPr/>
                <p:nvPr/>
              </p:nvGrpSpPr>
              <p:grpSpPr>
                <a:xfrm>
                  <a:off x="7069791" y="1590292"/>
                  <a:ext cx="3293409" cy="3220216"/>
                  <a:chOff x="1610849" y="1567201"/>
                  <a:chExt cx="3293409" cy="3220216"/>
                </a:xfrm>
              </p:grpSpPr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5C3C488B-CB6D-F098-EBA7-5689D2E3ED2B}"/>
                      </a:ext>
                    </a:extLst>
                  </p:cNvPr>
                  <p:cNvSpPr/>
                  <p:nvPr/>
                </p:nvSpPr>
                <p:spPr>
                  <a:xfrm>
                    <a:off x="1828800" y="1752600"/>
                    <a:ext cx="2895600" cy="28194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endParaRPr>
                  </a:p>
                </p:txBody>
              </p:sp>
              <p:sp>
                <p:nvSpPr>
                  <p:cNvPr id="49" name="Freeform 48">
                    <a:extLst>
                      <a:ext uri="{FF2B5EF4-FFF2-40B4-BE49-F238E27FC236}">
                        <a16:creationId xmlns:a16="http://schemas.microsoft.com/office/drawing/2014/main" id="{0D055152-C4F2-D3BC-B91D-4B3930079BF1}"/>
                      </a:ext>
                    </a:extLst>
                  </p:cNvPr>
                  <p:cNvSpPr/>
                  <p:nvPr/>
                </p:nvSpPr>
                <p:spPr>
                  <a:xfrm>
                    <a:off x="1610849" y="1567201"/>
                    <a:ext cx="3293409" cy="3220216"/>
                  </a:xfrm>
                  <a:custGeom>
                    <a:avLst/>
                    <a:gdLst>
                      <a:gd name="connsiteX0" fmla="*/ 1646705 w 3293409"/>
                      <a:gd name="connsiteY0" fmla="*/ 0 h 3220216"/>
                      <a:gd name="connsiteX1" fmla="*/ 0 w 3293409"/>
                      <a:gd name="connsiteY1" fmla="*/ 1610108 h 3220216"/>
                      <a:gd name="connsiteX2" fmla="*/ 1646705 w 3293409"/>
                      <a:gd name="connsiteY2" fmla="*/ 3220217 h 3220216"/>
                      <a:gd name="connsiteX3" fmla="*/ 3293409 w 3293409"/>
                      <a:gd name="connsiteY3" fmla="*/ 1610108 h 3220216"/>
                      <a:gd name="connsiteX4" fmla="*/ 1646705 w 3293409"/>
                      <a:gd name="connsiteY4" fmla="*/ 0 h 3220216"/>
                      <a:gd name="connsiteX5" fmla="*/ 1646705 w 3293409"/>
                      <a:gd name="connsiteY5" fmla="*/ 2951865 h 3220216"/>
                      <a:gd name="connsiteX6" fmla="*/ 274451 w 3293409"/>
                      <a:gd name="connsiteY6" fmla="*/ 1610108 h 3220216"/>
                      <a:gd name="connsiteX7" fmla="*/ 1646705 w 3293409"/>
                      <a:gd name="connsiteY7" fmla="*/ 268351 h 3220216"/>
                      <a:gd name="connsiteX8" fmla="*/ 3018958 w 3293409"/>
                      <a:gd name="connsiteY8" fmla="*/ 1610108 h 3220216"/>
                      <a:gd name="connsiteX9" fmla="*/ 1646705 w 3293409"/>
                      <a:gd name="connsiteY9" fmla="*/ 2951865 h 32202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93409" h="3220216">
                        <a:moveTo>
                          <a:pt x="1646705" y="0"/>
                        </a:moveTo>
                        <a:cubicBezTo>
                          <a:pt x="737312" y="0"/>
                          <a:pt x="0" y="720926"/>
                          <a:pt x="0" y="1610108"/>
                        </a:cubicBezTo>
                        <a:cubicBezTo>
                          <a:pt x="0" y="2499291"/>
                          <a:pt x="737312" y="3220217"/>
                          <a:pt x="1646705" y="3220217"/>
                        </a:cubicBezTo>
                        <a:cubicBezTo>
                          <a:pt x="2556097" y="3220217"/>
                          <a:pt x="3293409" y="2499291"/>
                          <a:pt x="3293409" y="1610108"/>
                        </a:cubicBezTo>
                        <a:cubicBezTo>
                          <a:pt x="3293409" y="720926"/>
                          <a:pt x="2556097" y="0"/>
                          <a:pt x="1646705" y="0"/>
                        </a:cubicBezTo>
                        <a:close/>
                        <a:moveTo>
                          <a:pt x="1646705" y="2951865"/>
                        </a:moveTo>
                        <a:cubicBezTo>
                          <a:pt x="890044" y="2951865"/>
                          <a:pt x="274451" y="2349953"/>
                          <a:pt x="274451" y="1610108"/>
                        </a:cubicBezTo>
                        <a:cubicBezTo>
                          <a:pt x="274451" y="870264"/>
                          <a:pt x="890044" y="268351"/>
                          <a:pt x="1646705" y="268351"/>
                        </a:cubicBezTo>
                        <a:cubicBezTo>
                          <a:pt x="2403365" y="268351"/>
                          <a:pt x="3018958" y="870264"/>
                          <a:pt x="3018958" y="1610108"/>
                        </a:cubicBezTo>
                        <a:cubicBezTo>
                          <a:pt x="3018958" y="2349953"/>
                          <a:pt x="2403365" y="2951865"/>
                          <a:pt x="1646705" y="2951865"/>
                        </a:cubicBezTo>
                        <a:close/>
                      </a:path>
                    </a:pathLst>
                  </a:custGeom>
                  <a:solidFill>
                    <a:srgbClr val="0D8554"/>
                  </a:solidFill>
                  <a:ln w="13692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endParaRPr>
                  </a:p>
                </p:txBody>
              </p:sp>
            </p:grpSp>
            <p:sp>
              <p:nvSpPr>
                <p:cNvPr id="46" name="Right Arrow 45">
                  <a:extLst>
                    <a:ext uri="{FF2B5EF4-FFF2-40B4-BE49-F238E27FC236}">
                      <a16:creationId xmlns:a16="http://schemas.microsoft.com/office/drawing/2014/main" id="{4EC8ACD9-367C-49CB-DB30-CEDE78CDE969}"/>
                    </a:ext>
                  </a:extLst>
                </p:cNvPr>
                <p:cNvSpPr/>
                <p:nvPr/>
              </p:nvSpPr>
              <p:spPr>
                <a:xfrm>
                  <a:off x="7747305" y="2583296"/>
                  <a:ext cx="990600" cy="1234209"/>
                </a:xfrm>
                <a:prstGeom prst="rightArrow">
                  <a:avLst/>
                </a:prstGeom>
                <a:solidFill>
                  <a:srgbClr val="0D855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47" name="Right Arrow 46">
                  <a:extLst>
                    <a:ext uri="{FF2B5EF4-FFF2-40B4-BE49-F238E27FC236}">
                      <a16:creationId xmlns:a16="http://schemas.microsoft.com/office/drawing/2014/main" id="{359896D4-0740-0844-58D5-F04232D5E1A4}"/>
                    </a:ext>
                  </a:extLst>
                </p:cNvPr>
                <p:cNvSpPr/>
                <p:nvPr/>
              </p:nvSpPr>
              <p:spPr>
                <a:xfrm rot="10800000">
                  <a:off x="8735542" y="2583296"/>
                  <a:ext cx="990600" cy="1234209"/>
                </a:xfrm>
                <a:prstGeom prst="rightArrow">
                  <a:avLst/>
                </a:prstGeom>
                <a:solidFill>
                  <a:srgbClr val="0D855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29344F7-E014-1B5A-AB59-1795810F40B0}"/>
                  </a:ext>
                </a:extLst>
              </p:cNvPr>
              <p:cNvGrpSpPr/>
              <p:nvPr/>
            </p:nvGrpSpPr>
            <p:grpSpPr>
              <a:xfrm>
                <a:off x="-292418" y="3332155"/>
                <a:ext cx="786995" cy="365760"/>
                <a:chOff x="-2361919" y="1567201"/>
                <a:chExt cx="7086316" cy="3220216"/>
              </a:xfrm>
            </p:grpSpPr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04036955-7D2A-5315-2503-E0A56B80C370}"/>
                    </a:ext>
                  </a:extLst>
                </p:cNvPr>
                <p:cNvSpPr/>
                <p:nvPr/>
              </p:nvSpPr>
              <p:spPr>
                <a:xfrm>
                  <a:off x="1828798" y="1828800"/>
                  <a:ext cx="2895599" cy="27431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6A9C9990-EBA7-9FDC-FC7D-CFD9779AF5FD}"/>
                    </a:ext>
                  </a:extLst>
                </p:cNvPr>
                <p:cNvGrpSpPr/>
                <p:nvPr/>
              </p:nvGrpSpPr>
              <p:grpSpPr>
                <a:xfrm>
                  <a:off x="-2361919" y="1567201"/>
                  <a:ext cx="3293410" cy="3220216"/>
                  <a:chOff x="-2361919" y="1567201"/>
                  <a:chExt cx="3293410" cy="3220216"/>
                </a:xfrm>
              </p:grpSpPr>
              <p:sp>
                <p:nvSpPr>
                  <p:cNvPr id="59" name="Freeform 58">
                    <a:extLst>
                      <a:ext uri="{FF2B5EF4-FFF2-40B4-BE49-F238E27FC236}">
                        <a16:creationId xmlns:a16="http://schemas.microsoft.com/office/drawing/2014/main" id="{28368451-36A3-8D21-EA7B-AADC9D991C7F}"/>
                      </a:ext>
                    </a:extLst>
                  </p:cNvPr>
                  <p:cNvSpPr/>
                  <p:nvPr/>
                </p:nvSpPr>
                <p:spPr>
                  <a:xfrm>
                    <a:off x="-2361919" y="1567201"/>
                    <a:ext cx="3293410" cy="3220216"/>
                  </a:xfrm>
                  <a:custGeom>
                    <a:avLst/>
                    <a:gdLst>
                      <a:gd name="connsiteX0" fmla="*/ 1646705 w 3293409"/>
                      <a:gd name="connsiteY0" fmla="*/ 0 h 3220216"/>
                      <a:gd name="connsiteX1" fmla="*/ 0 w 3293409"/>
                      <a:gd name="connsiteY1" fmla="*/ 1610108 h 3220216"/>
                      <a:gd name="connsiteX2" fmla="*/ 1646705 w 3293409"/>
                      <a:gd name="connsiteY2" fmla="*/ 3220217 h 3220216"/>
                      <a:gd name="connsiteX3" fmla="*/ 3293409 w 3293409"/>
                      <a:gd name="connsiteY3" fmla="*/ 1610108 h 3220216"/>
                      <a:gd name="connsiteX4" fmla="*/ 1646705 w 3293409"/>
                      <a:gd name="connsiteY4" fmla="*/ 0 h 3220216"/>
                      <a:gd name="connsiteX5" fmla="*/ 1646705 w 3293409"/>
                      <a:gd name="connsiteY5" fmla="*/ 2951865 h 3220216"/>
                      <a:gd name="connsiteX6" fmla="*/ 274451 w 3293409"/>
                      <a:gd name="connsiteY6" fmla="*/ 1610108 h 3220216"/>
                      <a:gd name="connsiteX7" fmla="*/ 1646705 w 3293409"/>
                      <a:gd name="connsiteY7" fmla="*/ 268351 h 3220216"/>
                      <a:gd name="connsiteX8" fmla="*/ 3018958 w 3293409"/>
                      <a:gd name="connsiteY8" fmla="*/ 1610108 h 3220216"/>
                      <a:gd name="connsiteX9" fmla="*/ 1646705 w 3293409"/>
                      <a:gd name="connsiteY9" fmla="*/ 2951865 h 32202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93409" h="3220216">
                        <a:moveTo>
                          <a:pt x="1646705" y="0"/>
                        </a:moveTo>
                        <a:cubicBezTo>
                          <a:pt x="737312" y="0"/>
                          <a:pt x="0" y="720926"/>
                          <a:pt x="0" y="1610108"/>
                        </a:cubicBezTo>
                        <a:cubicBezTo>
                          <a:pt x="0" y="2499291"/>
                          <a:pt x="737312" y="3220217"/>
                          <a:pt x="1646705" y="3220217"/>
                        </a:cubicBezTo>
                        <a:cubicBezTo>
                          <a:pt x="2556097" y="3220217"/>
                          <a:pt x="3293409" y="2499291"/>
                          <a:pt x="3293409" y="1610108"/>
                        </a:cubicBezTo>
                        <a:cubicBezTo>
                          <a:pt x="3293409" y="720926"/>
                          <a:pt x="2556097" y="0"/>
                          <a:pt x="1646705" y="0"/>
                        </a:cubicBezTo>
                        <a:close/>
                        <a:moveTo>
                          <a:pt x="1646705" y="2951865"/>
                        </a:moveTo>
                        <a:cubicBezTo>
                          <a:pt x="890044" y="2951865"/>
                          <a:pt x="274451" y="2349953"/>
                          <a:pt x="274451" y="1610108"/>
                        </a:cubicBezTo>
                        <a:cubicBezTo>
                          <a:pt x="274451" y="870264"/>
                          <a:pt x="890044" y="268351"/>
                          <a:pt x="1646705" y="268351"/>
                        </a:cubicBezTo>
                        <a:cubicBezTo>
                          <a:pt x="2403365" y="268351"/>
                          <a:pt x="3018958" y="870264"/>
                          <a:pt x="3018958" y="1610108"/>
                        </a:cubicBezTo>
                        <a:cubicBezTo>
                          <a:pt x="3018958" y="2349953"/>
                          <a:pt x="2403365" y="2951865"/>
                          <a:pt x="1646705" y="2951865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50000"/>
                      <a:lumOff val="50000"/>
                    </a:schemeClr>
                  </a:solidFill>
                  <a:ln w="13692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endParaRPr>
                  </a:p>
                </p:txBody>
              </p:sp>
              <p:sp>
                <p:nvSpPr>
                  <p:cNvPr id="60" name="Multiply 59">
                    <a:extLst>
                      <a:ext uri="{FF2B5EF4-FFF2-40B4-BE49-F238E27FC236}">
                        <a16:creationId xmlns:a16="http://schemas.microsoft.com/office/drawing/2014/main" id="{B2C6F6DA-E75F-E86C-3ADE-9007D0140B68}"/>
                      </a:ext>
                    </a:extLst>
                  </p:cNvPr>
                  <p:cNvSpPr/>
                  <p:nvPr/>
                </p:nvSpPr>
                <p:spPr>
                  <a:xfrm>
                    <a:off x="-1743920" y="2148611"/>
                    <a:ext cx="2057403" cy="2057404"/>
                  </a:xfrm>
                  <a:prstGeom prst="mathMultiply">
                    <a:avLst/>
                  </a:prstGeom>
                  <a:solidFill>
                    <a:srgbClr val="7F7F7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endParaRPr>
                  </a:p>
                </p:txBody>
              </p:sp>
            </p:grpSp>
          </p:grp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F2321B1-9FED-C0DB-4D7C-1D1651985152}"/>
                  </a:ext>
                </a:extLst>
              </p:cNvPr>
              <p:cNvSpPr txBox="1"/>
              <p:nvPr/>
            </p:nvSpPr>
            <p:spPr>
              <a:xfrm>
                <a:off x="-1271417" y="2799845"/>
                <a:ext cx="12430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Narrowing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9CE8ABD-110E-5E52-B65B-322D070AA663}"/>
                  </a:ext>
                </a:extLst>
              </p:cNvPr>
              <p:cNvSpPr txBox="1"/>
              <p:nvPr/>
            </p:nvSpPr>
            <p:spPr>
              <a:xfrm>
                <a:off x="-1274410" y="3231630"/>
                <a:ext cx="121478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No clear change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71200FD-98CA-631F-7494-754EE50121F3}"/>
                  </a:ext>
                </a:extLst>
              </p:cNvPr>
              <p:cNvSpPr txBox="1"/>
              <p:nvPr/>
            </p:nvSpPr>
            <p:spPr>
              <a:xfrm>
                <a:off x="63956" y="3273676"/>
                <a:ext cx="12605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Not enough data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2039E89-CCDD-2F8D-D942-08F371983168}"/>
                  </a:ext>
                </a:extLst>
              </p:cNvPr>
              <p:cNvSpPr txBox="1"/>
              <p:nvPr/>
            </p:nvSpPr>
            <p:spPr>
              <a:xfrm>
                <a:off x="409045" y="2781110"/>
                <a:ext cx="121253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Widening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C201E0E-93CD-C340-C04E-64E3E0185286}"/>
                  </a:ext>
                </a:extLst>
              </p:cNvPr>
              <p:cNvSpPr txBox="1"/>
              <p:nvPr/>
            </p:nvSpPr>
            <p:spPr>
              <a:xfrm>
                <a:off x="1930782" y="2717266"/>
                <a:ext cx="144763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Flip to better than pop.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AE7926E-2445-7CAE-62B7-A94433CA67C2}"/>
                  </a:ext>
                </a:extLst>
              </p:cNvPr>
              <p:cNvSpPr txBox="1"/>
              <p:nvPr/>
            </p:nvSpPr>
            <p:spPr>
              <a:xfrm>
                <a:off x="1763124" y="3317740"/>
                <a:ext cx="174090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Flip to worse than pop.</a:t>
                </a:r>
              </a:p>
            </p:txBody>
          </p: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2E33C206-6811-5438-66A6-189DFC261461}"/>
                  </a:ext>
                </a:extLst>
              </p:cNvPr>
              <p:cNvGrpSpPr/>
              <p:nvPr/>
            </p:nvGrpSpPr>
            <p:grpSpPr>
              <a:xfrm>
                <a:off x="1464138" y="2769679"/>
                <a:ext cx="422236" cy="402366"/>
                <a:chOff x="1143000" y="1447800"/>
                <a:chExt cx="3886200" cy="3657600"/>
              </a:xfrm>
            </p:grpSpPr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888A9ED3-49CB-D18C-F2D5-228999A9F2AA}"/>
                    </a:ext>
                  </a:extLst>
                </p:cNvPr>
                <p:cNvSpPr/>
                <p:nvPr/>
              </p:nvSpPr>
              <p:spPr>
                <a:xfrm>
                  <a:off x="1546739" y="1613614"/>
                  <a:ext cx="3200400" cy="32004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85" name="Freeform 84">
                  <a:extLst>
                    <a:ext uri="{FF2B5EF4-FFF2-40B4-BE49-F238E27FC236}">
                      <a16:creationId xmlns:a16="http://schemas.microsoft.com/office/drawing/2014/main" id="{0347FBB0-498A-E06D-50C6-20476F9422FD}"/>
                    </a:ext>
                  </a:extLst>
                </p:cNvPr>
                <p:cNvSpPr/>
                <p:nvPr/>
              </p:nvSpPr>
              <p:spPr>
                <a:xfrm>
                  <a:off x="2988423" y="2285651"/>
                  <a:ext cx="317033" cy="317033"/>
                </a:xfrm>
                <a:custGeom>
                  <a:avLst/>
                  <a:gdLst>
                    <a:gd name="connsiteX0" fmla="*/ 317033 w 317033"/>
                    <a:gd name="connsiteY0" fmla="*/ 158517 h 317033"/>
                    <a:gd name="connsiteX1" fmla="*/ 158517 w 317033"/>
                    <a:gd name="connsiteY1" fmla="*/ 317033 h 317033"/>
                    <a:gd name="connsiteX2" fmla="*/ 0 w 317033"/>
                    <a:gd name="connsiteY2" fmla="*/ 158517 h 317033"/>
                    <a:gd name="connsiteX3" fmla="*/ 158517 w 317033"/>
                    <a:gd name="connsiteY3" fmla="*/ 0 h 317033"/>
                    <a:gd name="connsiteX4" fmla="*/ 317033 w 317033"/>
                    <a:gd name="connsiteY4" fmla="*/ 158517 h 317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033" h="317033">
                      <a:moveTo>
                        <a:pt x="317033" y="158517"/>
                      </a:moveTo>
                      <a:cubicBezTo>
                        <a:pt x="317033" y="246063"/>
                        <a:pt x="246063" y="317033"/>
                        <a:pt x="158517" y="317033"/>
                      </a:cubicBezTo>
                      <a:cubicBezTo>
                        <a:pt x="70970" y="317033"/>
                        <a:pt x="0" y="246063"/>
                        <a:pt x="0" y="158517"/>
                      </a:cubicBezTo>
                      <a:cubicBezTo>
                        <a:pt x="0" y="70970"/>
                        <a:pt x="70970" y="0"/>
                        <a:pt x="158517" y="0"/>
                      </a:cubicBezTo>
                      <a:cubicBezTo>
                        <a:pt x="246063" y="0"/>
                        <a:pt x="317033" y="70970"/>
                        <a:pt x="317033" y="158517"/>
                      </a:cubicBez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 w="197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sp>
              <p:nvSpPr>
                <p:cNvPr id="86" name="Freeform 85">
                  <a:extLst>
                    <a:ext uri="{FF2B5EF4-FFF2-40B4-BE49-F238E27FC236}">
                      <a16:creationId xmlns:a16="http://schemas.microsoft.com/office/drawing/2014/main" id="{7CD60ED8-95AA-8A27-9005-173EAB991FDA}"/>
                    </a:ext>
                  </a:extLst>
                </p:cNvPr>
                <p:cNvSpPr/>
                <p:nvPr/>
              </p:nvSpPr>
              <p:spPr>
                <a:xfrm>
                  <a:off x="2711021" y="2642316"/>
                  <a:ext cx="871838" cy="1426651"/>
                </a:xfrm>
                <a:custGeom>
                  <a:avLst/>
                  <a:gdLst>
                    <a:gd name="connsiteX0" fmla="*/ 867879 w 871841"/>
                    <a:gd name="connsiteY0" fmla="*/ 618215 h 1426650"/>
                    <a:gd name="connsiteX1" fmla="*/ 756917 w 871841"/>
                    <a:gd name="connsiteY1" fmla="*/ 146628 h 1426650"/>
                    <a:gd name="connsiteX2" fmla="*/ 733140 w 871841"/>
                    <a:gd name="connsiteY2" fmla="*/ 103036 h 1426650"/>
                    <a:gd name="connsiteX3" fmla="*/ 566697 w 871841"/>
                    <a:gd name="connsiteY3" fmla="*/ 15852 h 1426650"/>
                    <a:gd name="connsiteX4" fmla="*/ 435921 w 871841"/>
                    <a:gd name="connsiteY4" fmla="*/ 0 h 1426650"/>
                    <a:gd name="connsiteX5" fmla="*/ 305145 w 871841"/>
                    <a:gd name="connsiteY5" fmla="*/ 19815 h 1426650"/>
                    <a:gd name="connsiteX6" fmla="*/ 138702 w 871841"/>
                    <a:gd name="connsiteY6" fmla="*/ 106999 h 1426650"/>
                    <a:gd name="connsiteX7" fmla="*/ 114925 w 871841"/>
                    <a:gd name="connsiteY7" fmla="*/ 150591 h 1426650"/>
                    <a:gd name="connsiteX8" fmla="*/ 3963 w 871841"/>
                    <a:gd name="connsiteY8" fmla="*/ 622178 h 1426650"/>
                    <a:gd name="connsiteX9" fmla="*/ 0 w 871841"/>
                    <a:gd name="connsiteY9" fmla="*/ 641993 h 1426650"/>
                    <a:gd name="connsiteX10" fmla="*/ 79258 w 871841"/>
                    <a:gd name="connsiteY10" fmla="*/ 721251 h 1426650"/>
                    <a:gd name="connsiteX11" fmla="*/ 154554 w 871841"/>
                    <a:gd name="connsiteY11" fmla="*/ 661807 h 1426650"/>
                    <a:gd name="connsiteX12" fmla="*/ 237775 w 871841"/>
                    <a:gd name="connsiteY12" fmla="*/ 317033 h 1426650"/>
                    <a:gd name="connsiteX13" fmla="*/ 237775 w 871841"/>
                    <a:gd name="connsiteY13" fmla="*/ 1426650 h 1426650"/>
                    <a:gd name="connsiteX14" fmla="*/ 396292 w 871841"/>
                    <a:gd name="connsiteY14" fmla="*/ 1426650 h 1426650"/>
                    <a:gd name="connsiteX15" fmla="*/ 396292 w 871841"/>
                    <a:gd name="connsiteY15" fmla="*/ 713325 h 1426650"/>
                    <a:gd name="connsiteX16" fmla="*/ 475550 w 871841"/>
                    <a:gd name="connsiteY16" fmla="*/ 713325 h 1426650"/>
                    <a:gd name="connsiteX17" fmla="*/ 475550 w 871841"/>
                    <a:gd name="connsiteY17" fmla="*/ 1426650 h 1426650"/>
                    <a:gd name="connsiteX18" fmla="*/ 634067 w 871841"/>
                    <a:gd name="connsiteY18" fmla="*/ 1426650 h 1426650"/>
                    <a:gd name="connsiteX19" fmla="*/ 634067 w 871841"/>
                    <a:gd name="connsiteY19" fmla="*/ 313070 h 1426650"/>
                    <a:gd name="connsiteX20" fmla="*/ 717288 w 871841"/>
                    <a:gd name="connsiteY20" fmla="*/ 657844 h 1426650"/>
                    <a:gd name="connsiteX21" fmla="*/ 792583 w 871841"/>
                    <a:gd name="connsiteY21" fmla="*/ 717288 h 1426650"/>
                    <a:gd name="connsiteX22" fmla="*/ 871842 w 871841"/>
                    <a:gd name="connsiteY22" fmla="*/ 638030 h 1426650"/>
                    <a:gd name="connsiteX23" fmla="*/ 867879 w 871841"/>
                    <a:gd name="connsiteY23" fmla="*/ 618215 h 1426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71841" h="1426650">
                      <a:moveTo>
                        <a:pt x="867879" y="618215"/>
                      </a:moveTo>
                      <a:lnTo>
                        <a:pt x="756917" y="146628"/>
                      </a:lnTo>
                      <a:cubicBezTo>
                        <a:pt x="752954" y="130776"/>
                        <a:pt x="745028" y="114925"/>
                        <a:pt x="733140" y="103036"/>
                      </a:cubicBezTo>
                      <a:cubicBezTo>
                        <a:pt x="685585" y="63407"/>
                        <a:pt x="630104" y="35666"/>
                        <a:pt x="566697" y="15852"/>
                      </a:cubicBezTo>
                      <a:cubicBezTo>
                        <a:pt x="523105" y="7926"/>
                        <a:pt x="479513" y="0"/>
                        <a:pt x="435921" y="0"/>
                      </a:cubicBezTo>
                      <a:cubicBezTo>
                        <a:pt x="392329" y="0"/>
                        <a:pt x="348737" y="7926"/>
                        <a:pt x="305145" y="19815"/>
                      </a:cubicBezTo>
                      <a:cubicBezTo>
                        <a:pt x="241738" y="35666"/>
                        <a:pt x="186257" y="67370"/>
                        <a:pt x="138702" y="106999"/>
                      </a:cubicBezTo>
                      <a:cubicBezTo>
                        <a:pt x="126813" y="118888"/>
                        <a:pt x="118888" y="134739"/>
                        <a:pt x="114925" y="150591"/>
                      </a:cubicBezTo>
                      <a:lnTo>
                        <a:pt x="3963" y="622178"/>
                      </a:lnTo>
                      <a:cubicBezTo>
                        <a:pt x="3963" y="626141"/>
                        <a:pt x="0" y="634067"/>
                        <a:pt x="0" y="641993"/>
                      </a:cubicBezTo>
                      <a:cubicBezTo>
                        <a:pt x="0" y="685585"/>
                        <a:pt x="35666" y="721251"/>
                        <a:pt x="79258" y="721251"/>
                      </a:cubicBezTo>
                      <a:cubicBezTo>
                        <a:pt x="114925" y="721251"/>
                        <a:pt x="146628" y="693510"/>
                        <a:pt x="154554" y="661807"/>
                      </a:cubicBezTo>
                      <a:lnTo>
                        <a:pt x="237775" y="317033"/>
                      </a:lnTo>
                      <a:lnTo>
                        <a:pt x="237775" y="1426650"/>
                      </a:lnTo>
                      <a:lnTo>
                        <a:pt x="396292" y="1426650"/>
                      </a:lnTo>
                      <a:lnTo>
                        <a:pt x="396292" y="713325"/>
                      </a:lnTo>
                      <a:lnTo>
                        <a:pt x="475550" y="713325"/>
                      </a:lnTo>
                      <a:lnTo>
                        <a:pt x="475550" y="1426650"/>
                      </a:lnTo>
                      <a:lnTo>
                        <a:pt x="634067" y="1426650"/>
                      </a:lnTo>
                      <a:lnTo>
                        <a:pt x="634067" y="313070"/>
                      </a:lnTo>
                      <a:lnTo>
                        <a:pt x="717288" y="657844"/>
                      </a:lnTo>
                      <a:cubicBezTo>
                        <a:pt x="725214" y="689548"/>
                        <a:pt x="756917" y="717288"/>
                        <a:pt x="792583" y="717288"/>
                      </a:cubicBezTo>
                      <a:cubicBezTo>
                        <a:pt x="836175" y="717288"/>
                        <a:pt x="871842" y="681622"/>
                        <a:pt x="871842" y="638030"/>
                      </a:cubicBezTo>
                      <a:cubicBezTo>
                        <a:pt x="871842" y="630104"/>
                        <a:pt x="867879" y="622178"/>
                        <a:pt x="867879" y="618215"/>
                      </a:cubicBez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 w="197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pic>
              <p:nvPicPr>
                <p:cNvPr id="87" name="Graphic 86" descr="Arrow circle with solid fill">
                  <a:extLst>
                    <a:ext uri="{FF2B5EF4-FFF2-40B4-BE49-F238E27FC236}">
                      <a16:creationId xmlns:a16="http://schemas.microsoft.com/office/drawing/2014/main" id="{E556D765-8A10-18C5-1BD9-1457AB6210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 l="13043" t="14925" r="13043" b="13432"/>
                <a:stretch>
                  <a:fillRect/>
                </a:stretch>
              </p:blipFill>
              <p:spPr>
                <a:xfrm>
                  <a:off x="1143000" y="1447800"/>
                  <a:ext cx="3886200" cy="3657600"/>
                </a:xfrm>
                <a:prstGeom prst="rect">
                  <a:avLst/>
                </a:prstGeom>
              </p:spPr>
            </p:pic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276A2DD3-D0AA-1CE4-C71B-1F337D9A96AB}"/>
                  </a:ext>
                </a:extLst>
              </p:cNvPr>
              <p:cNvGrpSpPr/>
              <p:nvPr/>
            </p:nvGrpSpPr>
            <p:grpSpPr>
              <a:xfrm>
                <a:off x="1329196" y="3358033"/>
                <a:ext cx="422236" cy="409945"/>
                <a:chOff x="4957736" y="1447800"/>
                <a:chExt cx="3886199" cy="3657600"/>
              </a:xfrm>
            </p:grpSpPr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0156E1AC-5700-27DD-933E-A67DE297A0F4}"/>
                    </a:ext>
                  </a:extLst>
                </p:cNvPr>
                <p:cNvSpPr/>
                <p:nvPr/>
              </p:nvSpPr>
              <p:spPr>
                <a:xfrm>
                  <a:off x="5065347" y="1600200"/>
                  <a:ext cx="3200401" cy="32004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endParaRPr>
                </a:p>
              </p:txBody>
            </p:sp>
            <p:pic>
              <p:nvPicPr>
                <p:cNvPr id="92" name="Graphic 91" descr="Group of men with solid fill">
                  <a:extLst>
                    <a:ext uri="{FF2B5EF4-FFF2-40B4-BE49-F238E27FC236}">
                      <a16:creationId xmlns:a16="http://schemas.microsoft.com/office/drawing/2014/main" id="{86680A12-50A9-4B33-EE1D-7AA0CB7250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/>
                <a:stretch/>
              </p:blipFill>
              <p:spPr>
                <a:xfrm>
                  <a:off x="5753069" y="2226206"/>
                  <a:ext cx="1902198" cy="1902198"/>
                </a:xfrm>
                <a:prstGeom prst="rect">
                  <a:avLst/>
                </a:prstGeom>
              </p:spPr>
            </p:pic>
            <p:pic>
              <p:nvPicPr>
                <p:cNvPr id="93" name="Graphic 92" descr="Arrow circle with solid fill">
                  <a:extLst>
                    <a:ext uri="{FF2B5EF4-FFF2-40B4-BE49-F238E27FC236}">
                      <a16:creationId xmlns:a16="http://schemas.microsoft.com/office/drawing/2014/main" id="{072961AE-63EF-35C7-0322-BE8CFC90E1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 l="11594" t="14925" r="14493" b="13433"/>
                <a:stretch>
                  <a:fillRect/>
                </a:stretch>
              </p:blipFill>
              <p:spPr>
                <a:xfrm flipH="1">
                  <a:off x="4957736" y="1447800"/>
                  <a:ext cx="3886199" cy="36576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CFEDDDB-9E4B-F0FC-1421-D31BEAF97E75}"/>
                </a:ext>
              </a:extLst>
            </p:cNvPr>
            <p:cNvGrpSpPr/>
            <p:nvPr/>
          </p:nvGrpSpPr>
          <p:grpSpPr>
            <a:xfrm>
              <a:off x="3621646" y="171826"/>
              <a:ext cx="8417953" cy="1381714"/>
              <a:chOff x="1981200" y="457200"/>
              <a:chExt cx="8305800" cy="1381714"/>
            </a:xfrm>
          </p:grpSpPr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2815984-0E5F-D526-E5DE-C0935F0607B2}"/>
                  </a:ext>
                </a:extLst>
              </p:cNvPr>
              <p:cNvSpPr/>
              <p:nvPr/>
            </p:nvSpPr>
            <p:spPr>
              <a:xfrm>
                <a:off x="1981200" y="457200"/>
                <a:ext cx="8305800" cy="1381714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1E4B3B7-9E3F-A333-24C1-6614B63F7A32}"/>
                  </a:ext>
                </a:extLst>
              </p:cNvPr>
              <p:cNvSpPr txBox="1"/>
              <p:nvPr/>
            </p:nvSpPr>
            <p:spPr>
              <a:xfrm>
                <a:off x="1981200" y="562660"/>
                <a:ext cx="8305800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OECD country ranking</a:t>
                </a:r>
              </a:p>
              <a:p>
                <a:pPr algn="ctr"/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Displayed for OECD countries only</a:t>
                </a:r>
              </a:p>
            </p:txBody>
          </p:sp>
          <p:pic>
            <p:nvPicPr>
              <p:cNvPr id="96" name="Graphic 95" descr="Badge 1 with solid fill">
                <a:extLst>
                  <a:ext uri="{FF2B5EF4-FFF2-40B4-BE49-F238E27FC236}">
                    <a16:creationId xmlns:a16="http://schemas.microsoft.com/office/drawing/2014/main" id="{F2A727B0-CD61-77A5-9406-D1C3078D5D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329873" y="1296722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97" name="Graphic 96" descr="Badge with solid fill">
                <a:extLst>
                  <a:ext uri="{FF2B5EF4-FFF2-40B4-BE49-F238E27FC236}">
                    <a16:creationId xmlns:a16="http://schemas.microsoft.com/office/drawing/2014/main" id="{EF5713CB-9F8F-5015-BCF4-7CEC9CD084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930073" y="1315628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98" name="Graphic 97" descr="Badge 3 with solid fill">
                <a:extLst>
                  <a:ext uri="{FF2B5EF4-FFF2-40B4-BE49-F238E27FC236}">
                    <a16:creationId xmlns:a16="http://schemas.microsoft.com/office/drawing/2014/main" id="{14B09E87-EDCA-8277-AE40-05F8AD0226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5835073" y="1283699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99" name="Picture 98">
                <a:extLst>
                  <a:ext uri="{FF2B5EF4-FFF2-40B4-BE49-F238E27FC236}">
                    <a16:creationId xmlns:a16="http://schemas.microsoft.com/office/drawing/2014/main" id="{A1C99060-145D-D32C-12DA-5A4E4B921D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rcRect l="14821" t="20547" r="15620" b="14438"/>
              <a:stretch>
                <a:fillRect/>
              </a:stretch>
            </p:blipFill>
            <p:spPr>
              <a:xfrm>
                <a:off x="7816273" y="1303248"/>
                <a:ext cx="457200" cy="437758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5431E0E3-F6C5-E114-7FB8-463A588B2D4B}"/>
                  </a:ext>
                </a:extLst>
              </p:cNvPr>
              <p:cNvSpPr txBox="1"/>
              <p:nvPr/>
            </p:nvSpPr>
            <p:spPr>
              <a:xfrm>
                <a:off x="2787073" y="1351440"/>
                <a:ext cx="117311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Top third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66EEBEA-3201-DF09-B1A7-6AFE84D7445F}"/>
                  </a:ext>
                </a:extLst>
              </p:cNvPr>
              <p:cNvSpPr txBox="1"/>
              <p:nvPr/>
            </p:nvSpPr>
            <p:spPr>
              <a:xfrm>
                <a:off x="4387273" y="1358455"/>
                <a:ext cx="153541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Middle third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1D5234F-D76C-8D4B-6E6B-10755701587C}"/>
                  </a:ext>
                </a:extLst>
              </p:cNvPr>
              <p:cNvSpPr txBox="1"/>
              <p:nvPr/>
            </p:nvSpPr>
            <p:spPr>
              <a:xfrm>
                <a:off x="6292273" y="1344650"/>
                <a:ext cx="153541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Bottom third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DC55F9B-A81C-964A-236D-32507D9CE204}"/>
                  </a:ext>
                </a:extLst>
              </p:cNvPr>
              <p:cNvSpPr txBox="1"/>
              <p:nvPr/>
            </p:nvSpPr>
            <p:spPr>
              <a:xfrm>
                <a:off x="8273473" y="1348895"/>
                <a:ext cx="2013527" cy="378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Not enough data</a:t>
                </a: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A0DC265-2415-0701-DD92-D7F0F6093C29}"/>
                </a:ext>
              </a:extLst>
            </p:cNvPr>
            <p:cNvSpPr txBox="1"/>
            <p:nvPr/>
          </p:nvSpPr>
          <p:spPr>
            <a:xfrm>
              <a:off x="9378939" y="3701341"/>
              <a:ext cx="2210681" cy="85129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Latest value </a:t>
              </a:r>
              <a:r>
                <a: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after 2015</a:t>
              </a: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B615AB37-A73F-1A0B-0CDC-E6216D7B6B10}"/>
                </a:ext>
              </a:extLst>
            </p:cNvPr>
            <p:cNvSpPr/>
            <p:nvPr/>
          </p:nvSpPr>
          <p:spPr>
            <a:xfrm>
              <a:off x="-312964" y="4468821"/>
              <a:ext cx="4525612" cy="2603439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B40985B-54FE-28EE-6E5F-F9BB3C26C9CD}"/>
                </a:ext>
              </a:extLst>
            </p:cNvPr>
            <p:cNvSpPr txBox="1"/>
            <p:nvPr/>
          </p:nvSpPr>
          <p:spPr>
            <a:xfrm>
              <a:off x="-312964" y="4533478"/>
              <a:ext cx="4525612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Trend over time</a:t>
              </a:r>
            </a:p>
            <a:p>
              <a:pPr algn="ctr"/>
              <a:r>
                <a:rPr lang="en-US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Colour</a:t>
              </a:r>
              <a:r>
                <a: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-coded by change since 2015</a:t>
              </a:r>
            </a:p>
            <a:p>
              <a:pPr algn="ctr"/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2A2A9B4-7BAC-0037-D7FC-EBBCE748AE2A}"/>
                </a:ext>
              </a:extLst>
            </p:cNvPr>
            <p:cNvGrpSpPr/>
            <p:nvPr/>
          </p:nvGrpSpPr>
          <p:grpSpPr>
            <a:xfrm>
              <a:off x="53974" y="5348920"/>
              <a:ext cx="4041620" cy="1544504"/>
              <a:chOff x="27053" y="4461655"/>
              <a:chExt cx="4341674" cy="1681142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1BA995EF-9AB5-5450-CE5D-C0B5AD489CB5}"/>
                  </a:ext>
                </a:extLst>
              </p:cNvPr>
              <p:cNvSpPr/>
              <p:nvPr/>
            </p:nvSpPr>
            <p:spPr>
              <a:xfrm>
                <a:off x="27053" y="4544595"/>
                <a:ext cx="228600" cy="226128"/>
              </a:xfrm>
              <a:prstGeom prst="ellipse">
                <a:avLst/>
              </a:prstGeom>
              <a:solidFill>
                <a:srgbClr val="0D855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40760B42-6852-CA39-142E-518DAF9FA96C}"/>
                  </a:ext>
                </a:extLst>
              </p:cNvPr>
              <p:cNvSpPr/>
              <p:nvPr/>
            </p:nvSpPr>
            <p:spPr>
              <a:xfrm>
                <a:off x="27053" y="4969297"/>
                <a:ext cx="228600" cy="226128"/>
              </a:xfrm>
              <a:prstGeom prst="ellipse">
                <a:avLst/>
              </a:prstGeom>
              <a:solidFill>
                <a:srgbClr val="DBA5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A927042D-BE79-4AD0-967E-18C26CF30775}"/>
                  </a:ext>
                </a:extLst>
              </p:cNvPr>
              <p:cNvSpPr/>
              <p:nvPr/>
            </p:nvSpPr>
            <p:spPr>
              <a:xfrm>
                <a:off x="27053" y="5384004"/>
                <a:ext cx="228600" cy="226128"/>
              </a:xfrm>
              <a:prstGeom prst="ellipse">
                <a:avLst/>
              </a:prstGeom>
              <a:solidFill>
                <a:srgbClr val="D0597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C7EDB95E-84ED-6F7C-E2F7-DEC911F0201D}"/>
                  </a:ext>
                </a:extLst>
              </p:cNvPr>
              <p:cNvSpPr/>
              <p:nvPr/>
            </p:nvSpPr>
            <p:spPr>
              <a:xfrm>
                <a:off x="27053" y="5800726"/>
                <a:ext cx="228600" cy="226128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E9A6FDA7-DB7E-6C45-2E6E-DA3E83AC6906}"/>
                  </a:ext>
                </a:extLst>
              </p:cNvPr>
              <p:cNvSpPr txBox="1"/>
              <p:nvPr/>
            </p:nvSpPr>
            <p:spPr>
              <a:xfrm>
                <a:off x="366114" y="4461655"/>
                <a:ext cx="2754540" cy="402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Improving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94976A8A-36BB-5C73-FF65-F7949EEB4158}"/>
                  </a:ext>
                </a:extLst>
              </p:cNvPr>
              <p:cNvSpPr txBox="1"/>
              <p:nvPr/>
            </p:nvSpPr>
            <p:spPr>
              <a:xfrm>
                <a:off x="337510" y="4876360"/>
                <a:ext cx="2647010" cy="402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No clear change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F34B0AB9-636A-29B7-C7D7-DA94F4402C01}"/>
                  </a:ext>
                </a:extLst>
              </p:cNvPr>
              <p:cNvSpPr txBox="1"/>
              <p:nvPr/>
            </p:nvSpPr>
            <p:spPr>
              <a:xfrm>
                <a:off x="337510" y="5296065"/>
                <a:ext cx="2724430" cy="402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Deteriorating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7430DC2C-F905-9D97-4E9D-8BE9F6FE95A8}"/>
                  </a:ext>
                </a:extLst>
              </p:cNvPr>
              <p:cNvSpPr txBox="1"/>
              <p:nvPr/>
            </p:nvSpPr>
            <p:spPr>
              <a:xfrm>
                <a:off x="310597" y="5740791"/>
                <a:ext cx="4058130" cy="402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Not enough data to assess change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38788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67DE6-6ED7-9C69-5F1B-A6DDCE8A6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F7110F4-CD93-96FA-457B-388F42120C0B}"/>
              </a:ext>
            </a:extLst>
          </p:cNvPr>
          <p:cNvGrpSpPr/>
          <p:nvPr/>
        </p:nvGrpSpPr>
        <p:grpSpPr>
          <a:xfrm>
            <a:off x="-139262" y="914400"/>
            <a:ext cx="12559862" cy="4419600"/>
            <a:chOff x="-139262" y="914400"/>
            <a:chExt cx="12559862" cy="44196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BD0E9BB-4BCF-A6C7-594A-93AA3D76FF7B}"/>
                </a:ext>
              </a:extLst>
            </p:cNvPr>
            <p:cNvSpPr/>
            <p:nvPr/>
          </p:nvSpPr>
          <p:spPr>
            <a:xfrm>
              <a:off x="-139262" y="914400"/>
              <a:ext cx="12559862" cy="441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BF61D63-A42A-8370-2EC3-7F3FAC631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3671" y="990600"/>
              <a:ext cx="8793164" cy="42949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1362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4C271-BFFC-C305-53C0-B2C3C9698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6D3A22-F3FF-BC84-9967-4AB8995F6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380" y="917532"/>
            <a:ext cx="2743200" cy="15970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55F9FA-528B-25A6-9D62-8DF1C64A9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508" y="961225"/>
            <a:ext cx="2843791" cy="15650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D15EEC-7A64-082C-E8FA-18431C95E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748" y="4726948"/>
            <a:ext cx="2826559" cy="15828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5605CC-690F-99E5-F4AB-4D8B7EE25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9060" y="945211"/>
            <a:ext cx="2870919" cy="15970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DE8C41C-A255-391D-A2A9-8CCED084F8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7653" y="2893972"/>
            <a:ext cx="2743200" cy="15569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0C20E6-3E48-7548-B824-0A0DF40E4A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400" y="4786183"/>
            <a:ext cx="2743200" cy="15198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A1BDEB9-69AB-0654-24CC-D91A720BC3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7692" y="4767648"/>
            <a:ext cx="2743200" cy="15569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104924D-E2FC-CDDE-82D7-D746BB778E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7748" y="2893972"/>
            <a:ext cx="2743200" cy="15430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BEFABC6-8D2F-A81D-1BE7-A424B06F30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41250" y="2893972"/>
            <a:ext cx="2743200" cy="157827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F1847C6-8D06-0120-5E24-84125F73100F}"/>
              </a:ext>
            </a:extLst>
          </p:cNvPr>
          <p:cNvSpPr txBox="1"/>
          <p:nvPr/>
        </p:nvSpPr>
        <p:spPr>
          <a:xfrm>
            <a:off x="2098692" y="685800"/>
            <a:ext cx="1981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/>
              <a:t>Safeguard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AB3B6E-8672-30A1-8B69-235EBE58EA1F}"/>
              </a:ext>
            </a:extLst>
          </p:cNvPr>
          <p:cNvSpPr txBox="1"/>
          <p:nvPr/>
        </p:nvSpPr>
        <p:spPr>
          <a:xfrm>
            <a:off x="8028748" y="667435"/>
            <a:ext cx="1981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/>
              <a:t>Strengthen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550D7C-2ED4-A8BE-2DD6-D02F6C4AF162}"/>
              </a:ext>
            </a:extLst>
          </p:cNvPr>
          <p:cNvSpPr txBox="1"/>
          <p:nvPr/>
        </p:nvSpPr>
        <p:spPr>
          <a:xfrm>
            <a:off x="-20782" y="1505132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Improving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1D7CE1-7BAE-0064-95EA-B2971DA1A4F2}"/>
              </a:ext>
            </a:extLst>
          </p:cNvPr>
          <p:cNvSpPr txBox="1"/>
          <p:nvPr/>
        </p:nvSpPr>
        <p:spPr>
          <a:xfrm>
            <a:off x="103020" y="3407194"/>
            <a:ext cx="167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Stagnating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D5789F-3174-8B46-4FE7-31EEE9C9CD10}"/>
              </a:ext>
            </a:extLst>
          </p:cNvPr>
          <p:cNvSpPr txBox="1"/>
          <p:nvPr/>
        </p:nvSpPr>
        <p:spPr>
          <a:xfrm>
            <a:off x="131638" y="5273279"/>
            <a:ext cx="167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Worsening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352CC4-75C5-E6EA-BB83-F47E7143FD07}"/>
              </a:ext>
            </a:extLst>
          </p:cNvPr>
          <p:cNvSpPr txBox="1"/>
          <p:nvPr/>
        </p:nvSpPr>
        <p:spPr>
          <a:xfrm>
            <a:off x="2009879" y="4489111"/>
            <a:ext cx="1981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/>
              <a:t>Revitalize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EE365E-5BE6-711C-AA2B-FB5BDA4E95A6}"/>
              </a:ext>
            </a:extLst>
          </p:cNvPr>
          <p:cNvSpPr txBox="1"/>
          <p:nvPr/>
        </p:nvSpPr>
        <p:spPr>
          <a:xfrm>
            <a:off x="5105400" y="4489111"/>
            <a:ext cx="1981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/>
              <a:t>Counteract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94F144-30A9-41F0-5D74-BCE774352B1F}"/>
              </a:ext>
            </a:extLst>
          </p:cNvPr>
          <p:cNvSpPr txBox="1"/>
          <p:nvPr/>
        </p:nvSpPr>
        <p:spPr>
          <a:xfrm>
            <a:off x="8089347" y="4489538"/>
            <a:ext cx="1981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/>
              <a:t>Intervene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0BA6A3-6FC0-C109-D664-6324E96C94D1}"/>
              </a:ext>
            </a:extLst>
          </p:cNvPr>
          <p:cNvSpPr txBox="1"/>
          <p:nvPr/>
        </p:nvSpPr>
        <p:spPr>
          <a:xfrm>
            <a:off x="2009879" y="215402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Tier 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B39EA1-88E8-1AC5-7F3D-D15529E61463}"/>
              </a:ext>
            </a:extLst>
          </p:cNvPr>
          <p:cNvSpPr txBox="1"/>
          <p:nvPr/>
        </p:nvSpPr>
        <p:spPr>
          <a:xfrm>
            <a:off x="5058653" y="196655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Tier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6056E4-03BC-65A1-DBB1-3954D56837AD}"/>
              </a:ext>
            </a:extLst>
          </p:cNvPr>
          <p:cNvSpPr txBox="1"/>
          <p:nvPr/>
        </p:nvSpPr>
        <p:spPr>
          <a:xfrm>
            <a:off x="7963919" y="193254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Tier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36331D-AFA0-DDA6-304C-DE0E5729239A}"/>
              </a:ext>
            </a:extLst>
          </p:cNvPr>
          <p:cNvSpPr txBox="1"/>
          <p:nvPr/>
        </p:nvSpPr>
        <p:spPr>
          <a:xfrm>
            <a:off x="5003006" y="686709"/>
            <a:ext cx="1981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/>
              <a:t>Sustain progress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0AA5AD-5686-A229-50D4-05BA39A3684C}"/>
              </a:ext>
            </a:extLst>
          </p:cNvPr>
          <p:cNvSpPr txBox="1"/>
          <p:nvPr/>
        </p:nvSpPr>
        <p:spPr>
          <a:xfrm>
            <a:off x="2015322" y="2615649"/>
            <a:ext cx="1981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/>
              <a:t>Stabilize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45F647-989C-B52F-147A-1F0B7EDE16AA}"/>
              </a:ext>
            </a:extLst>
          </p:cNvPr>
          <p:cNvSpPr txBox="1"/>
          <p:nvPr/>
        </p:nvSpPr>
        <p:spPr>
          <a:xfrm>
            <a:off x="5003006" y="2615649"/>
            <a:ext cx="1981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/>
              <a:t>Reignite growth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022E96-2628-9CB5-03FC-2674D11DB5B0}"/>
              </a:ext>
            </a:extLst>
          </p:cNvPr>
          <p:cNvSpPr txBox="1"/>
          <p:nvPr/>
        </p:nvSpPr>
        <p:spPr>
          <a:xfrm>
            <a:off x="8067576" y="2590601"/>
            <a:ext cx="1981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/>
              <a:t>Watch closely</a:t>
            </a:r>
          </a:p>
        </p:txBody>
      </p:sp>
    </p:spTree>
    <p:extLst>
      <p:ext uri="{BB962C8B-B14F-4D97-AF65-F5344CB8AC3E}">
        <p14:creationId xmlns:p14="http://schemas.microsoft.com/office/powerpoint/2010/main" val="372286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97EE7-0677-42AC-F113-BDD84ACF8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E5F26C-8FAD-0FC8-E693-1C1A9B96E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066800"/>
            <a:ext cx="1295400" cy="1295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949F7B-35F2-75CC-B2FD-6292C0C89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993" y="1339264"/>
            <a:ext cx="1257300" cy="1295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6BC2F2-8641-6BE7-B199-9B3A8ABD8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086" y="1611728"/>
            <a:ext cx="1282700" cy="1295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DD6E3F-5BEA-985B-3E74-05D4EB04FE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0579" y="1884192"/>
            <a:ext cx="1295400" cy="1295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F7CD0F-85DE-7A5A-11CF-4B049A1191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1772" y="2156656"/>
            <a:ext cx="1295400" cy="12954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6B51BD3-489B-9CAD-CFA2-C362AA686F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965" y="2429120"/>
            <a:ext cx="1282700" cy="12954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110E620-52AE-64E6-A018-269473376C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1458" y="2701584"/>
            <a:ext cx="1295400" cy="12954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652594-D49D-F175-EAB0-E7BA9064DA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2651" y="2974048"/>
            <a:ext cx="1282700" cy="12954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B3F5B08-C755-C490-5CC3-D3F1FD8C4A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1144" y="3246512"/>
            <a:ext cx="1295400" cy="12954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BAE320D-DA64-59C5-B9B1-93370AD07E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2337" y="3518976"/>
            <a:ext cx="1308100" cy="12954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F942964-4BC2-2D18-D30F-A39A3116DF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6230" y="3791440"/>
            <a:ext cx="1295400" cy="12954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4F6106E-3F6B-98C7-1F50-0617A3DA83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7423" y="4063904"/>
            <a:ext cx="1270000" cy="12954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FF9175F-CF64-65C3-EB9C-A723B90544B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53216" y="4336368"/>
            <a:ext cx="1295400" cy="12954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56A5759-B40D-7EEF-79BF-9DA02496883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94409" y="4608832"/>
            <a:ext cx="1308100" cy="12954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8DC6A5E4-5C97-ADDD-726E-55B92BAB7AA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8300" y="4881300"/>
            <a:ext cx="12954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45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28B08-A5DC-9E88-08CF-A38C23E9F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897A454-A8F3-2A08-636C-ECE11AB99020}"/>
              </a:ext>
            </a:extLst>
          </p:cNvPr>
          <p:cNvSpPr/>
          <p:nvPr/>
        </p:nvSpPr>
        <p:spPr>
          <a:xfrm>
            <a:off x="3124200" y="1411357"/>
            <a:ext cx="6248400" cy="35814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31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2DA19-CEAE-05B5-CAF8-7D7502731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5438842-7387-EB9A-D58F-CAC416D90FA7}"/>
              </a:ext>
            </a:extLst>
          </p:cNvPr>
          <p:cNvSpPr/>
          <p:nvPr/>
        </p:nvSpPr>
        <p:spPr>
          <a:xfrm>
            <a:off x="3124200" y="1411357"/>
            <a:ext cx="6248400" cy="35814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13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1630B-7220-76BD-5206-0EF5A541F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BC4937-EA13-2CBE-7B14-7C1C635C2421}"/>
              </a:ext>
            </a:extLst>
          </p:cNvPr>
          <p:cNvSpPr/>
          <p:nvPr/>
        </p:nvSpPr>
        <p:spPr>
          <a:xfrm>
            <a:off x="3124200" y="1411357"/>
            <a:ext cx="6248400" cy="35814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251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09746-4D68-E912-2BA9-F38289CD0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4779D59-6E46-A422-94F8-1545362C869A}"/>
              </a:ext>
            </a:extLst>
          </p:cNvPr>
          <p:cNvSpPr/>
          <p:nvPr/>
        </p:nvSpPr>
        <p:spPr>
          <a:xfrm>
            <a:off x="3124200" y="1411357"/>
            <a:ext cx="6248400" cy="35814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48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D32A8-E3F3-F417-1D27-7D9CFA37D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3E1ADF-5B4B-A21F-D4C9-F70B331DFBF1}"/>
              </a:ext>
            </a:extLst>
          </p:cNvPr>
          <p:cNvSpPr/>
          <p:nvPr/>
        </p:nvSpPr>
        <p:spPr>
          <a:xfrm>
            <a:off x="3124200" y="1411357"/>
            <a:ext cx="6248400" cy="35814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05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A7D2B-9740-9FF8-5DD5-B9039081D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EB41DD6-0D77-7320-3DE0-16F4DCA15239}"/>
              </a:ext>
            </a:extLst>
          </p:cNvPr>
          <p:cNvSpPr/>
          <p:nvPr/>
        </p:nvSpPr>
        <p:spPr>
          <a:xfrm>
            <a:off x="3124200" y="1411357"/>
            <a:ext cx="6248400" cy="35814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00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95468</TotalTime>
  <Words>345</Words>
  <Application>Microsoft Office PowerPoint</Application>
  <PresentationFormat>Widescreen</PresentationFormat>
  <Paragraphs>98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CHALMERS Kate, DEV/SC</dc:creator>
  <cp:lastModifiedBy>CHALMERS Kate, WISE/WDP</cp:lastModifiedBy>
  <cp:revision>56</cp:revision>
  <dcterms:created xsi:type="dcterms:W3CDTF">2025-08-05T11:00:42Z</dcterms:created>
  <dcterms:modified xsi:type="dcterms:W3CDTF">2025-11-18T11:33:00Z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6047198-b488-45d0-a177-3effe9f755df_Enabled">
    <vt:lpwstr>true</vt:lpwstr>
  </property>
  <property fmtid="{D5CDD505-2E9C-101B-9397-08002B2CF9AE}" pid="3" name="MSIP_Label_f6047198-b488-45d0-a177-3effe9f755df_SetDate">
    <vt:lpwstr>2025-11-16T11:09:16Z</vt:lpwstr>
  </property>
  <property fmtid="{D5CDD505-2E9C-101B-9397-08002B2CF9AE}" pid="4" name="MSIP_Label_f6047198-b488-45d0-a177-3effe9f755df_Method">
    <vt:lpwstr>Privileged</vt:lpwstr>
  </property>
  <property fmtid="{D5CDD505-2E9C-101B-9397-08002B2CF9AE}" pid="5" name="MSIP_Label_f6047198-b488-45d0-a177-3effe9f755df_Name">
    <vt:lpwstr>Unofficial</vt:lpwstr>
  </property>
  <property fmtid="{D5CDD505-2E9C-101B-9397-08002B2CF9AE}" pid="6" name="MSIP_Label_f6047198-b488-45d0-a177-3effe9f755df_SiteId">
    <vt:lpwstr>ac41c7d4-1f61-460d-b0f4-fc925a2b471c</vt:lpwstr>
  </property>
  <property fmtid="{D5CDD505-2E9C-101B-9397-08002B2CF9AE}" pid="7" name="MSIP_Label_f6047198-b488-45d0-a177-3effe9f755df_ActionId">
    <vt:lpwstr>0f13c4a2-590f-4403-be89-7c6f41badb43</vt:lpwstr>
  </property>
  <property fmtid="{D5CDD505-2E9C-101B-9397-08002B2CF9AE}" pid="8" name="MSIP_Label_f6047198-b488-45d0-a177-3effe9f755df_ContentBits">
    <vt:lpwstr>2</vt:lpwstr>
  </property>
  <property fmtid="{D5CDD505-2E9C-101B-9397-08002B2CF9AE}" pid="9" name="MSIP_Label_f6047198-b488-45d0-a177-3effe9f755df_Tag">
    <vt:lpwstr>10, 0, 1, 1</vt:lpwstr>
  </property>
</Properties>
</file>